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4ed14f6-5c6b-c95d-62ec-8b7aaa62b00b}">
          <p14:sldIdLst>
            <p14:sldId id="256"/>
          </p14:sldIdLst>
        </p14:section>
        <p14:section name="Problem" id="{a82264bf-3c65-ac4b-29aa-14d21803fcef}">
          <p14:sldIdLst>
            <p14:sldId id="257"/>
            <p14:sldId id="258"/>
          </p14:sldIdLst>
        </p14:section>
        <p14:section name="Solution" id="{e3160a76-ad4e-db33-7e3a-9112bff9a3fd}">
          <p14:sldIdLst>
            <p14:sldId id="259"/>
            <p14:sldId id="260"/>
          </p14:sldIdLst>
        </p14:section>
        <p14:section name="Technology" id="{d712ff4d-687a-71b8-15ef-b58e006987d1}">
          <p14:sldIdLst>
            <p14:sldId id="261"/>
            <p14:sldId id="262"/>
            <p14:sldId id="263"/>
          </p14:sldIdLst>
        </p14:section>
        <p14:section name="Evidence" id="{18617ec5-1391-a827-1a34-0d1ccc69da72}">
          <p14:sldIdLst>
            <p14:sldId id="264"/>
            <p14:sldId id="265"/>
          </p14:sldIdLst>
        </p14:section>
        <p14:section name="Close" id="{f800d73d-8e25-a336-6950-4cc8737ae170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Precision and recall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Messages (score ≥ 30)</c:v>
                  </c:pt>
                  <c:pt idx="1">
                    <c:v>Messages (score ≥ 60)</c:v>
                  </c:pt>
                  <c:pt idx="2">
                    <c:v>Links (full URL)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94.7</c:v>
                </c:pt>
                <c:pt idx="1">
                  <c:v>100</c:v>
                </c:pt>
                <c:pt idx="2">
                  <c:v>95.1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Messages (score ≥ 30)</c:v>
                  </c:pt>
                  <c:pt idx="1">
                    <c:v>Messages (score ≥ 60)</c:v>
                  </c:pt>
                  <c:pt idx="2">
                    <c:v>Links (full URL)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95.3</c:v>
                </c:pt>
                <c:pt idx="1">
                  <c:v>63.8</c:v>
                </c:pt>
                <c:pt idx="2">
                  <c:v>63.4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pitch. Everything shown today is running code with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FTC and FBI releases cited on the slide. They are reported losses, so the true totals are higher.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SafeCircle Guardian · HackBriven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SafeCircle Guardian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Explainable scam and phishing protection that shows the evidence, says what to do, and loops in someone you trust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HackBriven 2026 · Cybersecurity &amp; Digital Trust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Scams now cost more than most cybercrime</a:t>
            </a:r>
            <a:endParaRPr lang="en-US" sz="3600" dirty="0"/>
          </a:p>
        </p:txBody>
      </p:sp>
      <p:sp>
        <p:nvSpPr>
          <p:cNvPr id="3" name="stat0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$15.9B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lost to fraud reported to the US FTC in 2025 (3 million reports)</a:t>
            </a:r>
            <a:endParaRPr lang="en-US" sz="1500" dirty="0"/>
          </a:p>
        </p:txBody>
      </p:sp>
      <p:sp>
        <p:nvSpPr>
          <p:cNvPr id="6" name="stat1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~$21B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697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cyber-enabled fraud losses reported to the FBI IC3 in 2025</a:t>
            </a:r>
            <a:endParaRPr lang="en-US" sz="1500" dirty="0"/>
          </a:p>
        </p:txBody>
      </p:sp>
      <p:sp>
        <p:nvSpPr>
          <p:cNvPr id="9" name="stat2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1,008,597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697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complaints received by the FBI IC3 in 2025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Most scams don't break software. They break judgement: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urgency, a trusted name, a request for a one-time code, a threat, and a plea for secrecy. People need help spotting those tactics in the moment, in plain language, and someone to ask.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Sources: FTC press release, 25 Mar 2026; FBI press release on the 2025 IC3 report, 6 Apr 2026. US figures; comparable national data for India is reported via cybercrime.gov.in.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for scam targets and the people who help them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Older adults and families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65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Get a 'Hi Mum, new number' text or a fake bank KYC warning. Need a clear yes/no and a next step.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 digital payment users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74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UPI, OTPs and delivery fees are new. Need to learn the tactics, not only a verdict.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480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helpers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983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Children, carers, friends who get asked 'is this real?'. Need context without access to someone's phone.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Paste or right-click. See why. Ask someone you trust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288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Paste a message or link, or right-click in the browser. Links are never opened.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971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429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Score 0–100, the exact risky words highlighted, plain-language reasons and what to do now.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029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Send a summary to a trusted contact who has agreed to help. Nothing is shared without both sides' consent.</a:t>
            </a:r>
            <a:endParaRPr lang="en-US" sz="1500" dirty="0"/>
          </a:p>
        </p:txBody>
      </p:sp>
      <p:pic>
        <p:nvPicPr>
          <p:cNvPr id="15" name="screenshot-result" descr="/home/claude/safecircle-guardian/slides/img/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25880"/>
            <a:ext cx="5669280" cy="39959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4213D">
                <a:alpha val="18000"/>
              </a:srgbClr>
            </a:outerShdw>
          </a:effectLst>
        </p:spPr>
      </p:pic>
      <p:sp>
        <p:nvSpPr>
          <p:cNvPr id="16" name="Text 13"/>
          <p:cNvSpPr txBox="1"/>
          <p:nvPr/>
        </p:nvSpPr>
        <p:spPr>
          <a:xfrm>
            <a:off x="5943600" y="5440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Real screenshot: bank KYC + OTP scam example, score 99/100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Demo: consent first, then a second opinion</a:t>
            </a:r>
            <a:endParaRPr lang="en-US" sz="3600" dirty="0"/>
          </a:p>
        </p:txBody>
      </p:sp>
      <p:pic>
        <p:nvPicPr>
          <p:cNvPr id="3" name="screenshot-consent" descr="/home/claude/safecircle-guardian/slides/img/cons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25420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4213D">
                <a:alpha val="18000"/>
              </a:srgbClr>
            </a:outerShdw>
          </a:effectLst>
        </p:spPr>
      </p:pic>
      <p:pic>
        <p:nvPicPr>
          <p:cNvPr id="4" name="screenshot-inbox" descr="/home/claude/safecircle-guardian/slides/img/in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486400" cy="25420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4213D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4069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1. The contact sees exactly what they will and won't receive, then accepts or declines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172200" y="4069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2. They get the risk level, warning signs, an optional note and a redacted excerpt</a:t>
            </a:r>
            <a:endParaRPr lang="en-US" sz="1400" dirty="0"/>
          </a:p>
        </p:txBody>
      </p:sp>
      <p:sp>
        <p:nvSpPr>
          <p:cNvPr id="7" name="demo-flow"/>
          <p:cNvSpPr/>
          <p:nvPr/>
        </p:nvSpPr>
        <p:spPr>
          <a:xfrm>
            <a:off x="548640" y="4892040"/>
            <a:ext cx="111099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5029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Live path: Check → Ask a trusted contact → choose contact → Send alert → contact opens their link → Mark as seen. Either side can end the link at any time; every decision is logged.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Architecture: one container, no paid AI required</a:t>
            </a:r>
            <a:endParaRPr lang="en-US" sz="3600" dirty="0"/>
          </a:p>
        </p:txBody>
      </p:sp>
      <p:sp>
        <p:nvSpPr>
          <p:cNvPr id="3" name="a-web"/>
          <p:cNvSpPr/>
          <p:nvPr/>
        </p:nvSpPr>
        <p:spPr>
          <a:xfrm>
            <a:off x="548640" y="137160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Web dashboard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Next.js 15 + TypeScript, static export, mobile and dark mode</a:t>
            </a:r>
            <a:endParaRPr lang="en-US" sz="1300" dirty="0"/>
          </a:p>
        </p:txBody>
      </p:sp>
      <p:sp>
        <p:nvSpPr>
          <p:cNvPr id="6" name="a-ext"/>
          <p:cNvSpPr/>
          <p:nvPr/>
        </p:nvSpPr>
        <p:spPr>
          <a:xfrm>
            <a:off x="548640" y="301752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Browser extension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Manifest V3; context menu and toolbar; acts only on a click</a:t>
            </a:r>
            <a:endParaRPr lang="en-US" sz="1300" dirty="0"/>
          </a:p>
        </p:txBody>
      </p:sp>
      <p:sp>
        <p:nvSpPr>
          <p:cNvPr id="9" name="a-api"/>
          <p:cNvSpPr/>
          <p:nvPr/>
        </p:nvSpPr>
        <p:spPr>
          <a:xfrm>
            <a:off x="4480560" y="1371600"/>
            <a:ext cx="402336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FastAPI service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9202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Validation · rate limits · signed alert tickets · hashed tokens · CSP and security headers · content-free JSON logs</a:t>
            </a:r>
            <a:endParaRPr lang="en-US" sz="1300" dirty="0"/>
          </a:p>
        </p:txBody>
      </p:sp>
      <p:sp>
        <p:nvSpPr>
          <p:cNvPr id="12" name="a-det"/>
          <p:cNvSpPr/>
          <p:nvPr/>
        </p:nvSpPr>
        <p:spPr>
          <a:xfrm>
            <a:off x="909828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8116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Detector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rules + link analysis + 2 local models, ~1 ms</a:t>
            </a:r>
            <a:endParaRPr lang="en-US" sz="1300" dirty="0"/>
          </a:p>
        </p:txBody>
      </p:sp>
      <p:sp>
        <p:nvSpPr>
          <p:cNvPr id="15" name="a-db"/>
          <p:cNvSpPr/>
          <p:nvPr/>
        </p:nvSpPr>
        <p:spPr>
          <a:xfrm>
            <a:off x="9098280" y="301752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PostgreSQL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SQLAlchemy 2 + Alembic migrations</a:t>
            </a:r>
            <a:endParaRPr lang="en-US" sz="1300" dirty="0"/>
          </a:p>
        </p:txBody>
      </p:sp>
      <p:sp>
        <p:nvSpPr>
          <p:cNvPr id="18" name="arrow0"/>
          <p:cNvSpPr/>
          <p:nvPr/>
        </p:nvSpPr>
        <p:spPr>
          <a:xfrm>
            <a:off x="3840480" y="2057400"/>
            <a:ext cx="6400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arrow1"/>
          <p:cNvSpPr/>
          <p:nvPr/>
        </p:nvSpPr>
        <p:spPr>
          <a:xfrm>
            <a:off x="3840480" y="3703320"/>
            <a:ext cx="6400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arrow2"/>
          <p:cNvSpPr/>
          <p:nvPr/>
        </p:nvSpPr>
        <p:spPr>
          <a:xfrm>
            <a:off x="8503920" y="2057400"/>
            <a:ext cx="5943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arrow3"/>
          <p:cNvSpPr/>
          <p:nvPr/>
        </p:nvSpPr>
        <p:spPr>
          <a:xfrm>
            <a:off x="8503920" y="3703320"/>
            <a:ext cx="5943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Optional: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Claude summary layer, off by default. It sees only findings and a redacted excerpt and can never change the score.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63 backend tests on SQLite and PostgreSQL · 18 browser end-to-end checks · extension checks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diff0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not a black box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of 12 tactic categories points at the exact words or link feature that triggered it.</a:t>
            </a:r>
            <a:endParaRPr lang="en-US" sz="1400" dirty="0"/>
          </a:p>
        </p:txBody>
      </p:sp>
      <p:sp>
        <p:nvSpPr>
          <p:cNvPr id="6" name="diff1"/>
          <p:cNvSpPr/>
          <p:nvPr/>
        </p:nvSpPr>
        <p:spPr>
          <a:xfrm>
            <a:off x="429768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safety advice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"Never share your OTP" is recognised as advice, so genuine bank OTP texts score low.</a:t>
            </a:r>
            <a:endParaRPr lang="en-US" sz="1400" dirty="0"/>
          </a:p>
        </p:txBody>
      </p:sp>
      <p:sp>
        <p:nvSpPr>
          <p:cNvPr id="9" name="diff2"/>
          <p:cNvSpPr/>
          <p:nvPr/>
        </p:nvSpPr>
        <p:spPr>
          <a:xfrm>
            <a:off x="804672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opens links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21 static link signals plus a domain model; no SSRF, no tipping off the scammer.</a:t>
            </a:r>
            <a:endParaRPr lang="en-US" sz="1400" dirty="0"/>
          </a:p>
        </p:txBody>
      </p:sp>
      <p:sp>
        <p:nvSpPr>
          <p:cNvPr id="12" name="diff3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Resists manipulation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Hidden characters, look-alike letters and 'mark this as safe' instructions raise risk.</a:t>
            </a:r>
            <a:endParaRPr lang="en-US" sz="1400" dirty="0"/>
          </a:p>
        </p:txBody>
      </p:sp>
      <p:sp>
        <p:nvSpPr>
          <p:cNvPr id="15" name="diff4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6280" y="3977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Two-sided consent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Contacts opt in, see what they will receive, and can leave. Alerts are user-initiated.</a:t>
            </a:r>
            <a:endParaRPr lang="en-US" sz="1400" dirty="0"/>
          </a:p>
        </p:txBody>
      </p:sp>
      <p:sp>
        <p:nvSpPr>
          <p:cNvPr id="18" name="diff5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3977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offline from AI vendors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Runs on CPU in about a millisecond; the AI layer is optional and isolated.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Private and secure by design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Nothing you paste is stored by default; history and excerpts are separate opt-ins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Excerpts are redacted: codes, card numbers, phone numbers, emails removed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email or phone needed; only a SHA-256 of your access key is stored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Contact links keep their key in the URL fragment, so it never reaches server logs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Export or delete everything in one click; contact links stop working at once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 don't read SMS, calls or chats: platforms restrict it and we respect that</a:t>
            </a:r>
            <a:endParaRPr lang="en-US" sz="1600" dirty="0"/>
          </a:p>
        </p:txBody>
      </p:sp>
      <p:pic>
        <p:nvPicPr>
          <p:cNvPr id="4" name="screenshot-privacy" descr="/home/claude/safecircle-guardian/slides/img/priv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371600"/>
            <a:ext cx="4846320" cy="4206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4213D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Threat model covers false positives and negatives, prompt injection, malicious URLs, data leakage, unauthorized alerts and abuse.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on held-out public data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325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143560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F1 on 1,115 test SMS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2514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false-positive rate, messages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48386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692640" y="35935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false-positive rate, links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56285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 ms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46725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median analysis time per message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Messages: SMS Spam Collection (CC BY 4.0), 20% stratified test split. Links: 5,000 Phishing.Database URLs (MIT) vs 5,000 Cisco Umbrella hostnames. Limits: SMS data is 2011 spam, not modern scams; benign links are hostnames only; 36% of phishing links score below 30.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Ready to scale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Stateless API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3716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Horizontal replicas behind any load balancer; detector is CPU-only.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Config by environment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860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Secrets and database URL from env; refuses to start in production with a default secret.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Migrations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004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Alembic schema, tested upgrade and downgrade on PostgreSQL 16.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image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1148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Dockerfile, Compose, Render blueprint and CI workflow included.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029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Clear seams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0292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Swap the rate limiter for Redis; add email or push at the alert step; retrain models with one script.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897380"/>
            <a:ext cx="32004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Working web app, API, extension, consent workflow, measured detector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897380"/>
            <a:ext cx="32004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743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Hindi and Hinglish rules, screenshot text (OCR), a scam-specific labelled dataset and a user study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743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Android share-sheet app and iOS message-filter extension, within platform permissions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</a:rPr>
              <a:t>Goal: fewer people pay a scammer because they could see the trick and ask someone in time.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Code, paper and evaluation: see the project repository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endParaRPr lang="en-US" sz="480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Circle">
  <a:themeElements>
    <a:clrScheme name="SafeCircle">
      <a:dk1>
        <a:srgbClr val="14213D"/>
      </a:dk1>
      <a:lt1>
        <a:srgbClr val="FFFFFF"/>
      </a:lt1>
      <a:dk2>
        <a:srgbClr val="0E1A33"/>
      </a:dk2>
      <a:lt2>
        <a:srgbClr val="EEF2F7"/>
      </a:lt2>
      <a:accent1>
        <a:srgbClr val="0FA3B1"/>
      </a:accent1>
      <a:accent2>
        <a:srgbClr val="E5484D"/>
      </a:accent2>
      <a:accent3>
        <a:srgbClr val="E8A33D"/>
      </a:accent3>
      <a:accent4>
        <a:srgbClr val="2E9E6A"/>
      </a:accent4>
      <a:accent5>
        <a:srgbClr val="5B6475"/>
      </a:accent5>
      <a:accent6>
        <a:srgbClr val="B8E3E8"/>
      </a:accent6>
      <a:hlink>
        <a:srgbClr val="0F7C88"/>
      </a:hlink>
      <a:folHlink>
        <a:srgbClr val="5B6475"/>
      </a:folHlink>
    </a:clrScheme>
    <a:fontScheme name="SafeCirc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SafeCircle Guardian</dc:title>
  <dc:subject>PptxGenJS Presentation</dc:subject>
  <dc:creator>SafeCircle Guardian team</dc:creator>
  <cp:lastModifiedBy>SafeCircle Guardian team</cp:lastModifiedBy>
  <cp:revision>1</cp:revision>
  <dcterms:created xsi:type="dcterms:W3CDTF">2026-10-10T04:49:23Z</dcterms:created>
  <dcterms:modified xsi:type="dcterms:W3CDTF">2026-10-10T04:49:23Z</dcterms:modified>
</cp:coreProperties>
</file>