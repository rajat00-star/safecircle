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10 slides)" id="{023ba2d8-1bbe-15dd-0c06-b525adda07d1}">
          <p14:sldIdLst>
            <p14:sldId id="256"/>
            <p14:sldId id="257"/>
            <p14:sldId id="258"/>
            <p14:sldId id="259"/>
            <p14:sldId id="260"/>
            <p14:sldId id="261"/>
            <p14:sldId id="262"/>
            <p14:sldId id="263"/>
            <p14:sldId id="264"/>
            <p14:sldId id="265"/>
          </p14:sldIdLst>
        </p14:section>
        <p14:section name="Appendix (not part of the pitch)" id="{d517540d-29b8-58c2-9feb-bdd96f28a289}">
          <p14:sldIdLst>
            <p14:sldId id="266"/>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9AA8C2"/>
                </a:solidFill>
                <a:latin typeface="+mn-lt"/>
              </a:defRPr>
            </a:pPr>
            <a:r>
              <a:rPr sz="1100" b="0" i="0" u="none" strike="noStrike">
                <a:solidFill>
                  <a:srgbClr val="9AA8C2"/>
                </a:solidFill>
                <a:latin typeface="+mn-lt"/>
              </a:rPr>
              <a:t>Case score as evidence arrives (0–100)</a:t>
            </a:r>
          </a:p>
        </c:rich>
      </c:tx>
      <c:layout/>
      <c:overlay val="0"/>
    </c:title>
    <c:autoTitleDeleted val="0"/>
    <c:plotArea>
      <c:layout/>
      <c:lineChart>
        <c:varyColors val="0"/>
        <c:ser>
          <c:idx val="0"/>
          <c:order val="0"/>
          <c:tx>
            <c:strRef>
              <c:f>Sheet1!$B$1</c:f>
              <c:strCache>
                <c:ptCount val="1"/>
                <c:pt idx="0">
                  <c:v>Case score</c:v>
                </c:pt>
              </c:strCache>
            </c:strRef>
          </c:tx>
          <c:spPr>
            <a:solidFill>
              <a:srgbClr val="FF5468"/>
            </a:solidFill>
            <a:ln w="25400" cap="flat">
              <a:solidFill>
                <a:srgbClr val="FF5468"/>
              </a:solidFill>
              <a:prstDash val="solid"/>
              <a:round/>
            </a:ln>
            <a:effectLst/>
          </c:spPr>
          <c:invertIfNegative val="0"/>
          <c:dLbls>
            <c:numFmt formatCode="#,##0" sourceLinked="0"/>
            <c:txPr>
              <a:bodyPr/>
              <a:lstStyle/>
              <a:p>
                <a:pPr>
                  <a:defRPr b="0" i="0" strike="noStrike" sz="1000" u="none">
                    <a:solidFill>
                      <a:srgbClr val="E9F0FB"/>
                    </a:solidFill>
                    <a:latin typeface="+mn-lt"/>
                  </a:defRPr>
                </a:pPr>
              </a:p>
            </c:txPr>
            <c:dLblPos val="t"/>
            <c:showLegendKey val="0"/>
            <c:showVal val="1"/>
            <c:showCatName val="0"/>
            <c:showSerName val="0"/>
            <c:showPercent val="0"/>
            <c:showBubbleSize val="0"/>
            <c:showLeaderLines val="0"/>
          </c:dLbls>
          <c:marker>
            <c:symbol val="circle"/>
            <c:size val="7"/>
            <c:spPr>
              <a:solidFill>
                <a:srgbClr val="FF5468"/>
              </a:solidFill>
              <a:ln w="9525" cap="flat">
                <a:solidFill>
                  <a:srgbClr val="FF5468"/>
                </a:solidFill>
                <a:prstDash val="solid"/>
                <a:round/>
              </a:ln>
              <a:effectLst/>
            </c:spPr>
          </c:marker>
          <c:cat>
            <c:multiLvlStrRef>
              <c:f>Sheet1!$A$2:$A$5</c:f>
              <c:multiLvlStrCache>
                <c:ptCount val="4"/>
                <c:lvl>
                  <c:pt idx="0">
                    <c:v>#1 KYC threat</c:v>
                  </c:pt>
                  <c:pt idx="1">
                    <c:v>#2 Login link</c:v>
                  </c:pt>
                  <c:pt idx="2">
                    <c:v>#3 OTP call</c:v>
                  </c:pt>
                  <c:pt idx="3">
                    <c:v>#4 Payment</c:v>
                  </c:pt>
                </c:lvl>
              </c:multiLvlStrCache>
            </c:multiLvlStrRef>
          </c:cat>
          <c:val>
            <c:numRef>
              <c:f>Sheet1!$B$2:$B$5</c:f>
              <c:numCache>
                <c:formatCode>General</c:formatCode>
                <c:ptCount val="4"/>
                <c:pt idx="0">
                  <c:v>45</c:v>
                </c:pt>
                <c:pt idx="1">
                  <c:v>82</c:v>
                </c:pt>
                <c:pt idx="2">
                  <c:v>94</c:v>
                </c:pt>
                <c:pt idx="3">
                  <c:v>99</c:v>
                </c:pt>
              </c:numCache>
            </c:numRef>
          </c:val>
          <c:smooth val="0"/>
        </c:ser>
        <c:dLbls>
          <c:numFmt formatCode="#,##0" sourceLinked="0"/>
          <c:txPr>
            <a:bodyPr/>
            <a:lstStyle/>
            <a:p>
              <a:pPr>
                <a:defRPr b="0" i="0" strike="noStrike" sz="1000" u="none">
                  <a:solidFill>
                    <a:srgbClr val="E9F0FB"/>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9AA8C2"/>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22324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9AA8C2"/>
                </a:solidFill>
                <a:latin typeface="+mn-lt"/>
              </a:defRPr>
            </a:pPr>
            <a:endParaRPr lang="en-US"/>
          </a:p>
        </c:txPr>
        <c:crossAx val="2094734554"/>
        <c:crosses val="autoZero"/>
        <c:crossBetween val="between"/>
        <c:majorUnit val="3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9AA8C2"/>
                </a:solidFill>
                <a:latin typeface="+mn-lt"/>
              </a:defRPr>
            </a:pPr>
            <a:r>
              <a:rPr sz="1100" b="0" i="0" u="none" strike="noStrike">
                <a:solidFill>
                  <a:srgbClr val="9AA8C2"/>
                </a:solidFill>
                <a:latin typeface="+mn-lt"/>
              </a:rPr>
              <a:t>Holdout v2, n = 51 (higher is better except FPR)</a:t>
            </a:r>
          </a:p>
        </c:rich>
      </c:tx>
      <c:layout/>
      <c:overlay val="0"/>
    </c:title>
    <c:autoTitleDeleted val="0"/>
    <c:plotArea>
      <c:layout/>
      <c:barChart>
        <c:barDir val="col"/>
        <c:grouping val="clustered"/>
        <c:varyColors val="0"/>
        <c:ser>
          <c:idx val="0"/>
          <c:order val="0"/>
          <c:tx>
            <c:strRef>
              <c:f>Sheet1!$B$1</c:f>
              <c:strCache>
                <c:ptCount val="1"/>
                <c:pt idx="0">
                  <c:v>Case engine</c:v>
                </c:pt>
              </c:strCache>
            </c:strRef>
          </c:tx>
          <c:spPr>
            <a:solidFill>
              <a:srgbClr val="3EE6FF"/>
            </a:solidFill>
            <a:effectLst/>
          </c:spPr>
          <c:invertIfNegative val="0"/>
          <c:dLbls>
            <c:numFmt formatCode="0.00" sourceLinked="0"/>
            <c:txPr>
              <a:bodyPr/>
              <a:lstStyle/>
              <a:p>
                <a:pPr>
                  <a:defRPr b="0" i="0" strike="noStrike" sz="900" u="none">
                    <a:solidFill>
                      <a:srgbClr val="E9F0FB"/>
                    </a:solidFill>
                    <a:latin typeface="+mn-lt"/>
                  </a:defRPr>
                </a:pPr>
              </a:p>
            </c:txPr>
            <c:showLegendKey val="0"/>
            <c:showVal val="1"/>
            <c:showCatName val="0"/>
            <c:showSerName val="0"/>
            <c:showPercent val="0"/>
            <c:showBubbleSize val="0"/>
            <c:showLeaderLines val="0"/>
          </c:dLbls>
          <c:cat>
            <c:multiLvlStrRef>
              <c:f>Sheet1!$A$2:$A$4</c:f>
              <c:multiLvlStrCache>
                <c:ptCount val="3"/>
                <c:lvl>
                  <c:pt idx="0">
                    <c:v>Precision</c:v>
                  </c:pt>
                  <c:pt idx="1">
                    <c:v>Recall</c:v>
                  </c:pt>
                  <c:pt idx="2">
                    <c:v>False-positive rate</c:v>
                  </c:pt>
                </c:lvl>
              </c:multiLvlStrCache>
            </c:multiLvlStrRef>
          </c:cat>
          <c:val>
            <c:numRef>
              <c:f>Sheet1!$B$2:$B$4</c:f>
              <c:numCache>
                <c:formatCode>General</c:formatCode>
                <c:ptCount val="3"/>
                <c:pt idx="0">
                  <c:v>0.885</c:v>
                </c:pt>
                <c:pt idx="1">
                  <c:v>0.958</c:v>
                </c:pt>
                <c:pt idx="2">
                  <c:v>0.111</c:v>
                </c:pt>
              </c:numCache>
            </c:numRef>
          </c:val>
        </c:ser>
        <c:ser>
          <c:idx val="1"/>
          <c:order val="1"/>
          <c:tx>
            <c:strRef>
              <c:f>Sheet1!$C$1</c:f>
              <c:strCache>
                <c:ptCount val="1"/>
                <c:pt idx="0">
                  <c:v>Keyword baseline</c:v>
                </c:pt>
              </c:strCache>
            </c:strRef>
          </c:tx>
          <c:spPr>
            <a:solidFill>
              <a:srgbClr val="A08CFF"/>
            </a:solidFill>
            <a:effectLst/>
          </c:spPr>
          <c:invertIfNegative val="0"/>
          <c:dLbls>
            <c:numFmt formatCode="0.00" sourceLinked="0"/>
            <c:txPr>
              <a:bodyPr/>
              <a:lstStyle/>
              <a:p>
                <a:pPr>
                  <a:defRPr b="0" i="0" strike="noStrike" sz="900" u="none">
                    <a:solidFill>
                      <a:srgbClr val="E9F0FB"/>
                    </a:solidFill>
                    <a:latin typeface="+mn-lt"/>
                  </a:defRPr>
                </a:pPr>
              </a:p>
            </c:txPr>
            <c:showLegendKey val="0"/>
            <c:showVal val="1"/>
            <c:showCatName val="0"/>
            <c:showSerName val="0"/>
            <c:showPercent val="0"/>
            <c:showBubbleSize val="0"/>
            <c:showLeaderLines val="0"/>
          </c:dLbls>
          <c:cat>
            <c:multiLvlStrRef>
              <c:f>Sheet1!$A$2:$A$4</c:f>
              <c:multiLvlStrCache>
                <c:ptCount val="3"/>
                <c:lvl>
                  <c:pt idx="0">
                    <c:v>Precision</c:v>
                  </c:pt>
                  <c:pt idx="1">
                    <c:v>Recall</c:v>
                  </c:pt>
                  <c:pt idx="2">
                    <c:v>False-positive rate</c:v>
                  </c:pt>
                </c:lvl>
              </c:multiLvlStrCache>
            </c:multiLvlStrRef>
          </c:cat>
          <c:val>
            <c:numRef>
              <c:f>Sheet1!$C$2:$C$4</c:f>
              <c:numCache>
                <c:formatCode>General</c:formatCode>
                <c:ptCount val="3"/>
                <c:pt idx="0">
                  <c:v>0.826</c:v>
                </c:pt>
                <c:pt idx="1">
                  <c:v>0.792</c:v>
                </c:pt>
                <c:pt idx="2">
                  <c:v>0.148</c:v>
                </c:pt>
              </c:numCache>
            </c:numRef>
          </c:val>
        </c:ser>
        <c:ser>
          <c:idx val="2"/>
          <c:order val="2"/>
          <c:tx>
            <c:strRef>
              <c:f>Sheet1!$D$1</c:f>
              <c:strCache>
                <c:ptCount val="1"/>
                <c:pt idx="0">
                  <c:v>Single-message</c:v>
                </c:pt>
              </c:strCache>
            </c:strRef>
          </c:tx>
          <c:spPr>
            <a:solidFill>
              <a:srgbClr val="6C7A96"/>
            </a:solidFill>
            <a:effectLst/>
          </c:spPr>
          <c:invertIfNegative val="0"/>
          <c:dLbls>
            <c:numFmt formatCode="0.00" sourceLinked="0"/>
            <c:txPr>
              <a:bodyPr/>
              <a:lstStyle/>
              <a:p>
                <a:pPr>
                  <a:defRPr b="0" i="0" strike="noStrike" sz="900" u="none">
                    <a:solidFill>
                      <a:srgbClr val="E9F0FB"/>
                    </a:solidFill>
                    <a:latin typeface="+mn-lt"/>
                  </a:defRPr>
                </a:pPr>
              </a:p>
            </c:txPr>
            <c:showLegendKey val="0"/>
            <c:showVal val="1"/>
            <c:showCatName val="0"/>
            <c:showSerName val="0"/>
            <c:showPercent val="0"/>
            <c:showBubbleSize val="0"/>
            <c:showLeaderLines val="0"/>
          </c:dLbls>
          <c:cat>
            <c:multiLvlStrRef>
              <c:f>Sheet1!$A$2:$A$4</c:f>
              <c:multiLvlStrCache>
                <c:ptCount val="3"/>
                <c:lvl>
                  <c:pt idx="0">
                    <c:v>Precision</c:v>
                  </c:pt>
                  <c:pt idx="1">
                    <c:v>Recall</c:v>
                  </c:pt>
                  <c:pt idx="2">
                    <c:v>False-positive rate</c:v>
                  </c:pt>
                </c:lvl>
              </c:multiLvlStrCache>
            </c:multiLvlStrRef>
          </c:cat>
          <c:val>
            <c:numRef>
              <c:f>Sheet1!$D$2:$D$4</c:f>
              <c:numCache>
                <c:formatCode>General</c:formatCode>
                <c:ptCount val="3"/>
                <c:pt idx="0">
                  <c:v>0.55</c:v>
                </c:pt>
                <c:pt idx="1">
                  <c:v>0.917</c:v>
                </c:pt>
                <c:pt idx="2">
                  <c:v>0.667</c:v>
                </c:pt>
              </c:numCache>
            </c:numRef>
          </c:val>
        </c:ser>
        <c:dLbls>
          <c:numFmt formatCode="0.00" sourceLinked="0"/>
          <c:txPr>
            <a:bodyPr/>
            <a:lstStyle/>
            <a:p>
              <a:pPr>
                <a:defRPr b="0" i="0" strike="noStrike" sz="900" u="none">
                  <a:solidFill>
                    <a:srgbClr val="E9F0F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E9F0FB"/>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22324F"/>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9AA8C2"/>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000">
              <a:solidFill>
                <a:srgbClr val="E9F0F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problem statement in one line: AI-enabled scam workflows across UPI, banking and wallets, and the requirement to alert at the right time without alert fatigue. SafeCircle's answer is to treat a scam as a pattern over several events, not as one message. Mention up front that every example in this deck is synthetic DEMO DATA and that the score is a heuristic indicator, not a probability. The helix image is an illustration rendered by our 3D walkthrough, not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qualitative: we did not measure how common AI-enabled scams are, so we make no prevalence claim. The point is structural. Each piece can look harmless, but the sequence across SMS, calls, links and QR codes is what gives the scam away. These are the five stages the engine tracks.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demo story from docs/demo-runbook.md, replayed through the real API by presentation/scripts/snapshot.py. Point out the restraint: the first message is only medium, the QR check is what proves the contradiction (a payment presented as a refund), and the escalation happens when evidence is joined into one case. Repeats are suppressed, so the user gets one alert, not four. In the live demo the same steps run in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idea: separate what we saw from what we infer. Solid lines are supported by submitted evidence; dashed lines are the stage model's proposal. The chart is the real score after each of the four synthetic messages (45, 82, 94, 99), with the alert decision at each step. The model similarity score is shown beside the result but never changes the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module here is in the repository and covered by tests; the status line says what is not verified. The Guardian Shield extension's code is tested with a mocked chrome API and its pages were run in Chrome with a stub, but loading the installed extension in a real Chrome profile has not been verified. Screenshots are from the running app on a scratch database with DEMO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steps. The two things judges usually ask about are uncertainty and alert fatigue. The right-hand box is real engine output: a lone OTP request is held at 59 and sent for review instead of being called high; a later 'please ignore' message is flagged as a conflict and does not lower the score. The language model's similarity is reported beside the score and never changes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time allows, switch to the 3D walkthrough here (press A). Every module in Scene A is a real component of the repository; clicking one shows its inputs, outputs, verified status and source files. The deployable unit is one FastAPI container that also serves the static site. The amber items are honest: the extension's real-browser run and the PostgreSQL container image build were not verified in this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numbers with their fractions: 23/26 precision, 23/24 recall, 3/27 false positives. The baselines ran on the same set: a keyword baseline and our own original single-message detector, which flags far more benign messages because it judges each message alone. Then read the errors aloud; they are the honest part. The v3 set was written after reading the rules, so it is a check, not a benchmark. Sources: evaluation/holdout_v2/results_v2_baseline.json and evaluation/holdout_v3/results_v3_postfix.json.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is a design constraint, not a feature list. The extension change to minimal URLs was measured: about 0.2–0.3% of phishing URLs in our sets lose a warning, which we accept for privacy. The deployment table is deliberately conservative: only the local single-process mode has been run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in team member names for each owner role before presenting; the roles are placeholders, not people. The plan is deliberately about evidence quality first: a fresh, independent synthetic set before any rule change, because the current sets were written by the same team that wrote the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show these slides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website is a separate deliverable from this deck. It needs no backend: it replays a recorded snapshot of the real API output, labelled DEMO DATA, and can be regenerated with presentation/scripts/snapshot.py.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only if asked about further numbers. The public-data detector results predate the PS02 case engine and measure generic spam and phishing, so they do not support claims about UPI scams.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answer to 'what is real?'. Everything marked implemented has tests in the repository; partial and illustrative items say exactly what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5070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48840"/>
            <a:ext cx="6766560" cy="1554480"/>
          </a:xfrm>
          <a:prstGeom prst="rect">
            <a:avLst/>
          </a:prstGeom>
          <a:noFill/>
          <a:ln/>
        </p:spPr>
        <p:txBody>
          <a:bodyPr wrap="square" rtlCol="0"/>
          <a:lstStyle>
            <a:lvl1pPr indent="0" marL="0">
              <a:buNone/>
              <a:defRPr lang="en-US" sz="5400" b="1" spc="100" kern="0" dirty="0">
                <a:solidFill>
                  <a:schemeClr val="bg2"/>
                </a:solidFill>
                <a:latin typeface="Arial" pitchFamily="34" charset="0"/>
                <a:ea typeface="Arial" pitchFamily="34" charset="-122"/>
                <a:cs typeface="Arial" pitchFamily="34" charset="-120"/>
              </a:defRPr>
            </a:lvl1pPr>
          </a:lstStyle>
          <a:p>
            <a:pPr indent="0" marL="0">
              <a:buNone/>
            </a:pPr>
            <a:endParaRPr lang="en-US" sz="5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5070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rtlCol="0"/>
          <a:lstStyle>
            <a:lvl1pPr indent="0" marL="0">
              <a:buNone/>
              <a:defRPr lang="en-US" sz="1100" b="1" spc="30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548640" y="566928"/>
            <a:ext cx="11094415" cy="731520"/>
          </a:xfrm>
          <a:prstGeom prst="rect">
            <a:avLst/>
          </a:prstGeom>
          <a:noFill/>
          <a:ln/>
        </p:spPr>
        <p:txBody>
          <a:bodyPr wrap="square" rtlCol="0"/>
          <a:lstStyle>
            <a:lvl1pPr indent="0" marL="0">
              <a:buNone/>
              <a:defRPr lang="en-US" sz="3200" b="1" dirty="0">
                <a:solidFill>
                  <a:schemeClr val="bg2"/>
                </a:solidFill>
                <a:latin typeface="Arial" pitchFamily="34" charset="0"/>
                <a:ea typeface="Arial" pitchFamily="34" charset="-122"/>
                <a:cs typeface="Arial" pitchFamily="34" charset="-120"/>
              </a:defRPr>
            </a:lvl1pPr>
          </a:lstStyle>
          <a:p>
            <a:pPr indent="0" marL="0">
              <a:buNone/>
            </a:pPr>
            <a:endParaRPr lang="en-US" sz="32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SafeCircle Guardian · PS02 · All examples are synthetic DEMO DATA</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0B122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0"/>
            <a:ext cx="9144000" cy="914400"/>
          </a:xfrm>
          <a:prstGeom prst="rect">
            <a:avLst/>
          </a:prstGeom>
          <a:noFill/>
          <a:ln/>
        </p:spPr>
        <p:txBody>
          <a:bodyPr wrap="square" rtlCol="0"/>
          <a:lstStyle>
            <a:lvl1pPr indent="0" marL="0">
              <a:buNone/>
              <a:defRPr lang="en-US" sz="4400" b="1" dirty="0">
                <a:solidFill>
                  <a:schemeClr val="bg2"/>
                </a:solidFill>
                <a:latin typeface="Arial" pitchFamily="34" charset="0"/>
                <a:ea typeface="Arial" pitchFamily="34" charset="-122"/>
                <a:cs typeface="Arial" pitchFamily="34" charset="-120"/>
              </a:defRPr>
            </a:lvl1pPr>
          </a:lstStyle>
          <a:p>
            <a:pPr indent="0" marL="0">
              <a:buNone/>
            </a:pPr>
            <a:endParaRPr lang="en-US" sz="4400" dirty="0"/>
          </a:p>
        </p:txBody>
      </p:sp>
      <p:sp>
        <p:nvSpPr>
          <p:cNvPr id="3" name="Text 0"/>
          <p:cNvSpPr/>
          <p:nvPr>
            <p:ph idx="101" type="body" hasCustomPrompt="1"/>
          </p:nvPr>
        </p:nvSpPr>
        <p:spPr>
          <a:xfrm>
            <a:off x="548640" y="3566160"/>
            <a:ext cx="9144000" cy="914400"/>
          </a:xfrm>
          <a:prstGeom prst="rect">
            <a:avLst/>
          </a:prstGeom>
          <a:noFill/>
          <a:ln/>
        </p:spPr>
        <p:txBody>
          <a:bodyPr wrap="square" rtlCol="0"/>
          <a:lstStyle>
            <a:lvl1pPr indent="0" marL="0">
              <a:buNone/>
              <a:defRPr lang="en-US" sz="1600" dirty="0">
                <a:solidFill>
                  <a:schemeClr val="accent6"/>
                </a:solidFill>
              </a:defRPr>
            </a:lvl1pPr>
          </a:lstStyle>
          <a:p>
            <a:pPr indent="0" marL="0">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4-1.jp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crim-1"/>
          <p:cNvSpPr/>
          <p:nvPr/>
        </p:nvSpPr>
        <p:spPr>
          <a:xfrm>
            <a:off x="0" y="0"/>
            <a:ext cx="6949440" cy="6858000"/>
          </a:xfrm>
          <a:prstGeom prst="rect">
            <a:avLst/>
          </a:prstGeom>
          <a:solidFill>
            <a:srgbClr val="05070D">
              <a:alpha val="75000"/>
            </a:srgbClr>
          </a:solidFill>
          <a:ln/>
        </p:spPr>
      </p:sp>
      <p:sp>
        <p:nvSpPr>
          <p:cNvPr id="3" name="text-2"/>
          <p:cNvSpPr txBox="1"/>
          <p:nvPr/>
        </p:nvSpPr>
        <p:spPr>
          <a:xfrm>
            <a:off x="548640" y="1691640"/>
            <a:ext cx="6583680" cy="274320"/>
          </a:xfrm>
          <a:prstGeom prst="rect">
            <a:avLst/>
          </a:prstGeom>
          <a:noFill/>
          <a:ln/>
        </p:spPr>
        <p:txBody>
          <a:bodyPr wrap="square" lIns="0" tIns="0" rIns="0" bIns="0" rtlCol="0" anchor="t"/>
          <a:lstStyle/>
          <a:p>
            <a:pPr indent="0" marL="0">
              <a:buNone/>
            </a:pPr>
            <a:r>
              <a:rPr lang="en-US" sz="1100" b="1" spc="300" kern="0" dirty="0">
                <a:solidFill>
                  <a:schemeClr val="accent1"/>
                </a:solidFill>
              </a:rPr>
              <a:t>AI-DRIVEN SCAM PATTERN RECOGNITION · PROBLEM STATEMENT 02</a:t>
            </a:r>
            <a:endParaRPr lang="en-US" sz="1100" dirty="0"/>
          </a:p>
        </p:txBody>
      </p:sp>
      <p:sp>
        <p:nvSpPr>
          <p:cNvPr id="4" name="Text 0"/>
          <p:cNvSpPr/>
          <p:nvPr>
            <p:ph idx="100" type="title" hasCustomPrompt="1"/>
          </p:nvPr>
        </p:nvSpPr>
        <p:spPr>
          <a:xfrm>
            <a:off x="548640" y="2148840"/>
            <a:ext cx="6766560" cy="1554480"/>
          </a:xfrm>
          <a:prstGeom prst="rect">
            <a:avLst/>
          </a:prstGeom>
          <a:noFill/>
          <a:ln/>
        </p:spPr>
        <p:txBody>
          <a:bodyPr wrap="square" lIns="0" tIns="0" rIns="0" bIns="0" rtlCol="0" anchor="b"/>
          <a:lstStyle/>
          <a:p>
            <a:pPr indent="0" marL="0">
              <a:buNone/>
            </a:pPr>
            <a:r>
              <a:rPr lang="en-US" sz="5400" b="1" spc="100" kern="0" dirty="0">
                <a:solidFill>
                  <a:schemeClr val="bg2"/>
                </a:solidFill>
                <a:latin typeface="Arial" pitchFamily="34" charset="0"/>
                <a:ea typeface="Arial" pitchFamily="34" charset="-122"/>
                <a:cs typeface="Arial" pitchFamily="34" charset="-120"/>
              </a:rPr>
              <a:t>SafeCircle Guardian</a:t>
            </a:r>
            <a:endParaRPr lang="en-US" sz="5400" dirty="0"/>
          </a:p>
        </p:txBody>
      </p:sp>
      <p:sp>
        <p:nvSpPr>
          <p:cNvPr id="5" name="text-3"/>
          <p:cNvSpPr txBox="1"/>
          <p:nvPr/>
        </p:nvSpPr>
        <p:spPr>
          <a:xfrm>
            <a:off x="548640" y="3840480"/>
            <a:ext cx="6400800" cy="777240"/>
          </a:xfrm>
          <a:prstGeom prst="rect">
            <a:avLst/>
          </a:prstGeom>
          <a:noFill/>
          <a:ln/>
        </p:spPr>
        <p:txBody>
          <a:bodyPr wrap="square" lIns="0" tIns="0" rIns="0" bIns="0" rtlCol="0" anchor="t"/>
          <a:lstStyle/>
          <a:p>
            <a:pPr indent="0" marL="0">
              <a:buNone/>
            </a:pPr>
            <a:r>
              <a:rPr lang="en-US" sz="2200" b="1" dirty="0">
                <a:solidFill>
                  <a:schemeClr val="accent1"/>
                </a:solidFill>
              </a:rPr>
              <a:t>Detect the pattern. </a:t>
            </a:r>
            <a:pPr indent="0" marL="0">
              <a:buNone/>
            </a:pPr>
            <a:r>
              <a:rPr lang="en-US" sz="2200" b="1" dirty="0">
                <a:solidFill>
                  <a:schemeClr val="accent3"/>
                </a:solidFill>
              </a:rPr>
              <a:t>Disrupt the scam.</a:t>
            </a:r>
            <a:endParaRPr lang="en-US" sz="2200" dirty="0"/>
          </a:p>
          <a:p>
            <a:pPr indent="0" marL="0">
              <a:buNone/>
            </a:pPr>
            <a:r>
              <a:rPr lang="en-US" sz="2200" b="1" dirty="0">
                <a:solidFill>
                  <a:schemeClr val="bg2"/>
                </a:solidFill>
              </a:rPr>
              <a:t>Protect the user.</a:t>
            </a:r>
            <a:endParaRPr lang="en-US" sz="2200" dirty="0"/>
          </a:p>
        </p:txBody>
      </p:sp>
      <p:sp>
        <p:nvSpPr>
          <p:cNvPr id="6" name="text-4"/>
          <p:cNvSpPr txBox="1"/>
          <p:nvPr/>
        </p:nvSpPr>
        <p:spPr>
          <a:xfrm>
            <a:off x="548640" y="4709160"/>
            <a:ext cx="6035040" cy="777240"/>
          </a:xfrm>
          <a:prstGeom prst="rect">
            <a:avLst/>
          </a:prstGeom>
          <a:noFill/>
          <a:ln/>
        </p:spPr>
        <p:txBody>
          <a:bodyPr wrap="square" lIns="0" tIns="0" rIns="0" bIns="0" rtlCol="0" anchor="t"/>
          <a:lstStyle/>
          <a:p>
            <a:pPr indent="0" marL="0">
              <a:buNone/>
            </a:pPr>
            <a:r>
              <a:rPr lang="en-US" sz="1500" dirty="0">
                <a:solidFill>
                  <a:schemeClr val="accent6"/>
                </a:solidFill>
              </a:rPr>
              <a:t>A UPI, banking or wallet scam rarely arrives as one message. SafeCircle follows the whole episode, explains every piece of evidence, and warns once, when the risk actually changes.</a:t>
            </a:r>
            <a:endParaRPr lang="en-US" sz="1500" dirty="0"/>
          </a:p>
        </p:txBody>
      </p:sp>
      <p:sp>
        <p:nvSpPr>
          <p:cNvPr id="7" name="chip-5"/>
          <p:cNvSpPr/>
          <p:nvPr/>
        </p:nvSpPr>
        <p:spPr>
          <a:xfrm>
            <a:off x="548640" y="5623560"/>
            <a:ext cx="2926080" cy="292608"/>
          </a:xfrm>
          <a:prstGeom prst="roundRect">
            <a:avLst>
              <a:gd name="adj" fmla="val 50000"/>
            </a:avLst>
          </a:prstGeom>
          <a:solidFill>
            <a:srgbClr val="05070D">
              <a:alpha val="80000"/>
            </a:srgbClr>
          </a:solidFill>
          <a:ln w="12700">
            <a:solidFill>
              <a:srgbClr val="3EE6FF"/>
            </a:solidFill>
            <a:prstDash val="solid"/>
          </a:ln>
        </p:spPr>
      </p:sp>
      <p:sp>
        <p:nvSpPr>
          <p:cNvPr id="8" name="text-6"/>
          <p:cNvSpPr txBox="1"/>
          <p:nvPr/>
        </p:nvSpPr>
        <p:spPr>
          <a:xfrm>
            <a:off x="548640" y="5623560"/>
            <a:ext cx="2926080" cy="292608"/>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EXPLAINABLE RULES · NO PAID AI API</a:t>
            </a:r>
            <a:endParaRPr lang="en-US" sz="1000" dirty="0"/>
          </a:p>
        </p:txBody>
      </p:sp>
      <p:sp>
        <p:nvSpPr>
          <p:cNvPr id="9" name="chip-7"/>
          <p:cNvSpPr/>
          <p:nvPr/>
        </p:nvSpPr>
        <p:spPr>
          <a:xfrm>
            <a:off x="3611880" y="5623560"/>
            <a:ext cx="2377440" cy="292608"/>
          </a:xfrm>
          <a:prstGeom prst="roundRect">
            <a:avLst>
              <a:gd name="adj" fmla="val 50000"/>
            </a:avLst>
          </a:prstGeom>
          <a:solidFill>
            <a:srgbClr val="05070D">
              <a:alpha val="80000"/>
            </a:srgbClr>
          </a:solidFill>
          <a:ln w="12700">
            <a:solidFill>
              <a:srgbClr val="3EE6FF"/>
            </a:solidFill>
            <a:prstDash val="solid"/>
          </a:ln>
        </p:spPr>
      </p:sp>
      <p:sp>
        <p:nvSpPr>
          <p:cNvPr id="10" name="text-8"/>
          <p:cNvSpPr txBox="1"/>
          <p:nvPr/>
        </p:nvSpPr>
        <p:spPr>
          <a:xfrm>
            <a:off x="3611880" y="5623560"/>
            <a:ext cx="2377440" cy="292608"/>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USER-INITIATED CHECKS ONLY</a:t>
            </a:r>
            <a:endParaRPr lang="en-US" sz="1000" dirty="0"/>
          </a:p>
        </p:txBody>
      </p:sp>
      <p:sp>
        <p:nvSpPr>
          <p:cNvPr id="11" name="chip-9"/>
          <p:cNvSpPr/>
          <p:nvPr/>
        </p:nvSpPr>
        <p:spPr>
          <a:xfrm>
            <a:off x="548640" y="5989320"/>
            <a:ext cx="2926080" cy="292608"/>
          </a:xfrm>
          <a:prstGeom prst="roundRect">
            <a:avLst>
              <a:gd name="adj" fmla="val 50000"/>
            </a:avLst>
          </a:prstGeom>
          <a:solidFill>
            <a:srgbClr val="05070D">
              <a:alpha val="80000"/>
            </a:srgbClr>
          </a:solidFill>
          <a:ln w="12700">
            <a:solidFill>
              <a:srgbClr val="FFB84D"/>
            </a:solidFill>
            <a:prstDash val="solid"/>
          </a:ln>
        </p:spPr>
      </p:sp>
      <p:sp>
        <p:nvSpPr>
          <p:cNvPr id="12" name="text-10"/>
          <p:cNvSpPr txBox="1"/>
          <p:nvPr/>
        </p:nvSpPr>
        <p:spPr>
          <a:xfrm>
            <a:off x="548640" y="5989320"/>
            <a:ext cx="2926080" cy="292608"/>
          </a:xfrm>
          <a:prstGeom prst="rect">
            <a:avLst/>
          </a:prstGeom>
          <a:noFill/>
          <a:ln/>
        </p:spPr>
        <p:txBody>
          <a:bodyPr wrap="square" lIns="0" tIns="0" rIns="0" bIns="0" rtlCol="0" anchor="ctr"/>
          <a:lstStyle/>
          <a:p>
            <a:pPr algn="ctr" indent="0" marL="0">
              <a:buNone/>
            </a:pPr>
            <a:r>
              <a:rPr lang="en-US" sz="1000" b="1" spc="100" kern="0" dirty="0">
                <a:solidFill>
                  <a:schemeClr val="accent5"/>
                </a:solidFill>
              </a:rPr>
              <a:t>ALL EXAMPLES: SYNTHETIC DEMO DATA</a:t>
            </a:r>
            <a:endParaRPr lang="en-US" sz="1000" dirty="0"/>
          </a:p>
        </p:txBody>
      </p:sp>
      <p:sp>
        <p:nvSpPr>
          <p:cNvPr id="13" name="text-11"/>
          <p:cNvSpPr txBox="1"/>
          <p:nvPr/>
        </p:nvSpPr>
        <p:spPr>
          <a:xfrm>
            <a:off x="548640" y="6446520"/>
            <a:ext cx="6400800" cy="274320"/>
          </a:xfrm>
          <a:prstGeom prst="rect">
            <a:avLst/>
          </a:prstGeom>
          <a:noFill/>
          <a:ln/>
        </p:spPr>
        <p:txBody>
          <a:bodyPr wrap="square" lIns="0" tIns="0" rIns="0" bIns="0" rtlCol="0" anchor="t"/>
          <a:lstStyle/>
          <a:p>
            <a:pPr indent="0" marL="0">
              <a:buNone/>
            </a:pPr>
            <a:r>
              <a:rPr lang="en-US" sz="1000" dirty="0">
                <a:solidFill>
                  <a:schemeClr val="accent6"/>
                </a:solidFill>
              </a:rPr>
              <a:t>Amazon AI Cyber Security Hackathon · Problem Statement 02</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300" kern="0" dirty="0">
                <a:solidFill>
                  <a:schemeClr val="accent1"/>
                </a:solidFill>
              </a:rPr>
              <a:t>02 · THE THREAT</a:t>
            </a:r>
            <a:endParaRPr lang="en-US" sz="1100" dirty="0"/>
          </a:p>
        </p:txBody>
      </p:sp>
      <p:sp>
        <p:nvSpPr>
          <p:cNvPr id="3" name="Text 0"/>
          <p:cNvSpPr/>
          <p:nvPr>
            <p:ph idx="101" type="title" hasCustomPrompt="1"/>
          </p:nvPr>
        </p:nvSpPr>
        <p:spPr>
          <a:xfrm>
            <a:off x="548640" y="566928"/>
            <a:ext cx="11094415" cy="731520"/>
          </a:xfrm>
          <a:prstGeom prst="rect">
            <a:avLst/>
          </a:prstGeom>
          <a:noFill/>
          <a:ln/>
        </p:spPr>
        <p:txBody>
          <a:bodyPr wrap="square" lIns="0" tIns="0" rIns="0" bIns="0" rtlCol="0" anchor="t"/>
          <a:lstStyle/>
          <a:p>
            <a:pPr indent="0" marL="0">
              <a:buNone/>
            </a:pPr>
            <a:r>
              <a:rPr lang="en-US" sz="3200" b="1" dirty="0">
                <a:solidFill>
                  <a:schemeClr val="bg2"/>
                </a:solidFill>
                <a:latin typeface="Arial" pitchFamily="34" charset="0"/>
                <a:ea typeface="Arial" pitchFamily="34" charset="-122"/>
                <a:cs typeface="Arial" pitchFamily="34" charset="-120"/>
              </a:rPr>
              <a:t>One scam, many harmless-looking pieces</a:t>
            </a:r>
            <a:endParaRPr lang="en-US" sz="3200" dirty="0"/>
          </a:p>
        </p:txBody>
      </p:sp>
      <p:sp>
        <p:nvSpPr>
          <p:cNvPr id="4" name="text-12"/>
          <p:cNvSpPr txBox="1"/>
          <p:nvPr/>
        </p:nvSpPr>
        <p:spPr>
          <a:xfrm>
            <a:off x="548640" y="1463040"/>
            <a:ext cx="6766560" cy="1005840"/>
          </a:xfrm>
          <a:prstGeom prst="rect">
            <a:avLst/>
          </a:prstGeom>
          <a:noFill/>
          <a:ln/>
        </p:spPr>
        <p:txBody>
          <a:bodyPr wrap="square" lIns="0" tIns="0" rIns="0" bIns="0" rtlCol="0" anchor="t"/>
          <a:lstStyle/>
          <a:p>
            <a:pPr indent="0" marL="0">
              <a:buNone/>
            </a:pPr>
            <a:r>
              <a:rPr lang="en-US" sz="1600" dirty="0">
                <a:solidFill>
                  <a:schemeClr val="accent6"/>
                </a:solidFill>
              </a:rPr>
              <a:t>The problem statement asks for detection of emerging AI-enabled scam workflows in UPI, banking and wallet contexts. Generative tools make each message fluent and on-brand, so a single text often looks plausible.</a:t>
            </a:r>
            <a:endParaRPr lang="en-US" sz="1600" dirty="0"/>
          </a:p>
        </p:txBody>
      </p:sp>
      <p:sp>
        <p:nvSpPr>
          <p:cNvPr id="5" name="text-13"/>
          <p:cNvSpPr txBox="1"/>
          <p:nvPr/>
        </p:nvSpPr>
        <p:spPr>
          <a:xfrm>
            <a:off x="548640" y="2514600"/>
            <a:ext cx="6766560" cy="548640"/>
          </a:xfrm>
          <a:prstGeom prst="rect">
            <a:avLst/>
          </a:prstGeom>
          <a:noFill/>
          <a:ln/>
        </p:spPr>
        <p:txBody>
          <a:bodyPr wrap="square" lIns="0" tIns="0" rIns="0" bIns="0" rtlCol="0" anchor="t"/>
          <a:lstStyle/>
          <a:p>
            <a:pPr indent="0" marL="0">
              <a:buNone/>
            </a:pPr>
            <a:r>
              <a:rPr lang="en-US" sz="1800" b="1" dirty="0">
                <a:solidFill>
                  <a:schemeClr val="bg2"/>
                </a:solidFill>
              </a:rPr>
              <a:t>The signal is the sequence: a lure, then pressure, then a request for a code, then money moves.</a:t>
            </a:r>
            <a:endParaRPr lang="en-US" sz="1800" dirty="0"/>
          </a:p>
        </p:txBody>
      </p:sp>
      <p:pic>
        <p:nvPicPr>
          <p:cNvPr id="6" name="dna-closeup-14" descr="Illustration of the Scam DNA helix from the 3D walkthrough">    </p:cNvPr>
          <p:cNvPicPr>
            <a:picLocks noChangeAspect="1"/>
          </p:cNvPicPr>
          <p:nvPr/>
        </p:nvPicPr>
        <p:blipFill>
          <a:blip r:embed="rId1"/>
          <a:stretch>
            <a:fillRect/>
          </a:stretch>
        </p:blipFill>
        <p:spPr>
          <a:xfrm>
            <a:off x="7726680" y="1417320"/>
            <a:ext cx="3913632" cy="2201418"/>
          </a:xfrm>
          <a:prstGeom prst="rect">
            <a:avLst/>
          </a:prstGeom>
        </p:spPr>
      </p:pic>
      <p:sp>
        <p:nvSpPr>
          <p:cNvPr id="7" name="frame-15"/>
          <p:cNvSpPr/>
          <p:nvPr/>
        </p:nvSpPr>
        <p:spPr>
          <a:xfrm>
            <a:off x="7726680" y="1417320"/>
            <a:ext cx="3913632" cy="2201418"/>
          </a:xfrm>
          <a:prstGeom prst="roundRect">
            <a:avLst>
              <a:gd name="adj" fmla="val 2492"/>
            </a:avLst>
          </a:prstGeom>
          <a:ln w="12700">
            <a:solidFill>
              <a:srgbClr val="22324F"/>
            </a:solidFill>
            <a:prstDash val="solid"/>
          </a:ln>
        </p:spPr>
      </p:sp>
      <p:sp>
        <p:nvSpPr>
          <p:cNvPr id="8" name="panel-16"/>
          <p:cNvSpPr/>
          <p:nvPr/>
        </p:nvSpPr>
        <p:spPr>
          <a:xfrm>
            <a:off x="548640" y="3886200"/>
            <a:ext cx="2057400" cy="1600200"/>
          </a:xfrm>
          <a:prstGeom prst="roundRect">
            <a:avLst>
              <a:gd name="adj" fmla="val 4571"/>
            </a:avLst>
          </a:prstGeom>
          <a:solidFill>
            <a:srgbClr val="0F1830">
              <a:alpha val="92000"/>
            </a:srgbClr>
          </a:solidFill>
          <a:ln w="12700">
            <a:solidFill>
              <a:srgbClr val="22324F"/>
            </a:solidFill>
            <a:prstDash val="solid"/>
          </a:ln>
        </p:spPr>
      </p:sp>
      <p:sp>
        <p:nvSpPr>
          <p:cNvPr id="9" name="text-17"/>
          <p:cNvSpPr txBox="1"/>
          <p:nvPr/>
        </p:nvSpPr>
        <p:spPr>
          <a:xfrm>
            <a:off x="731520" y="4050792"/>
            <a:ext cx="914400" cy="228600"/>
          </a:xfrm>
          <a:prstGeom prst="rect">
            <a:avLst/>
          </a:prstGeom>
          <a:noFill/>
          <a:ln/>
        </p:spPr>
        <p:txBody>
          <a:bodyPr wrap="square" lIns="0" tIns="0" rIns="0" bIns="0" rtlCol="0" anchor="t"/>
          <a:lstStyle/>
          <a:p>
            <a:pPr indent="0" marL="0">
              <a:buNone/>
            </a:pPr>
            <a:r>
              <a:rPr lang="en-US" sz="1100" b="1" dirty="0">
                <a:solidFill>
                  <a:schemeClr val="accent1"/>
                </a:solidFill>
              </a:rPr>
              <a:t>01</a:t>
            </a:r>
            <a:endParaRPr lang="en-US" sz="1100" dirty="0"/>
          </a:p>
        </p:txBody>
      </p:sp>
      <p:sp>
        <p:nvSpPr>
          <p:cNvPr id="10" name="text-18"/>
          <p:cNvSpPr txBox="1"/>
          <p:nvPr/>
        </p:nvSpPr>
        <p:spPr>
          <a:xfrm>
            <a:off x="731520" y="4297680"/>
            <a:ext cx="1691640" cy="365760"/>
          </a:xfrm>
          <a:prstGeom prst="rect">
            <a:avLst/>
          </a:prstGeom>
          <a:noFill/>
          <a:ln/>
        </p:spPr>
        <p:txBody>
          <a:bodyPr wrap="square" lIns="0" tIns="0" rIns="0" bIns="0" rtlCol="0" anchor="t"/>
          <a:lstStyle/>
          <a:p>
            <a:pPr indent="0" marL="0">
              <a:buNone/>
            </a:pPr>
            <a:r>
              <a:rPr lang="en-US" sz="1700" b="1" dirty="0">
                <a:solidFill>
                  <a:schemeClr val="bg2"/>
                </a:solidFill>
                <a:latin typeface="Arial" pitchFamily="34" charset="0"/>
                <a:ea typeface="Arial" pitchFamily="34" charset="-122"/>
                <a:cs typeface="Arial" pitchFamily="34" charset="-120"/>
              </a:rPr>
              <a:t>APPROACH</a:t>
            </a:r>
            <a:endParaRPr lang="en-US" sz="1700" dirty="0"/>
          </a:p>
        </p:txBody>
      </p:sp>
      <p:sp>
        <p:nvSpPr>
          <p:cNvPr id="11" name="text-19"/>
          <p:cNvSpPr txBox="1"/>
          <p:nvPr/>
        </p:nvSpPr>
        <p:spPr>
          <a:xfrm>
            <a:off x="731520" y="4709160"/>
            <a:ext cx="1691640" cy="685800"/>
          </a:xfrm>
          <a:prstGeom prst="rect">
            <a:avLst/>
          </a:prstGeom>
          <a:noFill/>
          <a:ln/>
        </p:spPr>
        <p:txBody>
          <a:bodyPr wrap="square" lIns="0" tIns="0" rIns="0" bIns="0" rtlCol="0" anchor="t"/>
          <a:lstStyle/>
          <a:p>
            <a:pPr indent="0" marL="0">
              <a:buNone/>
            </a:pPr>
            <a:r>
              <a:rPr lang="en-US" sz="1300" dirty="0">
                <a:solidFill>
                  <a:schemeClr val="accent6"/>
                </a:solidFill>
              </a:rPr>
              <a:t>Contact and a borrowed identity or lure</a:t>
            </a:r>
            <a:endParaRPr lang="en-US" sz="1300" dirty="0"/>
          </a:p>
        </p:txBody>
      </p:sp>
      <p:sp>
        <p:nvSpPr>
          <p:cNvPr id="12" name="chev-20"/>
          <p:cNvSpPr/>
          <p:nvPr/>
        </p:nvSpPr>
        <p:spPr>
          <a:xfrm>
            <a:off x="2633472" y="4599432"/>
            <a:ext cx="109728" cy="182880"/>
          </a:xfrm>
          <a:prstGeom prst="chevron">
            <a:avLst/>
          </a:prstGeom>
          <a:solidFill>
            <a:srgbClr val="3EE6FF"/>
          </a:solidFill>
          <a:ln/>
        </p:spPr>
      </p:sp>
      <p:sp>
        <p:nvSpPr>
          <p:cNvPr id="13" name="panel-21"/>
          <p:cNvSpPr/>
          <p:nvPr/>
        </p:nvSpPr>
        <p:spPr>
          <a:xfrm>
            <a:off x="2770632" y="3886200"/>
            <a:ext cx="2057400" cy="1600200"/>
          </a:xfrm>
          <a:prstGeom prst="roundRect">
            <a:avLst>
              <a:gd name="adj" fmla="val 4571"/>
            </a:avLst>
          </a:prstGeom>
          <a:solidFill>
            <a:srgbClr val="0F1830">
              <a:alpha val="92000"/>
            </a:srgbClr>
          </a:solidFill>
          <a:ln w="12700">
            <a:solidFill>
              <a:srgbClr val="22324F"/>
            </a:solidFill>
            <a:prstDash val="solid"/>
          </a:ln>
        </p:spPr>
      </p:sp>
      <p:sp>
        <p:nvSpPr>
          <p:cNvPr id="14" name="text-22"/>
          <p:cNvSpPr txBox="1"/>
          <p:nvPr/>
        </p:nvSpPr>
        <p:spPr>
          <a:xfrm>
            <a:off x="2953512" y="4050792"/>
            <a:ext cx="914400" cy="228600"/>
          </a:xfrm>
          <a:prstGeom prst="rect">
            <a:avLst/>
          </a:prstGeom>
          <a:noFill/>
          <a:ln/>
        </p:spPr>
        <p:txBody>
          <a:bodyPr wrap="square" lIns="0" tIns="0" rIns="0" bIns="0" rtlCol="0" anchor="t"/>
          <a:lstStyle/>
          <a:p>
            <a:pPr indent="0" marL="0">
              <a:buNone/>
            </a:pPr>
            <a:r>
              <a:rPr lang="en-US" sz="1100" b="1" dirty="0">
                <a:solidFill>
                  <a:schemeClr val="accent1"/>
                </a:solidFill>
              </a:rPr>
              <a:t>02</a:t>
            </a:r>
            <a:endParaRPr lang="en-US" sz="1100" dirty="0"/>
          </a:p>
        </p:txBody>
      </p:sp>
      <p:sp>
        <p:nvSpPr>
          <p:cNvPr id="15" name="text-23"/>
          <p:cNvSpPr txBox="1"/>
          <p:nvPr/>
        </p:nvSpPr>
        <p:spPr>
          <a:xfrm>
            <a:off x="2953512" y="4297680"/>
            <a:ext cx="1691640" cy="365760"/>
          </a:xfrm>
          <a:prstGeom prst="rect">
            <a:avLst/>
          </a:prstGeom>
          <a:noFill/>
          <a:ln/>
        </p:spPr>
        <p:txBody>
          <a:bodyPr wrap="square" lIns="0" tIns="0" rIns="0" bIns="0" rtlCol="0" anchor="t"/>
          <a:lstStyle/>
          <a:p>
            <a:pPr indent="0" marL="0">
              <a:buNone/>
            </a:pPr>
            <a:r>
              <a:rPr lang="en-US" sz="1700" b="1" dirty="0">
                <a:solidFill>
                  <a:schemeClr val="bg2"/>
                </a:solidFill>
                <a:latin typeface="Arial" pitchFamily="34" charset="0"/>
                <a:ea typeface="Arial" pitchFamily="34" charset="-122"/>
                <a:cs typeface="Arial" pitchFamily="34" charset="-120"/>
              </a:rPr>
              <a:t>PRESSURE</a:t>
            </a:r>
            <a:endParaRPr lang="en-US" sz="1700" dirty="0"/>
          </a:p>
        </p:txBody>
      </p:sp>
      <p:sp>
        <p:nvSpPr>
          <p:cNvPr id="16" name="text-24"/>
          <p:cNvSpPr txBox="1"/>
          <p:nvPr/>
        </p:nvSpPr>
        <p:spPr>
          <a:xfrm>
            <a:off x="2953512" y="4709160"/>
            <a:ext cx="1691640" cy="685800"/>
          </a:xfrm>
          <a:prstGeom prst="rect">
            <a:avLst/>
          </a:prstGeom>
          <a:noFill/>
          <a:ln/>
        </p:spPr>
        <p:txBody>
          <a:bodyPr wrap="square" lIns="0" tIns="0" rIns="0" bIns="0" rtlCol="0" anchor="t"/>
          <a:lstStyle/>
          <a:p>
            <a:pPr indent="0" marL="0">
              <a:buNone/>
            </a:pPr>
            <a:r>
              <a:rPr lang="en-US" sz="1300" dirty="0">
                <a:solidFill>
                  <a:schemeClr val="accent6"/>
                </a:solidFill>
              </a:rPr>
              <a:t>Fear, urgency or authority</a:t>
            </a:r>
            <a:endParaRPr lang="en-US" sz="1300" dirty="0"/>
          </a:p>
        </p:txBody>
      </p:sp>
      <p:sp>
        <p:nvSpPr>
          <p:cNvPr id="17" name="chev-25"/>
          <p:cNvSpPr/>
          <p:nvPr/>
        </p:nvSpPr>
        <p:spPr>
          <a:xfrm>
            <a:off x="4855464" y="4599432"/>
            <a:ext cx="109728" cy="182880"/>
          </a:xfrm>
          <a:prstGeom prst="chevron">
            <a:avLst/>
          </a:prstGeom>
          <a:solidFill>
            <a:srgbClr val="3EE6FF"/>
          </a:solidFill>
          <a:ln/>
        </p:spPr>
      </p:sp>
      <p:sp>
        <p:nvSpPr>
          <p:cNvPr id="18" name="panel-26"/>
          <p:cNvSpPr/>
          <p:nvPr/>
        </p:nvSpPr>
        <p:spPr>
          <a:xfrm>
            <a:off x="4992624" y="3886200"/>
            <a:ext cx="2057400" cy="1600200"/>
          </a:xfrm>
          <a:prstGeom prst="roundRect">
            <a:avLst>
              <a:gd name="adj" fmla="val 4571"/>
            </a:avLst>
          </a:prstGeom>
          <a:solidFill>
            <a:srgbClr val="0F1830">
              <a:alpha val="92000"/>
            </a:srgbClr>
          </a:solidFill>
          <a:ln w="12700">
            <a:solidFill>
              <a:srgbClr val="22324F"/>
            </a:solidFill>
            <a:prstDash val="solid"/>
          </a:ln>
        </p:spPr>
      </p:sp>
      <p:sp>
        <p:nvSpPr>
          <p:cNvPr id="19" name="text-27"/>
          <p:cNvSpPr txBox="1"/>
          <p:nvPr/>
        </p:nvSpPr>
        <p:spPr>
          <a:xfrm>
            <a:off x="5175504" y="4050792"/>
            <a:ext cx="914400" cy="228600"/>
          </a:xfrm>
          <a:prstGeom prst="rect">
            <a:avLst/>
          </a:prstGeom>
          <a:noFill/>
          <a:ln/>
        </p:spPr>
        <p:txBody>
          <a:bodyPr wrap="square" lIns="0" tIns="0" rIns="0" bIns="0" rtlCol="0" anchor="t"/>
          <a:lstStyle/>
          <a:p>
            <a:pPr indent="0" marL="0">
              <a:buNone/>
            </a:pPr>
            <a:r>
              <a:rPr lang="en-US" sz="1100" b="1" dirty="0">
                <a:solidFill>
                  <a:schemeClr val="accent1"/>
                </a:solidFill>
              </a:rPr>
              <a:t>03</a:t>
            </a:r>
            <a:endParaRPr lang="en-US" sz="1100" dirty="0"/>
          </a:p>
        </p:txBody>
      </p:sp>
      <p:sp>
        <p:nvSpPr>
          <p:cNvPr id="20" name="text-28"/>
          <p:cNvSpPr txBox="1"/>
          <p:nvPr/>
        </p:nvSpPr>
        <p:spPr>
          <a:xfrm>
            <a:off x="5175504" y="4297680"/>
            <a:ext cx="1691640" cy="365760"/>
          </a:xfrm>
          <a:prstGeom prst="rect">
            <a:avLst/>
          </a:prstGeom>
          <a:noFill/>
          <a:ln/>
        </p:spPr>
        <p:txBody>
          <a:bodyPr wrap="square" lIns="0" tIns="0" rIns="0" bIns="0" rtlCol="0" anchor="t"/>
          <a:lstStyle/>
          <a:p>
            <a:pPr indent="0" marL="0">
              <a:buNone/>
            </a:pPr>
            <a:r>
              <a:rPr lang="en-US" sz="1700" b="1" dirty="0">
                <a:solidFill>
                  <a:schemeClr val="bg2"/>
                </a:solidFill>
                <a:latin typeface="Arial" pitchFamily="34" charset="0"/>
                <a:ea typeface="Arial" pitchFamily="34" charset="-122"/>
                <a:cs typeface="Arial" pitchFamily="34" charset="-120"/>
              </a:rPr>
              <a:t>HARVEST</a:t>
            </a:r>
            <a:endParaRPr lang="en-US" sz="1700" dirty="0"/>
          </a:p>
        </p:txBody>
      </p:sp>
      <p:sp>
        <p:nvSpPr>
          <p:cNvPr id="21" name="text-29"/>
          <p:cNvSpPr txBox="1"/>
          <p:nvPr/>
        </p:nvSpPr>
        <p:spPr>
          <a:xfrm>
            <a:off x="5175504" y="4709160"/>
            <a:ext cx="1691640" cy="685800"/>
          </a:xfrm>
          <a:prstGeom prst="rect">
            <a:avLst/>
          </a:prstGeom>
          <a:noFill/>
          <a:ln/>
        </p:spPr>
        <p:txBody>
          <a:bodyPr wrap="square" lIns="0" tIns="0" rIns="0" bIns="0" rtlCol="0" anchor="t"/>
          <a:lstStyle/>
          <a:p>
            <a:pPr indent="0" marL="0">
              <a:buNone/>
            </a:pPr>
            <a:r>
              <a:rPr lang="en-US" sz="1300" dirty="0">
                <a:solidFill>
                  <a:schemeClr val="accent6"/>
                </a:solidFill>
              </a:rPr>
              <a:t>OTP, PIN, password or fake login</a:t>
            </a:r>
            <a:endParaRPr lang="en-US" sz="1300" dirty="0"/>
          </a:p>
        </p:txBody>
      </p:sp>
      <p:sp>
        <p:nvSpPr>
          <p:cNvPr id="22" name="chev-30"/>
          <p:cNvSpPr/>
          <p:nvPr/>
        </p:nvSpPr>
        <p:spPr>
          <a:xfrm>
            <a:off x="7077456" y="4599432"/>
            <a:ext cx="109728" cy="182880"/>
          </a:xfrm>
          <a:prstGeom prst="chevron">
            <a:avLst/>
          </a:prstGeom>
          <a:solidFill>
            <a:srgbClr val="3EE6FF"/>
          </a:solidFill>
          <a:ln/>
        </p:spPr>
      </p:sp>
      <p:sp>
        <p:nvSpPr>
          <p:cNvPr id="23" name="panel-31"/>
          <p:cNvSpPr/>
          <p:nvPr/>
        </p:nvSpPr>
        <p:spPr>
          <a:xfrm>
            <a:off x="7214616" y="3886200"/>
            <a:ext cx="2057400" cy="1600200"/>
          </a:xfrm>
          <a:prstGeom prst="roundRect">
            <a:avLst>
              <a:gd name="adj" fmla="val 4571"/>
            </a:avLst>
          </a:prstGeom>
          <a:solidFill>
            <a:srgbClr val="0F1830">
              <a:alpha val="92000"/>
            </a:srgbClr>
          </a:solidFill>
          <a:ln w="12700">
            <a:solidFill>
              <a:srgbClr val="22324F"/>
            </a:solidFill>
            <a:prstDash val="solid"/>
          </a:ln>
        </p:spPr>
      </p:sp>
      <p:sp>
        <p:nvSpPr>
          <p:cNvPr id="24" name="text-32"/>
          <p:cNvSpPr txBox="1"/>
          <p:nvPr/>
        </p:nvSpPr>
        <p:spPr>
          <a:xfrm>
            <a:off x="7397496" y="4050792"/>
            <a:ext cx="914400" cy="228600"/>
          </a:xfrm>
          <a:prstGeom prst="rect">
            <a:avLst/>
          </a:prstGeom>
          <a:noFill/>
          <a:ln/>
        </p:spPr>
        <p:txBody>
          <a:bodyPr wrap="square" lIns="0" tIns="0" rIns="0" bIns="0" rtlCol="0" anchor="t"/>
          <a:lstStyle/>
          <a:p>
            <a:pPr indent="0" marL="0">
              <a:buNone/>
            </a:pPr>
            <a:r>
              <a:rPr lang="en-US" sz="1100" b="1" dirty="0">
                <a:solidFill>
                  <a:schemeClr val="accent1"/>
                </a:solidFill>
              </a:rPr>
              <a:t>04</a:t>
            </a:r>
            <a:endParaRPr lang="en-US" sz="1100" dirty="0"/>
          </a:p>
        </p:txBody>
      </p:sp>
      <p:sp>
        <p:nvSpPr>
          <p:cNvPr id="25" name="text-33"/>
          <p:cNvSpPr txBox="1"/>
          <p:nvPr/>
        </p:nvSpPr>
        <p:spPr>
          <a:xfrm>
            <a:off x="7397496" y="4297680"/>
            <a:ext cx="1691640" cy="365760"/>
          </a:xfrm>
          <a:prstGeom prst="rect">
            <a:avLst/>
          </a:prstGeom>
          <a:noFill/>
          <a:ln/>
        </p:spPr>
        <p:txBody>
          <a:bodyPr wrap="square" lIns="0" tIns="0" rIns="0" bIns="0" rtlCol="0" anchor="t"/>
          <a:lstStyle/>
          <a:p>
            <a:pPr indent="0" marL="0">
              <a:buNone/>
            </a:pPr>
            <a:r>
              <a:rPr lang="en-US" sz="1700" b="1" dirty="0">
                <a:solidFill>
                  <a:schemeClr val="bg2"/>
                </a:solidFill>
                <a:latin typeface="Arial" pitchFamily="34" charset="0"/>
                <a:ea typeface="Arial" pitchFamily="34" charset="-122"/>
                <a:cs typeface="Arial" pitchFamily="34" charset="-120"/>
              </a:rPr>
              <a:t>CONTROL</a:t>
            </a:r>
            <a:endParaRPr lang="en-US" sz="1700" dirty="0"/>
          </a:p>
        </p:txBody>
      </p:sp>
      <p:sp>
        <p:nvSpPr>
          <p:cNvPr id="26" name="text-34"/>
          <p:cNvSpPr txBox="1"/>
          <p:nvPr/>
        </p:nvSpPr>
        <p:spPr>
          <a:xfrm>
            <a:off x="7397496" y="4709160"/>
            <a:ext cx="1691640" cy="685800"/>
          </a:xfrm>
          <a:prstGeom prst="rect">
            <a:avLst/>
          </a:prstGeom>
          <a:noFill/>
          <a:ln/>
        </p:spPr>
        <p:txBody>
          <a:bodyPr wrap="square" lIns="0" tIns="0" rIns="0" bIns="0" rtlCol="0" anchor="t"/>
          <a:lstStyle/>
          <a:p>
            <a:pPr indent="0" marL="0">
              <a:buNone/>
            </a:pPr>
            <a:r>
              <a:rPr lang="en-US" sz="1300" dirty="0">
                <a:solidFill>
                  <a:schemeClr val="accent6"/>
                </a:solidFill>
              </a:rPr>
              <a:t>Remote-access apps</a:t>
            </a:r>
            <a:endParaRPr lang="en-US" sz="1300" dirty="0"/>
          </a:p>
        </p:txBody>
      </p:sp>
      <p:sp>
        <p:nvSpPr>
          <p:cNvPr id="27" name="chev-35"/>
          <p:cNvSpPr/>
          <p:nvPr/>
        </p:nvSpPr>
        <p:spPr>
          <a:xfrm>
            <a:off x="9299448" y="4599432"/>
            <a:ext cx="109728" cy="182880"/>
          </a:xfrm>
          <a:prstGeom prst="chevron">
            <a:avLst/>
          </a:prstGeom>
          <a:solidFill>
            <a:srgbClr val="3EE6FF"/>
          </a:solidFill>
          <a:ln/>
        </p:spPr>
      </p:sp>
      <p:sp>
        <p:nvSpPr>
          <p:cNvPr id="28" name="panel-36"/>
          <p:cNvSpPr/>
          <p:nvPr/>
        </p:nvSpPr>
        <p:spPr>
          <a:xfrm>
            <a:off x="9436608" y="3886200"/>
            <a:ext cx="2057400" cy="1600200"/>
          </a:xfrm>
          <a:prstGeom prst="roundRect">
            <a:avLst>
              <a:gd name="adj" fmla="val 4571"/>
            </a:avLst>
          </a:prstGeom>
          <a:solidFill>
            <a:srgbClr val="0F1830">
              <a:alpha val="92000"/>
            </a:srgbClr>
          </a:solidFill>
          <a:ln w="12700">
            <a:solidFill>
              <a:srgbClr val="22324F"/>
            </a:solidFill>
            <a:prstDash val="solid"/>
          </a:ln>
        </p:spPr>
      </p:sp>
      <p:sp>
        <p:nvSpPr>
          <p:cNvPr id="29" name="text-37"/>
          <p:cNvSpPr txBox="1"/>
          <p:nvPr/>
        </p:nvSpPr>
        <p:spPr>
          <a:xfrm>
            <a:off x="9619488" y="4050792"/>
            <a:ext cx="914400" cy="228600"/>
          </a:xfrm>
          <a:prstGeom prst="rect">
            <a:avLst/>
          </a:prstGeom>
          <a:noFill/>
          <a:ln/>
        </p:spPr>
        <p:txBody>
          <a:bodyPr wrap="square" lIns="0" tIns="0" rIns="0" bIns="0" rtlCol="0" anchor="t"/>
          <a:lstStyle/>
          <a:p>
            <a:pPr indent="0" marL="0">
              <a:buNone/>
            </a:pPr>
            <a:r>
              <a:rPr lang="en-US" sz="1100" b="1" dirty="0">
                <a:solidFill>
                  <a:schemeClr val="accent1"/>
                </a:solidFill>
              </a:rPr>
              <a:t>05</a:t>
            </a:r>
            <a:endParaRPr lang="en-US" sz="1100" dirty="0"/>
          </a:p>
        </p:txBody>
      </p:sp>
      <p:sp>
        <p:nvSpPr>
          <p:cNvPr id="30" name="text-38"/>
          <p:cNvSpPr txBox="1"/>
          <p:nvPr/>
        </p:nvSpPr>
        <p:spPr>
          <a:xfrm>
            <a:off x="9619488" y="4297680"/>
            <a:ext cx="1691640" cy="365760"/>
          </a:xfrm>
          <a:prstGeom prst="rect">
            <a:avLst/>
          </a:prstGeom>
          <a:noFill/>
          <a:ln/>
        </p:spPr>
        <p:txBody>
          <a:bodyPr wrap="square" lIns="0" tIns="0" rIns="0" bIns="0" rtlCol="0" anchor="t"/>
          <a:lstStyle/>
          <a:p>
            <a:pPr indent="0" marL="0">
              <a:buNone/>
            </a:pPr>
            <a:r>
              <a:rPr lang="en-US" sz="1700" b="1" dirty="0">
                <a:solidFill>
                  <a:schemeClr val="bg2"/>
                </a:solidFill>
                <a:latin typeface="Arial" pitchFamily="34" charset="0"/>
                <a:ea typeface="Arial" pitchFamily="34" charset="-122"/>
                <a:cs typeface="Arial" pitchFamily="34" charset="-120"/>
              </a:rPr>
              <a:t>EXTRACTION</a:t>
            </a:r>
            <a:endParaRPr lang="en-US" sz="1700" dirty="0"/>
          </a:p>
        </p:txBody>
      </p:sp>
      <p:sp>
        <p:nvSpPr>
          <p:cNvPr id="31" name="text-39"/>
          <p:cNvSpPr txBox="1"/>
          <p:nvPr/>
        </p:nvSpPr>
        <p:spPr>
          <a:xfrm>
            <a:off x="9619488" y="4709160"/>
            <a:ext cx="1691640" cy="685800"/>
          </a:xfrm>
          <a:prstGeom prst="rect">
            <a:avLst/>
          </a:prstGeom>
          <a:noFill/>
          <a:ln/>
        </p:spPr>
        <p:txBody>
          <a:bodyPr wrap="square" lIns="0" tIns="0" rIns="0" bIns="0" rtlCol="0" anchor="t"/>
          <a:lstStyle/>
          <a:p>
            <a:pPr indent="0" marL="0">
              <a:buNone/>
            </a:pPr>
            <a:r>
              <a:rPr lang="en-US" sz="1300" dirty="0">
                <a:solidFill>
                  <a:schemeClr val="accent6"/>
                </a:solidFill>
              </a:rPr>
              <a:t>Collect request, transfer or fee</a:t>
            </a:r>
            <a:endParaRPr lang="en-US" sz="1300" dirty="0"/>
          </a:p>
        </p:txBody>
      </p:sp>
      <p:sp>
        <p:nvSpPr>
          <p:cNvPr id="32" name="text-40"/>
          <p:cNvSpPr txBox="1"/>
          <p:nvPr/>
        </p:nvSpPr>
        <p:spPr>
          <a:xfrm>
            <a:off x="548640" y="5715000"/>
            <a:ext cx="10972800" cy="457200"/>
          </a:xfrm>
          <a:prstGeom prst="rect">
            <a:avLst/>
          </a:prstGeom>
          <a:noFill/>
          <a:ln/>
        </p:spPr>
        <p:txBody>
          <a:bodyPr wrap="square" lIns="0" tIns="0" rIns="0" bIns="0" rtlCol="0" anchor="t"/>
          <a:lstStyle/>
          <a:p>
            <a:pPr indent="0" marL="0">
              <a:buNone/>
            </a:pPr>
            <a:r>
              <a:rPr lang="en-US" sz="1100" i="1" dirty="0">
                <a:solidFill>
                  <a:schemeClr val="accent6"/>
                </a:solidFill>
              </a:rPr>
              <a:t>These five stages are the stage model the engine uses (backend/app/scamdna/tactics.py). They organise evidence; they are not measured prevalence.</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300" kern="0" dirty="0">
                <a:solidFill>
                  <a:schemeClr val="accent1"/>
                </a:solidFill>
              </a:rPr>
              <a:t>03 · THE USER JOURNEY</a:t>
            </a:r>
            <a:endParaRPr lang="en-US" sz="1100" dirty="0"/>
          </a:p>
        </p:txBody>
      </p:sp>
      <p:sp>
        <p:nvSpPr>
          <p:cNvPr id="3" name="Text 0"/>
          <p:cNvSpPr/>
          <p:nvPr>
            <p:ph idx="101" type="title" hasCustomPrompt="1"/>
          </p:nvPr>
        </p:nvSpPr>
        <p:spPr>
          <a:xfrm>
            <a:off x="548640" y="566928"/>
            <a:ext cx="11094415" cy="731520"/>
          </a:xfrm>
          <a:prstGeom prst="rect">
            <a:avLst/>
          </a:prstGeom>
          <a:noFill/>
          <a:ln/>
        </p:spPr>
        <p:txBody>
          <a:bodyPr wrap="square" lIns="0" tIns="0" rIns="0" bIns="0" rtlCol="0" anchor="t"/>
          <a:lstStyle/>
          <a:p>
            <a:pPr indent="0" marL="0">
              <a:buNone/>
            </a:pPr>
            <a:r>
              <a:rPr lang="en-US" sz="3200" b="1" dirty="0">
                <a:solidFill>
                  <a:schemeClr val="bg2"/>
                </a:solidFill>
                <a:latin typeface="Arial" pitchFamily="34" charset="0"/>
                <a:ea typeface="Arial" pitchFamily="34" charset="-122"/>
                <a:cs typeface="Arial" pitchFamily="34" charset="-120"/>
              </a:rPr>
              <a:t>The moment SafeCircle intervenes</a:t>
            </a:r>
            <a:endParaRPr lang="en-US" sz="3200" dirty="0"/>
          </a:p>
        </p:txBody>
      </p:sp>
      <p:sp>
        <p:nvSpPr>
          <p:cNvPr id="4" name="panel-41"/>
          <p:cNvSpPr/>
          <p:nvPr/>
        </p:nvSpPr>
        <p:spPr>
          <a:xfrm>
            <a:off x="5532120" y="1463040"/>
            <a:ext cx="6110935" cy="676656"/>
          </a:xfrm>
          <a:prstGeom prst="roundRect">
            <a:avLst>
              <a:gd name="adj" fmla="val 10811"/>
            </a:avLst>
          </a:prstGeom>
          <a:solidFill>
            <a:srgbClr val="0F1830">
              <a:alpha val="92000"/>
            </a:srgbClr>
          </a:solidFill>
          <a:ln w="12700">
            <a:solidFill>
              <a:srgbClr val="22324F"/>
            </a:solidFill>
            <a:prstDash val="solid"/>
          </a:ln>
        </p:spPr>
      </p:sp>
      <p:sp>
        <p:nvSpPr>
          <p:cNvPr id="5" name="text-42"/>
          <p:cNvSpPr txBox="1"/>
          <p:nvPr/>
        </p:nvSpPr>
        <p:spPr>
          <a:xfrm>
            <a:off x="5696712" y="1572768"/>
            <a:ext cx="1097280" cy="457200"/>
          </a:xfrm>
          <a:prstGeom prst="rect">
            <a:avLst/>
          </a:prstGeom>
          <a:noFill/>
          <a:ln/>
        </p:spPr>
        <p:txBody>
          <a:bodyPr wrap="square" lIns="0" tIns="0" rIns="0" bIns="0" rtlCol="0" anchor="t"/>
          <a:lstStyle/>
          <a:p>
            <a:pPr indent="0" marL="0">
              <a:buNone/>
            </a:pPr>
            <a:r>
              <a:rPr lang="en-US" sz="1000" b="1" spc="100" kern="0" dirty="0">
                <a:solidFill>
                  <a:schemeClr val="accent6"/>
                </a:solidFill>
              </a:rPr>
              <a:t>UPI GUARD</a:t>
            </a:r>
            <a:endParaRPr lang="en-US" sz="1000" dirty="0"/>
          </a:p>
        </p:txBody>
      </p:sp>
      <p:sp>
        <p:nvSpPr>
          <p:cNvPr id="6" name="text-43"/>
          <p:cNvSpPr txBox="1"/>
          <p:nvPr/>
        </p:nvSpPr>
        <p:spPr>
          <a:xfrm>
            <a:off x="6812280" y="1554480"/>
            <a:ext cx="3459175" cy="539496"/>
          </a:xfrm>
          <a:prstGeom prst="rect">
            <a:avLst/>
          </a:prstGeom>
          <a:noFill/>
          <a:ln/>
        </p:spPr>
        <p:txBody>
          <a:bodyPr wrap="square" lIns="0" tIns="0" rIns="0" bIns="0" rtlCol="0" anchor="ctr"/>
          <a:lstStyle/>
          <a:p>
            <a:pPr indent="0" marL="0">
              <a:buNone/>
            </a:pPr>
            <a:r>
              <a:rPr lang="en-US" sz="1300" dirty="0">
                <a:solidFill>
                  <a:schemeClr val="bg2"/>
                </a:solidFill>
              </a:rPr>
              <a:t>Ordinary shop QR checked before paying</a:t>
            </a:r>
            <a:endParaRPr lang="en-US" sz="1300" dirty="0"/>
          </a:p>
        </p:txBody>
      </p:sp>
      <p:sp>
        <p:nvSpPr>
          <p:cNvPr id="7" name="text-44"/>
          <p:cNvSpPr txBox="1"/>
          <p:nvPr/>
        </p:nvSpPr>
        <p:spPr>
          <a:xfrm>
            <a:off x="10362895" y="1499616"/>
            <a:ext cx="1143000" cy="384048"/>
          </a:xfrm>
          <a:prstGeom prst="rect">
            <a:avLst/>
          </a:prstGeom>
          <a:noFill/>
          <a:ln/>
        </p:spPr>
        <p:txBody>
          <a:bodyPr wrap="square" lIns="0" tIns="0" rIns="0" bIns="0" rtlCol="0" anchor="t"/>
          <a:lstStyle/>
          <a:p>
            <a:pPr algn="r" indent="0" marL="0">
              <a:buNone/>
            </a:pPr>
            <a:r>
              <a:rPr lang="en-US" sz="2400" b="1" dirty="0">
                <a:solidFill>
                  <a:schemeClr val="accent4"/>
                </a:solidFill>
                <a:latin typeface="Arial" pitchFamily="34" charset="0"/>
                <a:ea typeface="Arial" pitchFamily="34" charset="-122"/>
                <a:cs typeface="Arial" pitchFamily="34" charset="-120"/>
              </a:rPr>
              <a:t>0</a:t>
            </a:r>
            <a:endParaRPr lang="en-US" sz="2400" dirty="0"/>
          </a:p>
        </p:txBody>
      </p:sp>
      <p:sp>
        <p:nvSpPr>
          <p:cNvPr id="8" name="text-45"/>
          <p:cNvSpPr txBox="1"/>
          <p:nvPr/>
        </p:nvSpPr>
        <p:spPr>
          <a:xfrm>
            <a:off x="9814255" y="1883664"/>
            <a:ext cx="1691640" cy="228600"/>
          </a:xfrm>
          <a:prstGeom prst="rect">
            <a:avLst/>
          </a:prstGeom>
          <a:noFill/>
          <a:ln/>
        </p:spPr>
        <p:txBody>
          <a:bodyPr wrap="square" lIns="0" tIns="0" rIns="0" bIns="0" rtlCol="0" anchor="t"/>
          <a:lstStyle/>
          <a:p>
            <a:pPr algn="r" indent="0" marL="0">
              <a:buNone/>
            </a:pPr>
            <a:r>
              <a:rPr lang="en-US" sz="1000" dirty="0">
                <a:solidFill>
                  <a:schemeClr val="accent6"/>
                </a:solidFill>
              </a:rPr>
              <a:t>low · no false alarm</a:t>
            </a:r>
            <a:endParaRPr lang="en-US" sz="1000" dirty="0"/>
          </a:p>
        </p:txBody>
      </p:sp>
      <p:sp>
        <p:nvSpPr>
          <p:cNvPr id="9" name="panel-46"/>
          <p:cNvSpPr/>
          <p:nvPr/>
        </p:nvSpPr>
        <p:spPr>
          <a:xfrm>
            <a:off x="5532120" y="2212848"/>
            <a:ext cx="6110935" cy="676656"/>
          </a:xfrm>
          <a:prstGeom prst="roundRect">
            <a:avLst>
              <a:gd name="adj" fmla="val 10811"/>
            </a:avLst>
          </a:prstGeom>
          <a:solidFill>
            <a:srgbClr val="0F1830">
              <a:alpha val="92000"/>
            </a:srgbClr>
          </a:solidFill>
          <a:ln w="12700">
            <a:solidFill>
              <a:srgbClr val="22324F"/>
            </a:solidFill>
            <a:prstDash val="solid"/>
          </a:ln>
        </p:spPr>
      </p:sp>
      <p:sp>
        <p:nvSpPr>
          <p:cNvPr id="10" name="text-47"/>
          <p:cNvSpPr txBox="1"/>
          <p:nvPr/>
        </p:nvSpPr>
        <p:spPr>
          <a:xfrm>
            <a:off x="5696712" y="2322576"/>
            <a:ext cx="1097280" cy="457200"/>
          </a:xfrm>
          <a:prstGeom prst="rect">
            <a:avLst/>
          </a:prstGeom>
          <a:noFill/>
          <a:ln/>
        </p:spPr>
        <p:txBody>
          <a:bodyPr wrap="square" lIns="0" tIns="0" rIns="0" bIns="0" rtlCol="0" anchor="t"/>
          <a:lstStyle/>
          <a:p>
            <a:pPr indent="0" marL="0">
              <a:buNone/>
            </a:pPr>
            <a:r>
              <a:rPr lang="en-US" sz="1000" b="1" spc="100" kern="0" dirty="0">
                <a:solidFill>
                  <a:schemeClr val="accent6"/>
                </a:solidFill>
              </a:rPr>
              <a:t>SCAM DNA</a:t>
            </a:r>
            <a:endParaRPr lang="en-US" sz="1000" dirty="0"/>
          </a:p>
        </p:txBody>
      </p:sp>
      <p:sp>
        <p:nvSpPr>
          <p:cNvPr id="11" name="text-48"/>
          <p:cNvSpPr txBox="1"/>
          <p:nvPr/>
        </p:nvSpPr>
        <p:spPr>
          <a:xfrm>
            <a:off x="6812280" y="2304288"/>
            <a:ext cx="3459175" cy="539496"/>
          </a:xfrm>
          <a:prstGeom prst="rect">
            <a:avLst/>
          </a:prstGeom>
          <a:noFill/>
          <a:ln/>
        </p:spPr>
        <p:txBody>
          <a:bodyPr wrap="square" lIns="0" tIns="0" rIns="0" bIns="0" rtlCol="0" anchor="ctr"/>
          <a:lstStyle/>
          <a:p>
            <a:pPr indent="0" marL="0">
              <a:buNone/>
            </a:pPr>
            <a:r>
              <a:rPr lang="en-US" sz="1300" dirty="0">
                <a:solidFill>
                  <a:schemeClr val="bg2"/>
                </a:solidFill>
              </a:rPr>
              <a:t>First message: “SBI Refund Desk: your refund of Rs 4,999 has been approved…”</a:t>
            </a:r>
            <a:endParaRPr lang="en-US" sz="1300" dirty="0"/>
          </a:p>
        </p:txBody>
      </p:sp>
      <p:sp>
        <p:nvSpPr>
          <p:cNvPr id="12" name="text-49"/>
          <p:cNvSpPr txBox="1"/>
          <p:nvPr/>
        </p:nvSpPr>
        <p:spPr>
          <a:xfrm>
            <a:off x="10362895" y="2249424"/>
            <a:ext cx="1143000" cy="384048"/>
          </a:xfrm>
          <a:prstGeom prst="rect">
            <a:avLst/>
          </a:prstGeom>
          <a:noFill/>
          <a:ln/>
        </p:spPr>
        <p:txBody>
          <a:bodyPr wrap="square" lIns="0" tIns="0" rIns="0" bIns="0" rtlCol="0" anchor="t"/>
          <a:lstStyle/>
          <a:p>
            <a:pPr algn="r" indent="0" marL="0">
              <a:buNone/>
            </a:pPr>
            <a:r>
              <a:rPr lang="en-US" sz="2400" b="1" dirty="0">
                <a:solidFill>
                  <a:schemeClr val="accent5"/>
                </a:solidFill>
                <a:latin typeface="Arial" pitchFamily="34" charset="0"/>
                <a:ea typeface="Arial" pitchFamily="34" charset="-122"/>
                <a:cs typeface="Arial" pitchFamily="34" charset="-120"/>
              </a:rPr>
              <a:t>36</a:t>
            </a:r>
            <a:endParaRPr lang="en-US" sz="2400" dirty="0"/>
          </a:p>
        </p:txBody>
      </p:sp>
      <p:sp>
        <p:nvSpPr>
          <p:cNvPr id="13" name="text-50"/>
          <p:cNvSpPr txBox="1"/>
          <p:nvPr/>
        </p:nvSpPr>
        <p:spPr>
          <a:xfrm>
            <a:off x="9814255" y="2633472"/>
            <a:ext cx="1691640" cy="228600"/>
          </a:xfrm>
          <a:prstGeom prst="rect">
            <a:avLst/>
          </a:prstGeom>
          <a:noFill/>
          <a:ln/>
        </p:spPr>
        <p:txBody>
          <a:bodyPr wrap="square" lIns="0" tIns="0" rIns="0" bIns="0" rtlCol="0" anchor="t"/>
          <a:lstStyle/>
          <a:p>
            <a:pPr algn="r" indent="0" marL="0">
              <a:buNone/>
            </a:pPr>
            <a:r>
              <a:rPr lang="en-US" sz="1000" dirty="0">
                <a:solidFill>
                  <a:schemeClr val="accent6"/>
                </a:solidFill>
              </a:rPr>
              <a:t>medium · alert: new</a:t>
            </a:r>
            <a:endParaRPr lang="en-US" sz="1000" dirty="0"/>
          </a:p>
        </p:txBody>
      </p:sp>
      <p:sp>
        <p:nvSpPr>
          <p:cNvPr id="14" name="panel-51"/>
          <p:cNvSpPr/>
          <p:nvPr/>
        </p:nvSpPr>
        <p:spPr>
          <a:xfrm>
            <a:off x="5532120" y="2962656"/>
            <a:ext cx="6110935" cy="676656"/>
          </a:xfrm>
          <a:prstGeom prst="roundRect">
            <a:avLst>
              <a:gd name="adj" fmla="val 10811"/>
            </a:avLst>
          </a:prstGeom>
          <a:solidFill>
            <a:srgbClr val="0F1830">
              <a:alpha val="92000"/>
            </a:srgbClr>
          </a:solidFill>
          <a:ln w="12700">
            <a:solidFill>
              <a:srgbClr val="22324F"/>
            </a:solidFill>
            <a:prstDash val="solid"/>
          </a:ln>
        </p:spPr>
      </p:sp>
      <p:sp>
        <p:nvSpPr>
          <p:cNvPr id="15" name="text-52"/>
          <p:cNvSpPr txBox="1"/>
          <p:nvPr/>
        </p:nvSpPr>
        <p:spPr>
          <a:xfrm>
            <a:off x="5696712" y="3072384"/>
            <a:ext cx="1097280" cy="457200"/>
          </a:xfrm>
          <a:prstGeom prst="rect">
            <a:avLst/>
          </a:prstGeom>
          <a:noFill/>
          <a:ln/>
        </p:spPr>
        <p:txBody>
          <a:bodyPr wrap="square" lIns="0" tIns="0" rIns="0" bIns="0" rtlCol="0" anchor="t"/>
          <a:lstStyle/>
          <a:p>
            <a:pPr indent="0" marL="0">
              <a:buNone/>
            </a:pPr>
            <a:r>
              <a:rPr lang="en-US" sz="1000" b="1" spc="100" kern="0" dirty="0">
                <a:solidFill>
                  <a:schemeClr val="accent6"/>
                </a:solidFill>
              </a:rPr>
              <a:t>UPI GUARD</a:t>
            </a:r>
            <a:endParaRPr lang="en-US" sz="1000" dirty="0"/>
          </a:p>
        </p:txBody>
      </p:sp>
      <p:sp>
        <p:nvSpPr>
          <p:cNvPr id="16" name="text-53"/>
          <p:cNvSpPr txBox="1"/>
          <p:nvPr/>
        </p:nvSpPr>
        <p:spPr>
          <a:xfrm>
            <a:off x="6812280" y="3054096"/>
            <a:ext cx="3459175" cy="539496"/>
          </a:xfrm>
          <a:prstGeom prst="rect">
            <a:avLst/>
          </a:prstGeom>
          <a:noFill/>
          <a:ln/>
        </p:spPr>
        <p:txBody>
          <a:bodyPr wrap="square" lIns="0" tIns="0" rIns="0" bIns="0" rtlCol="0" anchor="ctr"/>
          <a:lstStyle/>
          <a:p>
            <a:pPr indent="0" marL="0">
              <a:buNone/>
            </a:pPr>
            <a:r>
              <a:rPr lang="en-US" sz="1300" dirty="0">
                <a:solidFill>
                  <a:schemeClr val="bg2"/>
                </a:solidFill>
              </a:rPr>
              <a:t>“Refund” QR decoded on the device: it is a payment, not a credit</a:t>
            </a:r>
            <a:endParaRPr lang="en-US" sz="1300" dirty="0"/>
          </a:p>
        </p:txBody>
      </p:sp>
      <p:sp>
        <p:nvSpPr>
          <p:cNvPr id="17" name="text-54"/>
          <p:cNvSpPr txBox="1"/>
          <p:nvPr/>
        </p:nvSpPr>
        <p:spPr>
          <a:xfrm>
            <a:off x="10362895" y="2999232"/>
            <a:ext cx="1143000" cy="384048"/>
          </a:xfrm>
          <a:prstGeom prst="rect">
            <a:avLst/>
          </a:prstGeom>
          <a:noFill/>
          <a:ln/>
        </p:spPr>
        <p:txBody>
          <a:bodyPr wrap="square" lIns="0" tIns="0" rIns="0" bIns="0" rtlCol="0" anchor="t"/>
          <a:lstStyle/>
          <a:p>
            <a:pPr algn="r" indent="0" marL="0">
              <a:buNone/>
            </a:pPr>
            <a:r>
              <a:rPr lang="en-US" sz="2400" b="1" dirty="0">
                <a:solidFill>
                  <a:schemeClr val="accent3"/>
                </a:solidFill>
                <a:latin typeface="Arial" pitchFamily="34" charset="0"/>
                <a:ea typeface="Arial" pitchFamily="34" charset="-122"/>
                <a:cs typeface="Arial" pitchFamily="34" charset="-120"/>
              </a:rPr>
              <a:t>97</a:t>
            </a:r>
            <a:endParaRPr lang="en-US" sz="2400" dirty="0"/>
          </a:p>
        </p:txBody>
      </p:sp>
      <p:sp>
        <p:nvSpPr>
          <p:cNvPr id="18" name="text-55"/>
          <p:cNvSpPr txBox="1"/>
          <p:nvPr/>
        </p:nvSpPr>
        <p:spPr>
          <a:xfrm>
            <a:off x="9814255" y="3383280"/>
            <a:ext cx="1691640" cy="228600"/>
          </a:xfrm>
          <a:prstGeom prst="rect">
            <a:avLst/>
          </a:prstGeom>
          <a:noFill/>
          <a:ln/>
        </p:spPr>
        <p:txBody>
          <a:bodyPr wrap="square" lIns="0" tIns="0" rIns="0" bIns="0" rtlCol="0" anchor="t"/>
          <a:lstStyle/>
          <a:p>
            <a:pPr algn="r" indent="0" marL="0">
              <a:buNone/>
            </a:pPr>
            <a:r>
              <a:rPr lang="en-US" sz="1000" dirty="0">
                <a:solidFill>
                  <a:schemeClr val="accent6"/>
                </a:solidFill>
              </a:rPr>
              <a:t>high · do not pay</a:t>
            </a:r>
            <a:endParaRPr lang="en-US" sz="1000" dirty="0"/>
          </a:p>
        </p:txBody>
      </p:sp>
      <p:sp>
        <p:nvSpPr>
          <p:cNvPr id="19" name="panel-56"/>
          <p:cNvSpPr/>
          <p:nvPr/>
        </p:nvSpPr>
        <p:spPr>
          <a:xfrm>
            <a:off x="5532120" y="3712464"/>
            <a:ext cx="6110935" cy="676656"/>
          </a:xfrm>
          <a:prstGeom prst="roundRect">
            <a:avLst>
              <a:gd name="adj" fmla="val 10811"/>
            </a:avLst>
          </a:prstGeom>
          <a:solidFill>
            <a:srgbClr val="2A1420">
              <a:alpha val="92000"/>
            </a:srgbClr>
          </a:solidFill>
          <a:ln w="12700">
            <a:solidFill>
              <a:srgbClr val="22324F"/>
            </a:solidFill>
            <a:prstDash val="solid"/>
          </a:ln>
        </p:spPr>
      </p:sp>
      <p:sp>
        <p:nvSpPr>
          <p:cNvPr id="20" name="text-57"/>
          <p:cNvSpPr txBox="1"/>
          <p:nvPr/>
        </p:nvSpPr>
        <p:spPr>
          <a:xfrm>
            <a:off x="5696712" y="3822192"/>
            <a:ext cx="1097280" cy="457200"/>
          </a:xfrm>
          <a:prstGeom prst="rect">
            <a:avLst/>
          </a:prstGeom>
          <a:noFill/>
          <a:ln/>
        </p:spPr>
        <p:txBody>
          <a:bodyPr wrap="square" lIns="0" tIns="0" rIns="0" bIns="0" rtlCol="0" anchor="t"/>
          <a:lstStyle/>
          <a:p>
            <a:pPr indent="0" marL="0">
              <a:buNone/>
            </a:pPr>
            <a:r>
              <a:rPr lang="en-US" sz="1000" b="1" spc="100" kern="0" dirty="0">
                <a:solidFill>
                  <a:schemeClr val="accent6"/>
                </a:solidFill>
              </a:rPr>
              <a:t>SCAM DNA</a:t>
            </a:r>
            <a:endParaRPr lang="en-US" sz="1000" dirty="0"/>
          </a:p>
        </p:txBody>
      </p:sp>
      <p:sp>
        <p:nvSpPr>
          <p:cNvPr id="21" name="text-58"/>
          <p:cNvSpPr txBox="1"/>
          <p:nvPr/>
        </p:nvSpPr>
        <p:spPr>
          <a:xfrm>
            <a:off x="6812280" y="3803904"/>
            <a:ext cx="3459175" cy="539496"/>
          </a:xfrm>
          <a:prstGeom prst="rect">
            <a:avLst/>
          </a:prstGeom>
          <a:noFill/>
          <a:ln/>
        </p:spPr>
        <p:txBody>
          <a:bodyPr wrap="square" lIns="0" tIns="0" rIns="0" bIns="0" rtlCol="0" anchor="ctr"/>
          <a:lstStyle/>
          <a:p>
            <a:pPr indent="0" marL="0">
              <a:buNone/>
            </a:pPr>
            <a:r>
              <a:rPr lang="en-US" sz="1300" dirty="0">
                <a:solidFill>
                  <a:schemeClr val="bg2"/>
                </a:solidFill>
              </a:rPr>
              <a:t>QR attached to the case: 36 → 97</a:t>
            </a:r>
            <a:endParaRPr lang="en-US" sz="1300" dirty="0"/>
          </a:p>
        </p:txBody>
      </p:sp>
      <p:sp>
        <p:nvSpPr>
          <p:cNvPr id="22" name="text-59"/>
          <p:cNvSpPr txBox="1"/>
          <p:nvPr/>
        </p:nvSpPr>
        <p:spPr>
          <a:xfrm>
            <a:off x="10362895" y="3749040"/>
            <a:ext cx="1143000" cy="384048"/>
          </a:xfrm>
          <a:prstGeom prst="rect">
            <a:avLst/>
          </a:prstGeom>
          <a:noFill/>
          <a:ln/>
        </p:spPr>
        <p:txBody>
          <a:bodyPr wrap="square" lIns="0" tIns="0" rIns="0" bIns="0" rtlCol="0" anchor="t"/>
          <a:lstStyle/>
          <a:p>
            <a:pPr algn="r" indent="0" marL="0">
              <a:buNone/>
            </a:pPr>
            <a:r>
              <a:rPr lang="en-US" sz="2400" b="1" dirty="0">
                <a:solidFill>
                  <a:schemeClr val="accent3"/>
                </a:solidFill>
                <a:latin typeface="Arial" pitchFamily="34" charset="0"/>
                <a:ea typeface="Arial" pitchFamily="34" charset="-122"/>
                <a:cs typeface="Arial" pitchFamily="34" charset="-120"/>
              </a:rPr>
              <a:t>97</a:t>
            </a:r>
            <a:endParaRPr lang="en-US" sz="2400" dirty="0"/>
          </a:p>
        </p:txBody>
      </p:sp>
      <p:sp>
        <p:nvSpPr>
          <p:cNvPr id="23" name="text-60"/>
          <p:cNvSpPr txBox="1"/>
          <p:nvPr/>
        </p:nvSpPr>
        <p:spPr>
          <a:xfrm>
            <a:off x="9814255" y="4133088"/>
            <a:ext cx="1691640" cy="228600"/>
          </a:xfrm>
          <a:prstGeom prst="rect">
            <a:avLst/>
          </a:prstGeom>
          <a:noFill/>
          <a:ln/>
        </p:spPr>
        <p:txBody>
          <a:bodyPr wrap="square" lIns="0" tIns="0" rIns="0" bIns="0" rtlCol="0" anchor="t"/>
          <a:lstStyle/>
          <a:p>
            <a:pPr algn="r" indent="0" marL="0">
              <a:buNone/>
            </a:pPr>
            <a:r>
              <a:rPr lang="en-US" sz="1000" dirty="0">
                <a:solidFill>
                  <a:schemeClr val="accent6"/>
                </a:solidFill>
              </a:rPr>
              <a:t>high · alert: escalated</a:t>
            </a:r>
            <a:endParaRPr lang="en-US" sz="1000" dirty="0"/>
          </a:p>
        </p:txBody>
      </p:sp>
      <p:sp>
        <p:nvSpPr>
          <p:cNvPr id="24" name="panel-61"/>
          <p:cNvSpPr/>
          <p:nvPr/>
        </p:nvSpPr>
        <p:spPr>
          <a:xfrm>
            <a:off x="5532120" y="4462272"/>
            <a:ext cx="6110935" cy="676656"/>
          </a:xfrm>
          <a:prstGeom prst="roundRect">
            <a:avLst>
              <a:gd name="adj" fmla="val 10811"/>
            </a:avLst>
          </a:prstGeom>
          <a:solidFill>
            <a:srgbClr val="0F1830">
              <a:alpha val="92000"/>
            </a:srgbClr>
          </a:solidFill>
          <a:ln w="12700">
            <a:solidFill>
              <a:srgbClr val="22324F"/>
            </a:solidFill>
            <a:prstDash val="solid"/>
          </a:ln>
        </p:spPr>
      </p:sp>
      <p:sp>
        <p:nvSpPr>
          <p:cNvPr id="25" name="text-62"/>
          <p:cNvSpPr txBox="1"/>
          <p:nvPr/>
        </p:nvSpPr>
        <p:spPr>
          <a:xfrm>
            <a:off x="5696712" y="4572000"/>
            <a:ext cx="1097280" cy="457200"/>
          </a:xfrm>
          <a:prstGeom prst="rect">
            <a:avLst/>
          </a:prstGeom>
          <a:noFill/>
          <a:ln/>
        </p:spPr>
        <p:txBody>
          <a:bodyPr wrap="square" lIns="0" tIns="0" rIns="0" bIns="0" rtlCol="0" anchor="t"/>
          <a:lstStyle/>
          <a:p>
            <a:pPr indent="0" marL="0">
              <a:buNone/>
            </a:pPr>
            <a:r>
              <a:rPr lang="en-US" sz="1000" b="1" spc="100" kern="0" dirty="0">
                <a:solidFill>
                  <a:schemeClr val="accent6"/>
                </a:solidFill>
              </a:rPr>
              <a:t>UPI GUARD</a:t>
            </a:r>
            <a:endParaRPr lang="en-US" sz="1000" dirty="0"/>
          </a:p>
        </p:txBody>
      </p:sp>
      <p:sp>
        <p:nvSpPr>
          <p:cNvPr id="26" name="text-63"/>
          <p:cNvSpPr txBox="1"/>
          <p:nvPr/>
        </p:nvSpPr>
        <p:spPr>
          <a:xfrm>
            <a:off x="6812280" y="4553712"/>
            <a:ext cx="3459175" cy="539496"/>
          </a:xfrm>
          <a:prstGeom prst="rect">
            <a:avLst/>
          </a:prstGeom>
          <a:noFill/>
          <a:ln/>
        </p:spPr>
        <p:txBody>
          <a:bodyPr wrap="square" lIns="0" tIns="0" rIns="0" bIns="0" rtlCol="0" anchor="ctr"/>
          <a:lstStyle/>
          <a:p>
            <a:pPr indent="0" marL="0">
              <a:buNone/>
            </a:pPr>
            <a:r>
              <a:rPr lang="en-US" sz="1300" dirty="0">
                <a:solidFill>
                  <a:schemeClr val="bg2"/>
                </a:solidFill>
              </a:rPr>
              <a:t>Same check repeated</a:t>
            </a:r>
            <a:endParaRPr lang="en-US" sz="1300" dirty="0"/>
          </a:p>
        </p:txBody>
      </p:sp>
      <p:sp>
        <p:nvSpPr>
          <p:cNvPr id="27" name="text-64"/>
          <p:cNvSpPr txBox="1"/>
          <p:nvPr/>
        </p:nvSpPr>
        <p:spPr>
          <a:xfrm>
            <a:off x="10362895" y="4498848"/>
            <a:ext cx="1143000" cy="384048"/>
          </a:xfrm>
          <a:prstGeom prst="rect">
            <a:avLst/>
          </a:prstGeom>
          <a:noFill/>
          <a:ln/>
        </p:spPr>
        <p:txBody>
          <a:bodyPr wrap="square" lIns="0" tIns="0" rIns="0" bIns="0" rtlCol="0" anchor="t"/>
          <a:lstStyle/>
          <a:p>
            <a:pPr algn="r" indent="0" marL="0">
              <a:buNone/>
            </a:pPr>
            <a:r>
              <a:rPr lang="en-US" sz="2400" b="1" dirty="0">
                <a:solidFill>
                  <a:schemeClr val="accent3"/>
                </a:solidFill>
                <a:latin typeface="Arial" pitchFamily="34" charset="0"/>
                <a:ea typeface="Arial" pitchFamily="34" charset="-122"/>
                <a:cs typeface="Arial" pitchFamily="34" charset="-120"/>
              </a:rPr>
              <a:t>97</a:t>
            </a:r>
            <a:endParaRPr lang="en-US" sz="2400" dirty="0"/>
          </a:p>
        </p:txBody>
      </p:sp>
      <p:sp>
        <p:nvSpPr>
          <p:cNvPr id="28" name="text-65"/>
          <p:cNvSpPr txBox="1"/>
          <p:nvPr/>
        </p:nvSpPr>
        <p:spPr>
          <a:xfrm>
            <a:off x="9814255" y="4882896"/>
            <a:ext cx="1691640" cy="228600"/>
          </a:xfrm>
          <a:prstGeom prst="rect">
            <a:avLst/>
          </a:prstGeom>
          <a:noFill/>
          <a:ln/>
        </p:spPr>
        <p:txBody>
          <a:bodyPr wrap="square" lIns="0" tIns="0" rIns="0" bIns="0" rtlCol="0" anchor="t"/>
          <a:lstStyle/>
          <a:p>
            <a:pPr algn="r" indent="0" marL="0">
              <a:buNone/>
            </a:pPr>
            <a:r>
              <a:rPr lang="en-US" sz="1000" dirty="0">
                <a:solidFill>
                  <a:schemeClr val="accent6"/>
                </a:solidFill>
              </a:rPr>
              <a:t>high · alert: suppressed</a:t>
            </a:r>
            <a:endParaRPr lang="en-US" sz="1000" dirty="0"/>
          </a:p>
        </p:txBody>
      </p:sp>
      <p:sp>
        <p:nvSpPr>
          <p:cNvPr id="29" name="panel-66"/>
          <p:cNvSpPr/>
          <p:nvPr/>
        </p:nvSpPr>
        <p:spPr>
          <a:xfrm>
            <a:off x="5532120" y="5212080"/>
            <a:ext cx="6110935" cy="676656"/>
          </a:xfrm>
          <a:prstGeom prst="roundRect">
            <a:avLst>
              <a:gd name="adj" fmla="val 10811"/>
            </a:avLst>
          </a:prstGeom>
          <a:solidFill>
            <a:srgbClr val="0F1830">
              <a:alpha val="92000"/>
            </a:srgbClr>
          </a:solidFill>
          <a:ln w="12700">
            <a:solidFill>
              <a:srgbClr val="22324F"/>
            </a:solidFill>
            <a:prstDash val="solid"/>
          </a:ln>
        </p:spPr>
      </p:sp>
      <p:sp>
        <p:nvSpPr>
          <p:cNvPr id="30" name="text-67"/>
          <p:cNvSpPr txBox="1"/>
          <p:nvPr/>
        </p:nvSpPr>
        <p:spPr>
          <a:xfrm>
            <a:off x="5696712" y="5321808"/>
            <a:ext cx="1097280" cy="457200"/>
          </a:xfrm>
          <a:prstGeom prst="rect">
            <a:avLst/>
          </a:prstGeom>
          <a:noFill/>
          <a:ln/>
        </p:spPr>
        <p:txBody>
          <a:bodyPr wrap="square" lIns="0" tIns="0" rIns="0" bIns="0" rtlCol="0" anchor="t"/>
          <a:lstStyle/>
          <a:p>
            <a:pPr indent="0" marL="0">
              <a:buNone/>
            </a:pPr>
            <a:r>
              <a:rPr lang="en-US" sz="1000" b="1" spc="100" kern="0" dirty="0">
                <a:solidFill>
                  <a:schemeClr val="accent6"/>
                </a:solidFill>
              </a:rPr>
              <a:t>SCAM DNA</a:t>
            </a:r>
            <a:endParaRPr lang="en-US" sz="1000" dirty="0"/>
          </a:p>
        </p:txBody>
      </p:sp>
      <p:sp>
        <p:nvSpPr>
          <p:cNvPr id="31" name="text-68"/>
          <p:cNvSpPr txBox="1"/>
          <p:nvPr/>
        </p:nvSpPr>
        <p:spPr>
          <a:xfrm>
            <a:off x="6812280" y="5303520"/>
            <a:ext cx="3459175" cy="539496"/>
          </a:xfrm>
          <a:prstGeom prst="rect">
            <a:avLst/>
          </a:prstGeom>
          <a:noFill/>
          <a:ln/>
        </p:spPr>
        <p:txBody>
          <a:bodyPr wrap="square" lIns="0" tIns="0" rIns="0" bIns="0" rtlCol="0" anchor="ctr"/>
          <a:lstStyle/>
          <a:p>
            <a:pPr indent="0" marL="0">
              <a:buNone/>
            </a:pPr>
            <a:r>
              <a:rPr lang="en-US" sz="1300" dirty="0">
                <a:solidFill>
                  <a:schemeClr val="bg2"/>
                </a:solidFill>
              </a:rPr>
              <a:t>Caller asks for the OTP</a:t>
            </a:r>
            <a:endParaRPr lang="en-US" sz="1300" dirty="0"/>
          </a:p>
        </p:txBody>
      </p:sp>
      <p:sp>
        <p:nvSpPr>
          <p:cNvPr id="32" name="text-69"/>
          <p:cNvSpPr txBox="1"/>
          <p:nvPr/>
        </p:nvSpPr>
        <p:spPr>
          <a:xfrm>
            <a:off x="10362895" y="5248656"/>
            <a:ext cx="1143000" cy="384048"/>
          </a:xfrm>
          <a:prstGeom prst="rect">
            <a:avLst/>
          </a:prstGeom>
          <a:noFill/>
          <a:ln/>
        </p:spPr>
        <p:txBody>
          <a:bodyPr wrap="square" lIns="0" tIns="0" rIns="0" bIns="0" rtlCol="0" anchor="t"/>
          <a:lstStyle/>
          <a:p>
            <a:pPr algn="r" indent="0" marL="0">
              <a:buNone/>
            </a:pPr>
            <a:r>
              <a:rPr lang="en-US" sz="2400" b="1" dirty="0">
                <a:solidFill>
                  <a:schemeClr val="accent3"/>
                </a:solidFill>
                <a:latin typeface="Arial" pitchFamily="34" charset="0"/>
                <a:ea typeface="Arial" pitchFamily="34" charset="-122"/>
                <a:cs typeface="Arial" pitchFamily="34" charset="-120"/>
              </a:rPr>
              <a:t>97</a:t>
            </a:r>
            <a:endParaRPr lang="en-US" sz="2400" dirty="0"/>
          </a:p>
        </p:txBody>
      </p:sp>
      <p:sp>
        <p:nvSpPr>
          <p:cNvPr id="33" name="text-70"/>
          <p:cNvSpPr txBox="1"/>
          <p:nvPr/>
        </p:nvSpPr>
        <p:spPr>
          <a:xfrm>
            <a:off x="9814255" y="5632704"/>
            <a:ext cx="1691640" cy="228600"/>
          </a:xfrm>
          <a:prstGeom prst="rect">
            <a:avLst/>
          </a:prstGeom>
          <a:noFill/>
          <a:ln/>
        </p:spPr>
        <p:txBody>
          <a:bodyPr wrap="square" lIns="0" tIns="0" rIns="0" bIns="0" rtlCol="0" anchor="t"/>
          <a:lstStyle/>
          <a:p>
            <a:pPr algn="r" indent="0" marL="0">
              <a:buNone/>
            </a:pPr>
            <a:r>
              <a:rPr lang="en-US" sz="1000" dirty="0">
                <a:solidFill>
                  <a:schemeClr val="accent6"/>
                </a:solidFill>
              </a:rPr>
              <a:t>high · alert: suppressed</a:t>
            </a:r>
            <a:endParaRPr lang="en-US" sz="1000" dirty="0"/>
          </a:p>
        </p:txBody>
      </p:sp>
      <p:pic>
        <p:nvPicPr>
          <p:cNvPr id="34" name="upi-guard-high-71" descr="UPI Scam Guard showing high risk for the refund QR (DEMO DATA)">    </p:cNvPr>
          <p:cNvPicPr>
            <a:picLocks noChangeAspect="1"/>
          </p:cNvPicPr>
          <p:nvPr/>
        </p:nvPicPr>
        <p:blipFill>
          <a:blip r:embed="rId1"/>
          <a:stretch>
            <a:fillRect/>
          </a:stretch>
        </p:blipFill>
        <p:spPr>
          <a:xfrm>
            <a:off x="548640" y="1463040"/>
            <a:ext cx="4709160" cy="2943225"/>
          </a:xfrm>
          <a:prstGeom prst="rect">
            <a:avLst/>
          </a:prstGeom>
        </p:spPr>
      </p:pic>
      <p:sp>
        <p:nvSpPr>
          <p:cNvPr id="35" name="frame-72"/>
          <p:cNvSpPr/>
          <p:nvPr/>
        </p:nvSpPr>
        <p:spPr>
          <a:xfrm>
            <a:off x="548640" y="1463040"/>
            <a:ext cx="4709160" cy="2943225"/>
          </a:xfrm>
          <a:prstGeom prst="roundRect">
            <a:avLst>
              <a:gd name="adj" fmla="val 1864"/>
            </a:avLst>
          </a:prstGeom>
          <a:ln w="12700">
            <a:solidFill>
              <a:srgbClr val="22324F"/>
            </a:solidFill>
            <a:prstDash val="solid"/>
          </a:ln>
        </p:spPr>
      </p:sp>
      <p:sp>
        <p:nvSpPr>
          <p:cNvPr id="36" name="text-73"/>
          <p:cNvSpPr txBox="1"/>
          <p:nvPr/>
        </p:nvSpPr>
        <p:spPr>
          <a:xfrm>
            <a:off x="548640" y="4526280"/>
            <a:ext cx="4709160" cy="274320"/>
          </a:xfrm>
          <a:prstGeom prst="rect">
            <a:avLst/>
          </a:prstGeom>
          <a:noFill/>
          <a:ln/>
        </p:spPr>
        <p:txBody>
          <a:bodyPr wrap="square" lIns="0" tIns="0" rIns="0" bIns="0" rtlCol="0" anchor="t"/>
          <a:lstStyle/>
          <a:p>
            <a:pPr indent="0" marL="0">
              <a:buNone/>
            </a:pPr>
            <a:r>
              <a:rPr lang="en-US" sz="1100" dirty="0">
                <a:solidFill>
                  <a:schemeClr val="accent6"/>
                </a:solidFill>
              </a:rPr>
              <a:t>Real screenshot: UPI Scam Guard on the refund QR (DEMO DATA).</a:t>
            </a:r>
            <a:endParaRPr lang="en-US" sz="1100" dirty="0"/>
          </a:p>
        </p:txBody>
      </p:sp>
      <p:sp>
        <p:nvSpPr>
          <p:cNvPr id="37" name="text-74"/>
          <p:cNvSpPr txBox="1"/>
          <p:nvPr/>
        </p:nvSpPr>
        <p:spPr>
          <a:xfrm>
            <a:off x="548640" y="4937760"/>
            <a:ext cx="4709160" cy="822960"/>
          </a:xfrm>
          <a:prstGeom prst="rect">
            <a:avLst/>
          </a:prstGeom>
          <a:noFill/>
          <a:ln/>
        </p:spPr>
        <p:txBody>
          <a:bodyPr wrap="square" lIns="0" tIns="0" rIns="0" bIns="0" rtlCol="0" anchor="t"/>
          <a:lstStyle/>
          <a:p>
            <a:pPr indent="0" marL="0">
              <a:buNone/>
            </a:pPr>
            <a:r>
              <a:rPr lang="en-US" sz="1500" b="1" dirty="0">
                <a:solidFill>
                  <a:schemeClr val="bg2"/>
                </a:solidFill>
              </a:rPr>
              <a:t>The first message only earns a warning. The alarm comes when the QR contradicts the promise, and repeats do not re-alert.</a:t>
            </a:r>
            <a:endParaRPr lang="en-US" sz="1500" dirty="0"/>
          </a:p>
        </p:txBody>
      </p:sp>
      <p:sp>
        <p:nvSpPr>
          <p:cNvPr id="38" name="text-75"/>
          <p:cNvSpPr txBox="1"/>
          <p:nvPr/>
        </p:nvSpPr>
        <p:spPr>
          <a:xfrm>
            <a:off x="548640" y="5852160"/>
            <a:ext cx="4709160" cy="457200"/>
          </a:xfrm>
          <a:prstGeom prst="rect">
            <a:avLst/>
          </a:prstGeom>
          <a:noFill/>
          <a:ln/>
        </p:spPr>
        <p:txBody>
          <a:bodyPr wrap="square" lIns="0" tIns="0" rIns="0" bIns="0" rtlCol="0" anchor="t"/>
          <a:lstStyle/>
          <a:p>
            <a:pPr indent="0" marL="0">
              <a:buNone/>
            </a:pPr>
            <a:r>
              <a:rPr lang="en-US" sz="1100" i="1" dirty="0">
                <a:solidFill>
                  <a:schemeClr val="accent6"/>
                </a:solidFill>
              </a:rPr>
              <a:t>Scores are heuristic 0–100 indicators, not probabilities. Output of the real API on a throwaway database.</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300" kern="0" dirty="0">
                <a:solidFill>
                  <a:schemeClr val="accent1"/>
                </a:solidFill>
              </a:rPr>
              <a:t>04 · CORE INNOVATION</a:t>
            </a:r>
            <a:endParaRPr lang="en-US" sz="1100" dirty="0"/>
          </a:p>
        </p:txBody>
      </p:sp>
      <p:sp>
        <p:nvSpPr>
          <p:cNvPr id="3" name="Text 0"/>
          <p:cNvSpPr/>
          <p:nvPr>
            <p:ph idx="101" type="title" hasCustomPrompt="1"/>
          </p:nvPr>
        </p:nvSpPr>
        <p:spPr>
          <a:xfrm>
            <a:off x="548640" y="566928"/>
            <a:ext cx="11094415" cy="731520"/>
          </a:xfrm>
          <a:prstGeom prst="rect">
            <a:avLst/>
          </a:prstGeom>
          <a:noFill/>
          <a:ln/>
        </p:spPr>
        <p:txBody>
          <a:bodyPr wrap="square" lIns="0" tIns="0" rIns="0" bIns="0" rtlCol="0" anchor="t"/>
          <a:lstStyle/>
          <a:p>
            <a:pPr indent="0" marL="0">
              <a:buNone/>
            </a:pPr>
            <a:r>
              <a:rPr lang="en-US" sz="3200" b="1" dirty="0">
                <a:solidFill>
                  <a:schemeClr val="bg2"/>
                </a:solidFill>
                <a:latin typeface="Arial" pitchFamily="34" charset="0"/>
                <a:ea typeface="Arial" pitchFamily="34" charset="-122"/>
                <a:cs typeface="Arial" pitchFamily="34" charset="-120"/>
              </a:rPr>
              <a:t>Scam DNA: observed evidence, inferred pattern</a:t>
            </a:r>
            <a:endParaRPr lang="en-US" sz="3200" dirty="0"/>
          </a:p>
        </p:txBody>
      </p:sp>
      <p:pic>
        <p:nvPicPr>
          <p:cNvPr id="4" name="scam-dna-chain-76" descr="Attack chain view of the synthetic multi-stage case">    </p:cNvPr>
          <p:cNvPicPr>
            <a:picLocks noChangeAspect="1"/>
          </p:cNvPicPr>
          <p:nvPr/>
        </p:nvPicPr>
        <p:blipFill>
          <a:blip r:embed="rId1"/>
          <a:stretch>
            <a:fillRect/>
          </a:stretch>
        </p:blipFill>
        <p:spPr>
          <a:xfrm>
            <a:off x="548640" y="1463040"/>
            <a:ext cx="6675120" cy="3294172"/>
          </a:xfrm>
          <a:prstGeom prst="rect">
            <a:avLst/>
          </a:prstGeom>
        </p:spPr>
      </p:pic>
      <p:sp>
        <p:nvSpPr>
          <p:cNvPr id="5" name="frame-77"/>
          <p:cNvSpPr/>
          <p:nvPr/>
        </p:nvSpPr>
        <p:spPr>
          <a:xfrm>
            <a:off x="548640" y="1463040"/>
            <a:ext cx="6675120" cy="3294172"/>
          </a:xfrm>
          <a:prstGeom prst="roundRect">
            <a:avLst>
              <a:gd name="adj" fmla="val 1665"/>
            </a:avLst>
          </a:prstGeom>
          <a:ln w="12700">
            <a:solidFill>
              <a:srgbClr val="22324F"/>
            </a:solidFill>
            <a:prstDash val="solid"/>
          </a:ln>
        </p:spPr>
      </p:sp>
      <p:sp>
        <p:nvSpPr>
          <p:cNvPr id="6" name="text-78"/>
          <p:cNvSpPr txBox="1"/>
          <p:nvPr/>
        </p:nvSpPr>
        <p:spPr>
          <a:xfrm>
            <a:off x="548640" y="4846320"/>
            <a:ext cx="6675120" cy="274320"/>
          </a:xfrm>
          <a:prstGeom prst="rect">
            <a:avLst/>
          </a:prstGeom>
          <a:noFill/>
          <a:ln/>
        </p:spPr>
        <p:txBody>
          <a:bodyPr wrap="square" lIns="0" tIns="0" rIns="0" bIns="0" rtlCol="0" anchor="t"/>
          <a:lstStyle/>
          <a:p>
            <a:pPr indent="0" marL="0">
              <a:buNone/>
            </a:pPr>
            <a:r>
              <a:rPr lang="en-US" sz="1100" dirty="0">
                <a:solidFill>
                  <a:schemeClr val="accent6"/>
                </a:solidFill>
              </a:rPr>
              <a:t>Real screenshot: the attack chain for the synthetic multi-stage case, after four pieces of evidence.</a:t>
            </a:r>
            <a:endParaRPr lang="en-US" sz="1100" dirty="0"/>
          </a:p>
        </p:txBody>
      </p:sp>
      <p:sp>
        <p:nvSpPr>
          <p:cNvPr id="7" name="text-79"/>
          <p:cNvSpPr txBox="1"/>
          <p:nvPr/>
        </p:nvSpPr>
        <p:spPr>
          <a:xfrm>
            <a:off x="7543800" y="1463040"/>
            <a:ext cx="4099255"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THREE LAYERS PER CASE</a:t>
            </a:r>
            <a:endParaRPr lang="en-US" sz="1000" dirty="0"/>
          </a:p>
        </p:txBody>
      </p:sp>
      <p:sp>
        <p:nvSpPr>
          <p:cNvPr id="8" name="line-80"/>
          <p:cNvSpPr/>
          <p:nvPr/>
        </p:nvSpPr>
        <p:spPr>
          <a:xfrm>
            <a:off x="7543800" y="1911096"/>
            <a:ext cx="411480" cy="0"/>
          </a:xfrm>
          <a:prstGeom prst="line">
            <a:avLst/>
          </a:prstGeom>
          <a:noFill/>
          <a:ln w="25400">
            <a:solidFill>
              <a:srgbClr val="3EE6FF"/>
            </a:solidFill>
            <a:prstDash val="solid"/>
          </a:ln>
        </p:spPr>
      </p:sp>
      <p:sp>
        <p:nvSpPr>
          <p:cNvPr id="9" name="text-81"/>
          <p:cNvSpPr txBox="1"/>
          <p:nvPr/>
        </p:nvSpPr>
        <p:spPr>
          <a:xfrm>
            <a:off x="8092440" y="1783080"/>
            <a:ext cx="3550615" cy="274320"/>
          </a:xfrm>
          <a:prstGeom prst="rect">
            <a:avLst/>
          </a:prstGeom>
          <a:noFill/>
          <a:ln/>
        </p:spPr>
        <p:txBody>
          <a:bodyPr wrap="square" lIns="0" tIns="0" rIns="0" bIns="0" rtlCol="0" anchor="t"/>
          <a:lstStyle/>
          <a:p>
            <a:pPr indent="0" marL="0">
              <a:buNone/>
            </a:pPr>
            <a:r>
              <a:rPr lang="en-US" sz="1400" b="1" dirty="0">
                <a:solidFill>
                  <a:schemeClr val="accent1"/>
                </a:solidFill>
              </a:rPr>
              <a:t>Observed evidence</a:t>
            </a:r>
            <a:endParaRPr lang="en-US" sz="1400" dirty="0"/>
          </a:p>
        </p:txBody>
      </p:sp>
      <p:sp>
        <p:nvSpPr>
          <p:cNvPr id="10" name="text-82"/>
          <p:cNvSpPr txBox="1"/>
          <p:nvPr/>
        </p:nvSpPr>
        <p:spPr>
          <a:xfrm>
            <a:off x="8092440" y="2057400"/>
            <a:ext cx="3550615" cy="457200"/>
          </a:xfrm>
          <a:prstGeom prst="rect">
            <a:avLst/>
          </a:prstGeom>
          <a:noFill/>
          <a:ln/>
        </p:spPr>
        <p:txBody>
          <a:bodyPr wrap="square" lIns="0" tIns="0" rIns="0" bIns="0" rtlCol="0" anchor="t"/>
          <a:lstStyle/>
          <a:p>
            <a:pPr indent="0" marL="0">
              <a:buNone/>
            </a:pPr>
            <a:r>
              <a:rPr lang="en-US" sz="1200" dirty="0">
                <a:solidFill>
                  <a:schemeClr val="accent6"/>
                </a:solidFill>
              </a:rPr>
              <a:t>The text, call note, link or QR the user added, stored redacted.</a:t>
            </a:r>
            <a:endParaRPr lang="en-US" sz="1200" dirty="0"/>
          </a:p>
        </p:txBody>
      </p:sp>
      <p:sp>
        <p:nvSpPr>
          <p:cNvPr id="11" name="line-83"/>
          <p:cNvSpPr/>
          <p:nvPr/>
        </p:nvSpPr>
        <p:spPr>
          <a:xfrm>
            <a:off x="7543800" y="2688336"/>
            <a:ext cx="411480" cy="0"/>
          </a:xfrm>
          <a:prstGeom prst="line">
            <a:avLst/>
          </a:prstGeom>
          <a:noFill/>
          <a:ln w="25400">
            <a:solidFill>
              <a:srgbClr val="E9F0FB"/>
            </a:solidFill>
            <a:prstDash val="solid"/>
          </a:ln>
        </p:spPr>
      </p:sp>
      <p:sp>
        <p:nvSpPr>
          <p:cNvPr id="12" name="text-84"/>
          <p:cNvSpPr txBox="1"/>
          <p:nvPr/>
        </p:nvSpPr>
        <p:spPr>
          <a:xfrm>
            <a:off x="8092440" y="2560320"/>
            <a:ext cx="3550615" cy="274320"/>
          </a:xfrm>
          <a:prstGeom prst="rect">
            <a:avLst/>
          </a:prstGeom>
          <a:noFill/>
          <a:ln/>
        </p:spPr>
        <p:txBody>
          <a:bodyPr wrap="square" lIns="0" tIns="0" rIns="0" bIns="0" rtlCol="0" anchor="t"/>
          <a:lstStyle/>
          <a:p>
            <a:pPr indent="0" marL="0">
              <a:buNone/>
            </a:pPr>
            <a:r>
              <a:rPr lang="en-US" sz="1400" b="1" dirty="0">
                <a:solidFill>
                  <a:schemeClr val="bg2"/>
                </a:solidFill>
              </a:rPr>
              <a:t>Tactics with matched words</a:t>
            </a:r>
            <a:endParaRPr lang="en-US" sz="1400" dirty="0"/>
          </a:p>
        </p:txBody>
      </p:sp>
      <p:sp>
        <p:nvSpPr>
          <p:cNvPr id="13" name="text-85"/>
          <p:cNvSpPr txBox="1"/>
          <p:nvPr/>
        </p:nvSpPr>
        <p:spPr>
          <a:xfrm>
            <a:off x="8092440" y="2834640"/>
            <a:ext cx="3550615" cy="457200"/>
          </a:xfrm>
          <a:prstGeom prst="rect">
            <a:avLst/>
          </a:prstGeom>
          <a:noFill/>
          <a:ln/>
        </p:spPr>
        <p:txBody>
          <a:bodyPr wrap="square" lIns="0" tIns="0" rIns="0" bIns="0" rtlCol="0" anchor="t"/>
          <a:lstStyle/>
          <a:p>
            <a:pPr indent="0" marL="0">
              <a:buNone/>
            </a:pPr>
            <a:r>
              <a:rPr lang="en-US" sz="1200" dirty="0">
                <a:solidFill>
                  <a:schemeClr val="accent6"/>
                </a:solidFill>
              </a:rPr>
              <a:t>Each tactic keeps the exact words or link signal that triggered it.</a:t>
            </a:r>
            <a:endParaRPr lang="en-US" sz="1200" dirty="0"/>
          </a:p>
        </p:txBody>
      </p:sp>
      <p:sp>
        <p:nvSpPr>
          <p:cNvPr id="14" name="line-86"/>
          <p:cNvSpPr/>
          <p:nvPr/>
        </p:nvSpPr>
        <p:spPr>
          <a:xfrm>
            <a:off x="7543800" y="3465576"/>
            <a:ext cx="411480" cy="0"/>
          </a:xfrm>
          <a:prstGeom prst="line">
            <a:avLst/>
          </a:prstGeom>
          <a:noFill/>
          <a:ln w="25400">
            <a:solidFill>
              <a:srgbClr val="A08CFF"/>
            </a:solidFill>
            <a:prstDash val="dash"/>
          </a:ln>
        </p:spPr>
      </p:sp>
      <p:sp>
        <p:nvSpPr>
          <p:cNvPr id="15" name="text-87"/>
          <p:cNvSpPr txBox="1"/>
          <p:nvPr/>
        </p:nvSpPr>
        <p:spPr>
          <a:xfrm>
            <a:off x="8092440" y="3337560"/>
            <a:ext cx="3550615" cy="274320"/>
          </a:xfrm>
          <a:prstGeom prst="rect">
            <a:avLst/>
          </a:prstGeom>
          <a:noFill/>
          <a:ln/>
        </p:spPr>
        <p:txBody>
          <a:bodyPr wrap="square" lIns="0" tIns="0" rIns="0" bIns="0" rtlCol="0" anchor="t"/>
          <a:lstStyle/>
          <a:p>
            <a:pPr indent="0" marL="0">
              <a:buNone/>
            </a:pPr>
            <a:r>
              <a:rPr lang="en-US" sz="1400" b="1" dirty="0">
                <a:solidFill>
                  <a:schemeClr val="accent2"/>
                </a:solidFill>
              </a:rPr>
              <a:t>Inferred stages</a:t>
            </a:r>
            <a:endParaRPr lang="en-US" sz="1400" dirty="0"/>
          </a:p>
        </p:txBody>
      </p:sp>
      <p:sp>
        <p:nvSpPr>
          <p:cNvPr id="16" name="text-88"/>
          <p:cNvSpPr txBox="1"/>
          <p:nvPr/>
        </p:nvSpPr>
        <p:spPr>
          <a:xfrm>
            <a:off x="8092440" y="3611880"/>
            <a:ext cx="3550615" cy="457200"/>
          </a:xfrm>
          <a:prstGeom prst="rect">
            <a:avLst/>
          </a:prstGeom>
          <a:noFill/>
          <a:ln/>
        </p:spPr>
        <p:txBody>
          <a:bodyPr wrap="square" lIns="0" tIns="0" rIns="0" bIns="0" rtlCol="0" anchor="t"/>
          <a:lstStyle/>
          <a:p>
            <a:pPr indent="0" marL="0">
              <a:buNone/>
            </a:pPr>
            <a:r>
              <a:rPr lang="en-US" sz="1200" dirty="0">
                <a:solidFill>
                  <a:schemeClr val="accent6"/>
                </a:solidFill>
              </a:rPr>
              <a:t>Approach → Extraction, drawn dashed: a proposal, not a fact.</a:t>
            </a:r>
            <a:endParaRPr lang="en-US" sz="1200" dirty="0"/>
          </a:p>
        </p:txBody>
      </p:sp>
      <p:graphicFrame>
        <p:nvGraphicFramePr>
          <p:cNvPr id="17" name="chart-89" descr=""/>
          <p:cNvGraphicFramePr/>
          <p:nvPr/>
        </p:nvGraphicFramePr>
        <p:xfrm>
          <a:off x="7543800" y="4114800"/>
          <a:ext cx="4099255" cy="1828800"/>
        </p:xfrm>
        <a:graphic xmlns:a="http://schemas.openxmlformats.org/drawingml/2006/main">
          <a:graphicData uri="http://schemas.openxmlformats.org/drawingml/2006/chart">
            <c:chart xmlns:c="http://schemas.openxmlformats.org/drawingml/2006/chart" r:id="rId2"/>
          </a:graphicData>
        </a:graphic>
      </p:graphicFrame>
      <p:sp>
        <p:nvSpPr>
          <p:cNvPr id="18" name="text-90"/>
          <p:cNvSpPr txBox="1"/>
          <p:nvPr/>
        </p:nvSpPr>
        <p:spPr>
          <a:xfrm>
            <a:off x="548640" y="5257800"/>
            <a:ext cx="6675120" cy="685800"/>
          </a:xfrm>
          <a:prstGeom prst="rect">
            <a:avLst/>
          </a:prstGeom>
          <a:noFill/>
          <a:ln/>
        </p:spPr>
        <p:txBody>
          <a:bodyPr wrap="square" lIns="0" tIns="0" rIns="0" bIns="0" rtlCol="0" anchor="t"/>
          <a:lstStyle/>
          <a:p>
            <a:pPr indent="0" marL="0">
              <a:buNone/>
            </a:pPr>
            <a:r>
              <a:rPr lang="en-US" sz="1200" dirty="0">
                <a:solidFill>
                  <a:schemeClr val="accent6"/>
                </a:solidFill>
              </a:rPr>
              <a:t>Alerts: new → escalated → updated → updated. Heuristic risk indicator from transparent rules. It is not a calibrated probability of fraud.</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300" kern="0" dirty="0">
                <a:solidFill>
                  <a:schemeClr val="accent1"/>
                </a:solidFill>
              </a:rPr>
              <a:t>05 · THE PRODUCT</a:t>
            </a:r>
            <a:endParaRPr lang="en-US" sz="1100" dirty="0"/>
          </a:p>
        </p:txBody>
      </p:sp>
      <p:sp>
        <p:nvSpPr>
          <p:cNvPr id="3" name="Text 0"/>
          <p:cNvSpPr/>
          <p:nvPr>
            <p:ph idx="101" type="title" hasCustomPrompt="1"/>
          </p:nvPr>
        </p:nvSpPr>
        <p:spPr>
          <a:xfrm>
            <a:off x="548640" y="566928"/>
            <a:ext cx="11094415" cy="731520"/>
          </a:xfrm>
          <a:prstGeom prst="rect">
            <a:avLst/>
          </a:prstGeom>
          <a:noFill/>
          <a:ln/>
        </p:spPr>
        <p:txBody>
          <a:bodyPr wrap="square" lIns="0" tIns="0" rIns="0" bIns="0" rtlCol="0" anchor="t"/>
          <a:lstStyle/>
          <a:p>
            <a:pPr indent="0" marL="0">
              <a:buNone/>
            </a:pPr>
            <a:r>
              <a:rPr lang="en-US" sz="3200" b="1" dirty="0">
                <a:solidFill>
                  <a:schemeClr val="bg2"/>
                </a:solidFill>
                <a:latin typeface="Arial" pitchFamily="34" charset="0"/>
                <a:ea typeface="Arial" pitchFamily="34" charset="-122"/>
                <a:cs typeface="Arial" pitchFamily="34" charset="-120"/>
              </a:rPr>
              <a:t>What is built today</a:t>
            </a:r>
            <a:endParaRPr lang="en-US" sz="3200" dirty="0"/>
          </a:p>
        </p:txBody>
      </p:sp>
      <p:sp>
        <p:nvSpPr>
          <p:cNvPr id="4" name="panel-91"/>
          <p:cNvSpPr/>
          <p:nvPr/>
        </p:nvSpPr>
        <p:spPr>
          <a:xfrm>
            <a:off x="548640" y="1463040"/>
            <a:ext cx="2650160" cy="1481328"/>
          </a:xfrm>
          <a:prstGeom prst="roundRect">
            <a:avLst>
              <a:gd name="adj" fmla="val 4938"/>
            </a:avLst>
          </a:prstGeom>
          <a:solidFill>
            <a:srgbClr val="0F1830">
              <a:alpha val="92000"/>
            </a:srgbClr>
          </a:solidFill>
          <a:ln w="12700">
            <a:solidFill>
              <a:srgbClr val="22324F"/>
            </a:solidFill>
            <a:prstDash val="solid"/>
          </a:ln>
        </p:spPr>
      </p:sp>
      <p:sp>
        <p:nvSpPr>
          <p:cNvPr id="5" name="text-92"/>
          <p:cNvSpPr txBox="1"/>
          <p:nvPr/>
        </p:nvSpPr>
        <p:spPr>
          <a:xfrm>
            <a:off x="713232" y="1600200"/>
            <a:ext cx="2320976" cy="274320"/>
          </a:xfrm>
          <a:prstGeom prst="rect">
            <a:avLst/>
          </a:prstGeom>
          <a:noFill/>
          <a:ln/>
        </p:spPr>
        <p:txBody>
          <a:bodyPr wrap="square" lIns="0" tIns="0" rIns="0" bIns="0" rtlCol="0" anchor="t"/>
          <a:lstStyle/>
          <a:p>
            <a:pPr indent="0" marL="0">
              <a:buNone/>
            </a:pPr>
            <a:r>
              <a:rPr lang="en-US" sz="1400" b="1" dirty="0">
                <a:solidFill>
                  <a:schemeClr val="bg2"/>
                </a:solidFill>
                <a:latin typeface="Arial" pitchFamily="34" charset="0"/>
                <a:ea typeface="Arial" pitchFamily="34" charset="-122"/>
                <a:cs typeface="Arial" pitchFamily="34" charset="-120"/>
              </a:rPr>
              <a:t>SCAM DNA</a:t>
            </a:r>
            <a:endParaRPr lang="en-US" sz="1400" dirty="0"/>
          </a:p>
        </p:txBody>
      </p:sp>
      <p:sp>
        <p:nvSpPr>
          <p:cNvPr id="6" name="text-93"/>
          <p:cNvSpPr txBox="1"/>
          <p:nvPr/>
        </p:nvSpPr>
        <p:spPr>
          <a:xfrm>
            <a:off x="713232" y="1892808"/>
            <a:ext cx="2320976" cy="731520"/>
          </a:xfrm>
          <a:prstGeom prst="rect">
            <a:avLst/>
          </a:prstGeom>
          <a:noFill/>
          <a:ln/>
        </p:spPr>
        <p:txBody>
          <a:bodyPr wrap="square" lIns="0" tIns="0" rIns="0" bIns="0" rtlCol="0" anchor="t"/>
          <a:lstStyle/>
          <a:p>
            <a:pPr indent="0" marL="0">
              <a:buNone/>
            </a:pPr>
            <a:r>
              <a:rPr lang="en-US" sz="1100" dirty="0">
                <a:solidFill>
                  <a:schemeClr val="accent6"/>
                </a:solidFill>
              </a:rPr>
              <a:t>A case per suspicious episode; each item re-evaluates it, with what changed, missing and conflicting evidence.</a:t>
            </a:r>
            <a:endParaRPr lang="en-US" sz="1100" dirty="0"/>
          </a:p>
        </p:txBody>
      </p:sp>
      <p:sp>
        <p:nvSpPr>
          <p:cNvPr id="7" name="dot-94"/>
          <p:cNvSpPr/>
          <p:nvPr/>
        </p:nvSpPr>
        <p:spPr>
          <a:xfrm>
            <a:off x="713232" y="2660904"/>
            <a:ext cx="109728" cy="109728"/>
          </a:xfrm>
          <a:prstGeom prst="ellipse">
            <a:avLst/>
          </a:prstGeom>
          <a:solidFill>
            <a:srgbClr val="5CEBB0"/>
          </a:solidFill>
          <a:ln/>
        </p:spPr>
      </p:sp>
      <p:sp>
        <p:nvSpPr>
          <p:cNvPr id="8" name="text-95"/>
          <p:cNvSpPr txBox="1"/>
          <p:nvPr/>
        </p:nvSpPr>
        <p:spPr>
          <a:xfrm>
            <a:off x="896112" y="2615184"/>
            <a:ext cx="2192960" cy="228600"/>
          </a:xfrm>
          <a:prstGeom prst="rect">
            <a:avLst/>
          </a:prstGeom>
          <a:noFill/>
          <a:ln/>
        </p:spPr>
        <p:txBody>
          <a:bodyPr wrap="square" lIns="0" tIns="0" rIns="0" bIns="0" rtlCol="0" anchor="t"/>
          <a:lstStyle/>
          <a:p>
            <a:pPr indent="0" marL="0">
              <a:buNone/>
            </a:pPr>
            <a:r>
              <a:rPr lang="en-US" sz="1050" b="1" dirty="0">
                <a:solidFill>
                  <a:schemeClr val="accent4"/>
                </a:solidFill>
              </a:rPr>
              <a:t>Implemented</a:t>
            </a:r>
            <a:endParaRPr lang="en-US" sz="1050" dirty="0"/>
          </a:p>
        </p:txBody>
      </p:sp>
      <p:sp>
        <p:nvSpPr>
          <p:cNvPr id="9" name="panel-96"/>
          <p:cNvSpPr/>
          <p:nvPr/>
        </p:nvSpPr>
        <p:spPr>
          <a:xfrm>
            <a:off x="3363392" y="1463040"/>
            <a:ext cx="2650160" cy="1481328"/>
          </a:xfrm>
          <a:prstGeom prst="roundRect">
            <a:avLst>
              <a:gd name="adj" fmla="val 4938"/>
            </a:avLst>
          </a:prstGeom>
          <a:solidFill>
            <a:srgbClr val="0F1830">
              <a:alpha val="92000"/>
            </a:srgbClr>
          </a:solidFill>
          <a:ln w="12700">
            <a:solidFill>
              <a:srgbClr val="22324F"/>
            </a:solidFill>
            <a:prstDash val="solid"/>
          </a:ln>
        </p:spPr>
      </p:sp>
      <p:sp>
        <p:nvSpPr>
          <p:cNvPr id="10" name="text-97"/>
          <p:cNvSpPr txBox="1"/>
          <p:nvPr/>
        </p:nvSpPr>
        <p:spPr>
          <a:xfrm>
            <a:off x="3527984" y="1600200"/>
            <a:ext cx="2320976" cy="274320"/>
          </a:xfrm>
          <a:prstGeom prst="rect">
            <a:avLst/>
          </a:prstGeom>
          <a:noFill/>
          <a:ln/>
        </p:spPr>
        <p:txBody>
          <a:bodyPr wrap="square" lIns="0" tIns="0" rIns="0" bIns="0" rtlCol="0" anchor="t"/>
          <a:lstStyle/>
          <a:p>
            <a:pPr indent="0" marL="0">
              <a:buNone/>
            </a:pPr>
            <a:r>
              <a:rPr lang="en-US" sz="1400" b="1" dirty="0">
                <a:solidFill>
                  <a:schemeClr val="bg2"/>
                </a:solidFill>
                <a:latin typeface="Arial" pitchFamily="34" charset="0"/>
                <a:ea typeface="Arial" pitchFamily="34" charset="-122"/>
                <a:cs typeface="Arial" pitchFamily="34" charset="-120"/>
              </a:rPr>
              <a:t>SCAM FORENSICS</a:t>
            </a:r>
            <a:endParaRPr lang="en-US" sz="1400" dirty="0"/>
          </a:p>
        </p:txBody>
      </p:sp>
      <p:sp>
        <p:nvSpPr>
          <p:cNvPr id="11" name="text-98"/>
          <p:cNvSpPr txBox="1"/>
          <p:nvPr/>
        </p:nvSpPr>
        <p:spPr>
          <a:xfrm>
            <a:off x="3527984" y="1892808"/>
            <a:ext cx="2320976" cy="731520"/>
          </a:xfrm>
          <a:prstGeom prst="rect">
            <a:avLst/>
          </a:prstGeom>
          <a:noFill/>
          <a:ln/>
        </p:spPr>
        <p:txBody>
          <a:bodyPr wrap="square" lIns="0" tIns="0" rIns="0" bIns="0" rtlCol="0" anchor="t"/>
          <a:lstStyle/>
          <a:p>
            <a:pPr indent="0" marL="0">
              <a:buNone/>
            </a:pPr>
            <a:r>
              <a:rPr lang="en-US" sz="1100" dirty="0">
                <a:solidFill>
                  <a:schemeClr val="accent6"/>
                </a:solidFill>
              </a:rPr>
              <a:t>Message, conversation, link (never opened) or screenshot read by local Tesseract OCR.</a:t>
            </a:r>
            <a:endParaRPr lang="en-US" sz="1100" dirty="0"/>
          </a:p>
        </p:txBody>
      </p:sp>
      <p:sp>
        <p:nvSpPr>
          <p:cNvPr id="12" name="dot-99"/>
          <p:cNvSpPr/>
          <p:nvPr/>
        </p:nvSpPr>
        <p:spPr>
          <a:xfrm>
            <a:off x="3527984" y="2660904"/>
            <a:ext cx="109728" cy="109728"/>
          </a:xfrm>
          <a:prstGeom prst="ellipse">
            <a:avLst/>
          </a:prstGeom>
          <a:solidFill>
            <a:srgbClr val="5CEBB0"/>
          </a:solidFill>
          <a:ln/>
        </p:spPr>
      </p:sp>
      <p:sp>
        <p:nvSpPr>
          <p:cNvPr id="13" name="text-100"/>
          <p:cNvSpPr txBox="1"/>
          <p:nvPr/>
        </p:nvSpPr>
        <p:spPr>
          <a:xfrm>
            <a:off x="3710864" y="2615184"/>
            <a:ext cx="2192960" cy="228600"/>
          </a:xfrm>
          <a:prstGeom prst="rect">
            <a:avLst/>
          </a:prstGeom>
          <a:noFill/>
          <a:ln/>
        </p:spPr>
        <p:txBody>
          <a:bodyPr wrap="square" lIns="0" tIns="0" rIns="0" bIns="0" rtlCol="0" anchor="t"/>
          <a:lstStyle/>
          <a:p>
            <a:pPr indent="0" marL="0">
              <a:buNone/>
            </a:pPr>
            <a:r>
              <a:rPr lang="en-US" sz="1050" b="1" dirty="0">
                <a:solidFill>
                  <a:schemeClr val="accent4"/>
                </a:solidFill>
              </a:rPr>
              <a:t>Implemented · needs Tesseract</a:t>
            </a:r>
            <a:endParaRPr lang="en-US" sz="1050" dirty="0"/>
          </a:p>
        </p:txBody>
      </p:sp>
      <p:sp>
        <p:nvSpPr>
          <p:cNvPr id="14" name="panel-101"/>
          <p:cNvSpPr/>
          <p:nvPr/>
        </p:nvSpPr>
        <p:spPr>
          <a:xfrm>
            <a:off x="6178144" y="1463040"/>
            <a:ext cx="2650160" cy="1481328"/>
          </a:xfrm>
          <a:prstGeom prst="roundRect">
            <a:avLst>
              <a:gd name="adj" fmla="val 4938"/>
            </a:avLst>
          </a:prstGeom>
          <a:solidFill>
            <a:srgbClr val="0F1830">
              <a:alpha val="92000"/>
            </a:srgbClr>
          </a:solidFill>
          <a:ln w="12700">
            <a:solidFill>
              <a:srgbClr val="22324F"/>
            </a:solidFill>
            <a:prstDash val="solid"/>
          </a:ln>
        </p:spPr>
      </p:sp>
      <p:sp>
        <p:nvSpPr>
          <p:cNvPr id="15" name="text-102"/>
          <p:cNvSpPr txBox="1"/>
          <p:nvPr/>
        </p:nvSpPr>
        <p:spPr>
          <a:xfrm>
            <a:off x="6342736" y="1600200"/>
            <a:ext cx="2320976" cy="274320"/>
          </a:xfrm>
          <a:prstGeom prst="rect">
            <a:avLst/>
          </a:prstGeom>
          <a:noFill/>
          <a:ln/>
        </p:spPr>
        <p:txBody>
          <a:bodyPr wrap="square" lIns="0" tIns="0" rIns="0" bIns="0" rtlCol="0" anchor="t"/>
          <a:lstStyle/>
          <a:p>
            <a:pPr indent="0" marL="0">
              <a:buNone/>
            </a:pPr>
            <a:r>
              <a:rPr lang="en-US" sz="1400" b="1" dirty="0">
                <a:solidFill>
                  <a:schemeClr val="bg2"/>
                </a:solidFill>
                <a:latin typeface="Arial" pitchFamily="34" charset="0"/>
                <a:ea typeface="Arial" pitchFamily="34" charset="-122"/>
                <a:cs typeface="Arial" pitchFamily="34" charset="-120"/>
              </a:rPr>
              <a:t>UPI SCAM GUARD</a:t>
            </a:r>
            <a:endParaRPr lang="en-US" sz="1400" dirty="0"/>
          </a:p>
        </p:txBody>
      </p:sp>
      <p:sp>
        <p:nvSpPr>
          <p:cNvPr id="16" name="text-103"/>
          <p:cNvSpPr txBox="1"/>
          <p:nvPr/>
        </p:nvSpPr>
        <p:spPr>
          <a:xfrm>
            <a:off x="6342736" y="1892808"/>
            <a:ext cx="2320976" cy="731520"/>
          </a:xfrm>
          <a:prstGeom prst="rect">
            <a:avLst/>
          </a:prstGeom>
          <a:noFill/>
          <a:ln/>
        </p:spPr>
        <p:txBody>
          <a:bodyPr wrap="square" lIns="0" tIns="0" rIns="0" bIns="0" rtlCol="0" anchor="t"/>
          <a:lstStyle/>
          <a:p>
            <a:pPr indent="0" marL="0">
              <a:buNone/>
            </a:pPr>
            <a:r>
              <a:rPr lang="en-US" sz="1100" dirty="0">
                <a:solidFill>
                  <a:schemeClr val="accent6"/>
                </a:solidFill>
              </a:rPr>
              <a:t>Check a UPI ID or payment QR before paying; QR decoded in the browser.</a:t>
            </a:r>
            <a:endParaRPr lang="en-US" sz="1100" dirty="0"/>
          </a:p>
        </p:txBody>
      </p:sp>
      <p:sp>
        <p:nvSpPr>
          <p:cNvPr id="17" name="dot-104"/>
          <p:cNvSpPr/>
          <p:nvPr/>
        </p:nvSpPr>
        <p:spPr>
          <a:xfrm>
            <a:off x="6342736" y="2660904"/>
            <a:ext cx="109728" cy="109728"/>
          </a:xfrm>
          <a:prstGeom prst="ellipse">
            <a:avLst/>
          </a:prstGeom>
          <a:solidFill>
            <a:srgbClr val="5CEBB0"/>
          </a:solidFill>
          <a:ln/>
        </p:spPr>
      </p:sp>
      <p:sp>
        <p:nvSpPr>
          <p:cNvPr id="18" name="text-105"/>
          <p:cNvSpPr txBox="1"/>
          <p:nvPr/>
        </p:nvSpPr>
        <p:spPr>
          <a:xfrm>
            <a:off x="6525616" y="2615184"/>
            <a:ext cx="2192960" cy="228600"/>
          </a:xfrm>
          <a:prstGeom prst="rect">
            <a:avLst/>
          </a:prstGeom>
          <a:noFill/>
          <a:ln/>
        </p:spPr>
        <p:txBody>
          <a:bodyPr wrap="square" lIns="0" tIns="0" rIns="0" bIns="0" rtlCol="0" anchor="t"/>
          <a:lstStyle/>
          <a:p>
            <a:pPr indent="0" marL="0">
              <a:buNone/>
            </a:pPr>
            <a:r>
              <a:rPr lang="en-US" sz="1050" b="1" dirty="0">
                <a:solidFill>
                  <a:schemeClr val="accent4"/>
                </a:solidFill>
              </a:rPr>
              <a:t>Implemented · no bank/NPCI data</a:t>
            </a:r>
            <a:endParaRPr lang="en-US" sz="1050" dirty="0"/>
          </a:p>
        </p:txBody>
      </p:sp>
      <p:sp>
        <p:nvSpPr>
          <p:cNvPr id="19" name="panel-106"/>
          <p:cNvSpPr/>
          <p:nvPr/>
        </p:nvSpPr>
        <p:spPr>
          <a:xfrm>
            <a:off x="8992895" y="1463040"/>
            <a:ext cx="2650160" cy="1481328"/>
          </a:xfrm>
          <a:prstGeom prst="roundRect">
            <a:avLst>
              <a:gd name="adj" fmla="val 4938"/>
            </a:avLst>
          </a:prstGeom>
          <a:solidFill>
            <a:srgbClr val="0F1830">
              <a:alpha val="92000"/>
            </a:srgbClr>
          </a:solidFill>
          <a:ln w="12700">
            <a:solidFill>
              <a:srgbClr val="22324F"/>
            </a:solidFill>
            <a:prstDash val="solid"/>
          </a:ln>
        </p:spPr>
      </p:sp>
      <p:sp>
        <p:nvSpPr>
          <p:cNvPr id="20" name="text-107"/>
          <p:cNvSpPr txBox="1"/>
          <p:nvPr/>
        </p:nvSpPr>
        <p:spPr>
          <a:xfrm>
            <a:off x="9157487" y="1600200"/>
            <a:ext cx="2320976" cy="274320"/>
          </a:xfrm>
          <a:prstGeom prst="rect">
            <a:avLst/>
          </a:prstGeom>
          <a:noFill/>
          <a:ln/>
        </p:spPr>
        <p:txBody>
          <a:bodyPr wrap="square" lIns="0" tIns="0" rIns="0" bIns="0" rtlCol="0" anchor="t"/>
          <a:lstStyle/>
          <a:p>
            <a:pPr indent="0" marL="0">
              <a:buNone/>
            </a:pPr>
            <a:r>
              <a:rPr lang="en-US" sz="1400" b="1" dirty="0">
                <a:solidFill>
                  <a:schemeClr val="bg2"/>
                </a:solidFill>
                <a:latin typeface="Arial" pitchFamily="34" charset="0"/>
                <a:ea typeface="Arial" pitchFamily="34" charset="-122"/>
                <a:cs typeface="Arial" pitchFamily="34" charset="-120"/>
              </a:rPr>
              <a:t>CAMPAIGN RADAR</a:t>
            </a:r>
            <a:endParaRPr lang="en-US" sz="1400" dirty="0"/>
          </a:p>
        </p:txBody>
      </p:sp>
      <p:sp>
        <p:nvSpPr>
          <p:cNvPr id="21" name="text-108"/>
          <p:cNvSpPr txBox="1"/>
          <p:nvPr/>
        </p:nvSpPr>
        <p:spPr>
          <a:xfrm>
            <a:off x="9157487" y="1892808"/>
            <a:ext cx="2320976" cy="731520"/>
          </a:xfrm>
          <a:prstGeom prst="rect">
            <a:avLst/>
          </a:prstGeom>
          <a:noFill/>
          <a:ln/>
        </p:spPr>
        <p:txBody>
          <a:bodyPr wrap="square" lIns="0" tIns="0" rIns="0" bIns="0" rtlCol="0" anchor="t"/>
          <a:lstStyle/>
          <a:p>
            <a:pPr indent="0" marL="0">
              <a:buNone/>
            </a:pPr>
            <a:r>
              <a:rPr lang="en-US" sz="1100" dirty="0">
                <a:solidFill>
                  <a:schemeClr val="accent6"/>
                </a:solidFill>
              </a:rPr>
              <a:t>Groups your own cases by exact shared indicators and, separately, by similarity.</a:t>
            </a:r>
            <a:endParaRPr lang="en-US" sz="1100" dirty="0"/>
          </a:p>
        </p:txBody>
      </p:sp>
      <p:sp>
        <p:nvSpPr>
          <p:cNvPr id="22" name="dot-109"/>
          <p:cNvSpPr/>
          <p:nvPr/>
        </p:nvSpPr>
        <p:spPr>
          <a:xfrm>
            <a:off x="9157487" y="2660904"/>
            <a:ext cx="109728" cy="109728"/>
          </a:xfrm>
          <a:prstGeom prst="ellipse">
            <a:avLst/>
          </a:prstGeom>
          <a:solidFill>
            <a:srgbClr val="5CEBB0"/>
          </a:solidFill>
          <a:ln/>
        </p:spPr>
      </p:sp>
      <p:sp>
        <p:nvSpPr>
          <p:cNvPr id="23" name="text-110"/>
          <p:cNvSpPr txBox="1"/>
          <p:nvPr/>
        </p:nvSpPr>
        <p:spPr>
          <a:xfrm>
            <a:off x="9340367" y="2615184"/>
            <a:ext cx="2192960" cy="228600"/>
          </a:xfrm>
          <a:prstGeom prst="rect">
            <a:avLst/>
          </a:prstGeom>
          <a:noFill/>
          <a:ln/>
        </p:spPr>
        <p:txBody>
          <a:bodyPr wrap="square" lIns="0" tIns="0" rIns="0" bIns="0" rtlCol="0" anchor="t"/>
          <a:lstStyle/>
          <a:p>
            <a:pPr indent="0" marL="0">
              <a:buNone/>
            </a:pPr>
            <a:r>
              <a:rPr lang="en-US" sz="1050" b="1" dirty="0">
                <a:solidFill>
                  <a:schemeClr val="accent4"/>
                </a:solidFill>
              </a:rPr>
              <a:t>Implemented · own cases only</a:t>
            </a:r>
            <a:endParaRPr lang="en-US" sz="1050" dirty="0"/>
          </a:p>
        </p:txBody>
      </p:sp>
      <p:sp>
        <p:nvSpPr>
          <p:cNvPr id="24" name="panel-111"/>
          <p:cNvSpPr/>
          <p:nvPr/>
        </p:nvSpPr>
        <p:spPr>
          <a:xfrm>
            <a:off x="548640" y="3081528"/>
            <a:ext cx="2650160" cy="1481328"/>
          </a:xfrm>
          <a:prstGeom prst="roundRect">
            <a:avLst>
              <a:gd name="adj" fmla="val 4938"/>
            </a:avLst>
          </a:prstGeom>
          <a:solidFill>
            <a:srgbClr val="0F1830">
              <a:alpha val="92000"/>
            </a:srgbClr>
          </a:solidFill>
          <a:ln w="12700">
            <a:solidFill>
              <a:srgbClr val="22324F"/>
            </a:solidFill>
            <a:prstDash val="solid"/>
          </a:ln>
        </p:spPr>
      </p:sp>
      <p:sp>
        <p:nvSpPr>
          <p:cNvPr id="25" name="text-112"/>
          <p:cNvSpPr txBox="1"/>
          <p:nvPr/>
        </p:nvSpPr>
        <p:spPr>
          <a:xfrm>
            <a:off x="713232" y="3218688"/>
            <a:ext cx="2320976" cy="274320"/>
          </a:xfrm>
          <a:prstGeom prst="rect">
            <a:avLst/>
          </a:prstGeom>
          <a:noFill/>
          <a:ln/>
        </p:spPr>
        <p:txBody>
          <a:bodyPr wrap="square" lIns="0" tIns="0" rIns="0" bIns="0" rtlCol="0" anchor="t"/>
          <a:lstStyle/>
          <a:p>
            <a:pPr indent="0" marL="0">
              <a:buNone/>
            </a:pPr>
            <a:r>
              <a:rPr lang="en-US" sz="1400" b="1" dirty="0">
                <a:solidFill>
                  <a:schemeClr val="bg2"/>
                </a:solidFill>
                <a:latin typeface="Arial" pitchFamily="34" charset="0"/>
                <a:ea typeface="Arial" pitchFamily="34" charset="-122"/>
                <a:cs typeface="Arial" pitchFamily="34" charset="-120"/>
              </a:rPr>
              <a:t>SCAM NETWORK</a:t>
            </a:r>
            <a:endParaRPr lang="en-US" sz="1400" dirty="0"/>
          </a:p>
        </p:txBody>
      </p:sp>
      <p:sp>
        <p:nvSpPr>
          <p:cNvPr id="26" name="text-113"/>
          <p:cNvSpPr txBox="1"/>
          <p:nvPr/>
        </p:nvSpPr>
        <p:spPr>
          <a:xfrm>
            <a:off x="713232" y="3511296"/>
            <a:ext cx="2320976" cy="731520"/>
          </a:xfrm>
          <a:prstGeom prst="rect">
            <a:avLst/>
          </a:prstGeom>
          <a:noFill/>
          <a:ln/>
        </p:spPr>
        <p:txBody>
          <a:bodyPr wrap="square" lIns="0" tIns="0" rIns="0" bIns="0" rtlCol="0" anchor="t"/>
          <a:lstStyle/>
          <a:p>
            <a:pPr indent="0" marL="0">
              <a:buNone/>
            </a:pPr>
            <a:r>
              <a:rPr lang="en-US" sz="1100" dirty="0">
                <a:solidFill>
                  <a:schemeClr val="accent6"/>
                </a:solidFill>
              </a:rPr>
              <a:t>Graph of cases and shared domains, UPI IDs, phones and claimed organisations.</a:t>
            </a:r>
            <a:endParaRPr lang="en-US" sz="1100" dirty="0"/>
          </a:p>
        </p:txBody>
      </p:sp>
      <p:sp>
        <p:nvSpPr>
          <p:cNvPr id="27" name="dot-114"/>
          <p:cNvSpPr/>
          <p:nvPr/>
        </p:nvSpPr>
        <p:spPr>
          <a:xfrm>
            <a:off x="713232" y="4279392"/>
            <a:ext cx="109728" cy="109728"/>
          </a:xfrm>
          <a:prstGeom prst="ellipse">
            <a:avLst/>
          </a:prstGeom>
          <a:solidFill>
            <a:srgbClr val="5CEBB0"/>
          </a:solidFill>
          <a:ln/>
        </p:spPr>
      </p:sp>
      <p:sp>
        <p:nvSpPr>
          <p:cNvPr id="28" name="text-115"/>
          <p:cNvSpPr txBox="1"/>
          <p:nvPr/>
        </p:nvSpPr>
        <p:spPr>
          <a:xfrm>
            <a:off x="896112" y="4233672"/>
            <a:ext cx="2192960" cy="228600"/>
          </a:xfrm>
          <a:prstGeom prst="rect">
            <a:avLst/>
          </a:prstGeom>
          <a:noFill/>
          <a:ln/>
        </p:spPr>
        <p:txBody>
          <a:bodyPr wrap="square" lIns="0" tIns="0" rIns="0" bIns="0" rtlCol="0" anchor="t"/>
          <a:lstStyle/>
          <a:p>
            <a:pPr indent="0" marL="0">
              <a:buNone/>
            </a:pPr>
            <a:r>
              <a:rPr lang="en-US" sz="1050" b="1" dirty="0">
                <a:solidFill>
                  <a:schemeClr val="accent4"/>
                </a:solidFill>
              </a:rPr>
              <a:t>Implemented</a:t>
            </a:r>
            <a:endParaRPr lang="en-US" sz="1050" dirty="0"/>
          </a:p>
        </p:txBody>
      </p:sp>
      <p:sp>
        <p:nvSpPr>
          <p:cNvPr id="29" name="panel-116"/>
          <p:cNvSpPr/>
          <p:nvPr/>
        </p:nvSpPr>
        <p:spPr>
          <a:xfrm>
            <a:off x="3363392" y="3081528"/>
            <a:ext cx="2650160" cy="1481328"/>
          </a:xfrm>
          <a:prstGeom prst="roundRect">
            <a:avLst>
              <a:gd name="adj" fmla="val 4938"/>
            </a:avLst>
          </a:prstGeom>
          <a:solidFill>
            <a:srgbClr val="0F1830">
              <a:alpha val="92000"/>
            </a:srgbClr>
          </a:solidFill>
          <a:ln w="12700">
            <a:solidFill>
              <a:srgbClr val="22324F"/>
            </a:solidFill>
            <a:prstDash val="solid"/>
          </a:ln>
        </p:spPr>
      </p:sp>
      <p:sp>
        <p:nvSpPr>
          <p:cNvPr id="30" name="text-117"/>
          <p:cNvSpPr txBox="1"/>
          <p:nvPr/>
        </p:nvSpPr>
        <p:spPr>
          <a:xfrm>
            <a:off x="3527984" y="3218688"/>
            <a:ext cx="2320976" cy="274320"/>
          </a:xfrm>
          <a:prstGeom prst="rect">
            <a:avLst/>
          </a:prstGeom>
          <a:noFill/>
          <a:ln/>
        </p:spPr>
        <p:txBody>
          <a:bodyPr wrap="square" lIns="0" tIns="0" rIns="0" bIns="0" rtlCol="0" anchor="t"/>
          <a:lstStyle/>
          <a:p>
            <a:pPr indent="0" marL="0">
              <a:buNone/>
            </a:pPr>
            <a:r>
              <a:rPr lang="en-US" sz="1400" b="1" dirty="0">
                <a:solidFill>
                  <a:schemeClr val="bg2"/>
                </a:solidFill>
                <a:latin typeface="Arial" pitchFamily="34" charset="0"/>
                <a:ea typeface="Arial" pitchFamily="34" charset="-122"/>
                <a:cs typeface="Arial" pitchFamily="34" charset="-120"/>
              </a:rPr>
              <a:t>EVIDENCE REPORT</a:t>
            </a:r>
            <a:endParaRPr lang="en-US" sz="1400" dirty="0"/>
          </a:p>
        </p:txBody>
      </p:sp>
      <p:sp>
        <p:nvSpPr>
          <p:cNvPr id="31" name="text-118"/>
          <p:cNvSpPr txBox="1"/>
          <p:nvPr/>
        </p:nvSpPr>
        <p:spPr>
          <a:xfrm>
            <a:off x="3527984" y="3511296"/>
            <a:ext cx="2320976" cy="731520"/>
          </a:xfrm>
          <a:prstGeom prst="rect">
            <a:avLst/>
          </a:prstGeom>
          <a:noFill/>
          <a:ln/>
        </p:spPr>
        <p:txBody>
          <a:bodyPr wrap="square" lIns="0" tIns="0" rIns="0" bIns="0" rtlCol="0" anchor="t"/>
          <a:lstStyle/>
          <a:p>
            <a:pPr indent="0" marL="0">
              <a:buNone/>
            </a:pPr>
            <a:r>
              <a:rPr lang="en-US" sz="1100" dirty="0">
                <a:solidFill>
                  <a:schemeClr val="accent6"/>
                </a:solidFill>
              </a:rPr>
              <a:t>Redacted timeline and reasoning; exported after review, never sent anywhere.</a:t>
            </a:r>
            <a:endParaRPr lang="en-US" sz="1100" dirty="0"/>
          </a:p>
        </p:txBody>
      </p:sp>
      <p:sp>
        <p:nvSpPr>
          <p:cNvPr id="32" name="dot-119"/>
          <p:cNvSpPr/>
          <p:nvPr/>
        </p:nvSpPr>
        <p:spPr>
          <a:xfrm>
            <a:off x="3527984" y="4279392"/>
            <a:ext cx="109728" cy="109728"/>
          </a:xfrm>
          <a:prstGeom prst="ellipse">
            <a:avLst/>
          </a:prstGeom>
          <a:solidFill>
            <a:srgbClr val="5CEBB0"/>
          </a:solidFill>
          <a:ln/>
        </p:spPr>
      </p:sp>
      <p:sp>
        <p:nvSpPr>
          <p:cNvPr id="33" name="text-120"/>
          <p:cNvSpPr txBox="1"/>
          <p:nvPr/>
        </p:nvSpPr>
        <p:spPr>
          <a:xfrm>
            <a:off x="3710864" y="4233672"/>
            <a:ext cx="2192960" cy="228600"/>
          </a:xfrm>
          <a:prstGeom prst="rect">
            <a:avLst/>
          </a:prstGeom>
          <a:noFill/>
          <a:ln/>
        </p:spPr>
        <p:txBody>
          <a:bodyPr wrap="square" lIns="0" tIns="0" rIns="0" bIns="0" rtlCol="0" anchor="t"/>
          <a:lstStyle/>
          <a:p>
            <a:pPr indent="0" marL="0">
              <a:buNone/>
            </a:pPr>
            <a:r>
              <a:rPr lang="en-US" sz="1050" b="1" dirty="0">
                <a:solidFill>
                  <a:schemeClr val="accent4"/>
                </a:solidFill>
              </a:rPr>
              <a:t>Implemented</a:t>
            </a:r>
            <a:endParaRPr lang="en-US" sz="1050" dirty="0"/>
          </a:p>
        </p:txBody>
      </p:sp>
      <p:sp>
        <p:nvSpPr>
          <p:cNvPr id="34" name="panel-121"/>
          <p:cNvSpPr/>
          <p:nvPr/>
        </p:nvSpPr>
        <p:spPr>
          <a:xfrm>
            <a:off x="6178144" y="3081528"/>
            <a:ext cx="2650160" cy="1481328"/>
          </a:xfrm>
          <a:prstGeom prst="roundRect">
            <a:avLst>
              <a:gd name="adj" fmla="val 4938"/>
            </a:avLst>
          </a:prstGeom>
          <a:solidFill>
            <a:srgbClr val="0F1830">
              <a:alpha val="92000"/>
            </a:srgbClr>
          </a:solidFill>
          <a:ln w="12700">
            <a:solidFill>
              <a:srgbClr val="22324F"/>
            </a:solidFill>
            <a:prstDash val="solid"/>
          </a:ln>
        </p:spPr>
      </p:sp>
      <p:sp>
        <p:nvSpPr>
          <p:cNvPr id="35" name="text-122"/>
          <p:cNvSpPr txBox="1"/>
          <p:nvPr/>
        </p:nvSpPr>
        <p:spPr>
          <a:xfrm>
            <a:off x="6342736" y="3218688"/>
            <a:ext cx="2320976" cy="274320"/>
          </a:xfrm>
          <a:prstGeom prst="rect">
            <a:avLst/>
          </a:prstGeom>
          <a:noFill/>
          <a:ln/>
        </p:spPr>
        <p:txBody>
          <a:bodyPr wrap="square" lIns="0" tIns="0" rIns="0" bIns="0" rtlCol="0" anchor="t"/>
          <a:lstStyle/>
          <a:p>
            <a:pPr indent="0" marL="0">
              <a:buNone/>
            </a:pPr>
            <a:r>
              <a:rPr lang="en-US" sz="1400" b="1" dirty="0">
                <a:solidFill>
                  <a:schemeClr val="bg2"/>
                </a:solidFill>
                <a:latin typeface="Arial" pitchFamily="34" charset="0"/>
                <a:ea typeface="Arial" pitchFamily="34" charset="-122"/>
                <a:cs typeface="Arial" pitchFamily="34" charset="-120"/>
              </a:rPr>
              <a:t>GUARDIAN SHIELD</a:t>
            </a:r>
            <a:endParaRPr lang="en-US" sz="1400" dirty="0"/>
          </a:p>
        </p:txBody>
      </p:sp>
      <p:sp>
        <p:nvSpPr>
          <p:cNvPr id="36" name="text-123"/>
          <p:cNvSpPr txBox="1"/>
          <p:nvPr/>
        </p:nvSpPr>
        <p:spPr>
          <a:xfrm>
            <a:off x="6342736" y="3511296"/>
            <a:ext cx="2320976" cy="731520"/>
          </a:xfrm>
          <a:prstGeom prst="rect">
            <a:avLst/>
          </a:prstGeom>
          <a:noFill/>
          <a:ln/>
        </p:spPr>
        <p:txBody>
          <a:bodyPr wrap="square" lIns="0" tIns="0" rIns="0" bIns="0" rtlCol="0" anchor="t"/>
          <a:lstStyle/>
          <a:p>
            <a:pPr indent="0" marL="0">
              <a:buNone/>
            </a:pPr>
            <a:r>
              <a:rPr lang="en-US" sz="1100" dirty="0">
                <a:solidFill>
                  <a:schemeClr val="accent6"/>
                </a:solidFill>
              </a:rPr>
              <a:t>Chrome MV3 extension: check a selection or link; warning page; opt-in link guard.</a:t>
            </a:r>
            <a:endParaRPr lang="en-US" sz="1100" dirty="0"/>
          </a:p>
        </p:txBody>
      </p:sp>
      <p:sp>
        <p:nvSpPr>
          <p:cNvPr id="37" name="dot-124"/>
          <p:cNvSpPr/>
          <p:nvPr/>
        </p:nvSpPr>
        <p:spPr>
          <a:xfrm>
            <a:off x="6342736" y="4279392"/>
            <a:ext cx="109728" cy="109728"/>
          </a:xfrm>
          <a:prstGeom prst="ellipse">
            <a:avLst/>
          </a:prstGeom>
          <a:solidFill>
            <a:srgbClr val="FFB84D"/>
          </a:solidFill>
          <a:ln/>
        </p:spPr>
      </p:sp>
      <p:sp>
        <p:nvSpPr>
          <p:cNvPr id="38" name="text-125"/>
          <p:cNvSpPr txBox="1"/>
          <p:nvPr/>
        </p:nvSpPr>
        <p:spPr>
          <a:xfrm>
            <a:off x="6525616" y="4233672"/>
            <a:ext cx="2192960" cy="228600"/>
          </a:xfrm>
          <a:prstGeom prst="rect">
            <a:avLst/>
          </a:prstGeom>
          <a:noFill/>
          <a:ln/>
        </p:spPr>
        <p:txBody>
          <a:bodyPr wrap="square" lIns="0" tIns="0" rIns="0" bIns="0" rtlCol="0" anchor="t"/>
          <a:lstStyle/>
          <a:p>
            <a:pPr indent="0" marL="0">
              <a:buNone/>
            </a:pPr>
            <a:r>
              <a:rPr lang="en-US" sz="1050" b="1" dirty="0">
                <a:solidFill>
                  <a:schemeClr val="accent5"/>
                </a:solidFill>
              </a:rPr>
              <a:t>Real-browser run not verified</a:t>
            </a:r>
            <a:endParaRPr lang="en-US" sz="1050" dirty="0"/>
          </a:p>
        </p:txBody>
      </p:sp>
      <p:sp>
        <p:nvSpPr>
          <p:cNvPr id="39" name="panel-126"/>
          <p:cNvSpPr/>
          <p:nvPr/>
        </p:nvSpPr>
        <p:spPr>
          <a:xfrm>
            <a:off x="8992895" y="3081528"/>
            <a:ext cx="2650160" cy="1481328"/>
          </a:xfrm>
          <a:prstGeom prst="roundRect">
            <a:avLst>
              <a:gd name="adj" fmla="val 4938"/>
            </a:avLst>
          </a:prstGeom>
          <a:solidFill>
            <a:srgbClr val="0F1830">
              <a:alpha val="92000"/>
            </a:srgbClr>
          </a:solidFill>
          <a:ln w="12700">
            <a:solidFill>
              <a:srgbClr val="22324F"/>
            </a:solidFill>
            <a:prstDash val="solid"/>
          </a:ln>
        </p:spPr>
      </p:sp>
      <p:sp>
        <p:nvSpPr>
          <p:cNvPr id="40" name="text-127"/>
          <p:cNvSpPr txBox="1"/>
          <p:nvPr/>
        </p:nvSpPr>
        <p:spPr>
          <a:xfrm>
            <a:off x="9157487" y="3218688"/>
            <a:ext cx="2320976" cy="274320"/>
          </a:xfrm>
          <a:prstGeom prst="rect">
            <a:avLst/>
          </a:prstGeom>
          <a:noFill/>
          <a:ln/>
        </p:spPr>
        <p:txBody>
          <a:bodyPr wrap="square" lIns="0" tIns="0" rIns="0" bIns="0" rtlCol="0" anchor="t"/>
          <a:lstStyle/>
          <a:p>
            <a:pPr indent="0" marL="0">
              <a:buNone/>
            </a:pPr>
            <a:r>
              <a:rPr lang="en-US" sz="1400" b="1" dirty="0">
                <a:solidFill>
                  <a:schemeClr val="bg2"/>
                </a:solidFill>
                <a:latin typeface="Arial" pitchFamily="34" charset="0"/>
                <a:ea typeface="Arial" pitchFamily="34" charset="-122"/>
                <a:cs typeface="Arial" pitchFamily="34" charset="-120"/>
              </a:rPr>
              <a:t>TRUSTED CONTACTS</a:t>
            </a:r>
            <a:endParaRPr lang="en-US" sz="1400" dirty="0"/>
          </a:p>
        </p:txBody>
      </p:sp>
      <p:sp>
        <p:nvSpPr>
          <p:cNvPr id="41" name="text-128"/>
          <p:cNvSpPr txBox="1"/>
          <p:nvPr/>
        </p:nvSpPr>
        <p:spPr>
          <a:xfrm>
            <a:off x="9157487" y="3511296"/>
            <a:ext cx="2320976" cy="731520"/>
          </a:xfrm>
          <a:prstGeom prst="rect">
            <a:avLst/>
          </a:prstGeom>
          <a:noFill/>
          <a:ln/>
        </p:spPr>
        <p:txBody>
          <a:bodyPr wrap="square" lIns="0" tIns="0" rIns="0" bIns="0" rtlCol="0" anchor="t"/>
          <a:lstStyle/>
          <a:p>
            <a:pPr indent="0" marL="0">
              <a:buNone/>
            </a:pPr>
            <a:r>
              <a:rPr lang="en-US" sz="1100" dirty="0">
                <a:solidFill>
                  <a:schemeClr val="accent6"/>
                </a:solidFill>
              </a:rPr>
              <a:t>Two-sided consent before a contact can receive an alert the user sends.</a:t>
            </a:r>
            <a:endParaRPr lang="en-US" sz="1100" dirty="0"/>
          </a:p>
        </p:txBody>
      </p:sp>
      <p:sp>
        <p:nvSpPr>
          <p:cNvPr id="42" name="dot-129"/>
          <p:cNvSpPr/>
          <p:nvPr/>
        </p:nvSpPr>
        <p:spPr>
          <a:xfrm>
            <a:off x="9157487" y="4279392"/>
            <a:ext cx="109728" cy="109728"/>
          </a:xfrm>
          <a:prstGeom prst="ellipse">
            <a:avLst/>
          </a:prstGeom>
          <a:solidFill>
            <a:srgbClr val="5CEBB0"/>
          </a:solidFill>
          <a:ln/>
        </p:spPr>
      </p:sp>
      <p:sp>
        <p:nvSpPr>
          <p:cNvPr id="43" name="text-130"/>
          <p:cNvSpPr txBox="1"/>
          <p:nvPr/>
        </p:nvSpPr>
        <p:spPr>
          <a:xfrm>
            <a:off x="9340367" y="4233672"/>
            <a:ext cx="2192960" cy="228600"/>
          </a:xfrm>
          <a:prstGeom prst="rect">
            <a:avLst/>
          </a:prstGeom>
          <a:noFill/>
          <a:ln/>
        </p:spPr>
        <p:txBody>
          <a:bodyPr wrap="square" lIns="0" tIns="0" rIns="0" bIns="0" rtlCol="0" anchor="t"/>
          <a:lstStyle/>
          <a:p>
            <a:pPr indent="0" marL="0">
              <a:buNone/>
            </a:pPr>
            <a:r>
              <a:rPr lang="en-US" sz="1050" b="1" dirty="0">
                <a:solidFill>
                  <a:schemeClr val="accent4"/>
                </a:solidFill>
              </a:rPr>
              <a:t>Implemented</a:t>
            </a:r>
            <a:endParaRPr lang="en-US" sz="1050" dirty="0"/>
          </a:p>
        </p:txBody>
      </p:sp>
      <p:pic>
        <p:nvPicPr>
          <p:cNvPr id="44" name="forensics-131" descr="Scam Forensics screenshot (DEMO DATA)">    </p:cNvPr>
          <p:cNvPicPr>
            <a:picLocks noChangeAspect="1"/>
          </p:cNvPicPr>
          <p:nvPr/>
        </p:nvPicPr>
        <p:blipFill>
          <a:blip r:embed="rId1"/>
          <a:stretch>
            <a:fillRect/>
          </a:stretch>
        </p:blipFill>
        <p:spPr>
          <a:xfrm>
            <a:off x="548640" y="4745736"/>
            <a:ext cx="2650160" cy="1656350"/>
          </a:xfrm>
          <a:prstGeom prst="rect">
            <a:avLst/>
          </a:prstGeom>
        </p:spPr>
      </p:pic>
      <p:sp>
        <p:nvSpPr>
          <p:cNvPr id="45" name="frame-132"/>
          <p:cNvSpPr/>
          <p:nvPr/>
        </p:nvSpPr>
        <p:spPr>
          <a:xfrm>
            <a:off x="548640" y="4745736"/>
            <a:ext cx="2650160" cy="1656350"/>
          </a:xfrm>
          <a:prstGeom prst="roundRect">
            <a:avLst>
              <a:gd name="adj" fmla="val 3312"/>
            </a:avLst>
          </a:prstGeom>
          <a:ln w="12700">
            <a:solidFill>
              <a:srgbClr val="22324F"/>
            </a:solidFill>
            <a:prstDash val="solid"/>
          </a:ln>
        </p:spPr>
      </p:sp>
      <p:sp>
        <p:nvSpPr>
          <p:cNvPr id="46" name="text-133"/>
          <p:cNvSpPr txBox="1"/>
          <p:nvPr/>
        </p:nvSpPr>
        <p:spPr>
          <a:xfrm>
            <a:off x="548640" y="6447806"/>
            <a:ext cx="2650160" cy="228600"/>
          </a:xfrm>
          <a:prstGeom prst="rect">
            <a:avLst/>
          </a:prstGeom>
          <a:noFill/>
          <a:ln/>
        </p:spPr>
        <p:txBody>
          <a:bodyPr wrap="square" lIns="0" tIns="0" rIns="0" bIns="0" rtlCol="0" anchor="t"/>
          <a:lstStyle/>
          <a:p>
            <a:pPr indent="0" marL="0">
              <a:buNone/>
            </a:pPr>
            <a:r>
              <a:rPr lang="en-US" sz="1000" dirty="0">
                <a:solidFill>
                  <a:schemeClr val="accent6"/>
                </a:solidFill>
              </a:rPr>
              <a:t>Scam Forensics</a:t>
            </a:r>
            <a:endParaRPr lang="en-US" sz="1000" dirty="0"/>
          </a:p>
        </p:txBody>
      </p:sp>
      <p:pic>
        <p:nvPicPr>
          <p:cNvPr id="47" name="campaign-radar-134" descr="Campaign Radar screenshot (DEMO DATA)">    </p:cNvPr>
          <p:cNvPicPr>
            <a:picLocks noChangeAspect="1"/>
          </p:cNvPicPr>
          <p:nvPr/>
        </p:nvPicPr>
        <p:blipFill>
          <a:blip r:embed="rId2"/>
          <a:stretch>
            <a:fillRect/>
          </a:stretch>
        </p:blipFill>
        <p:spPr>
          <a:xfrm>
            <a:off x="3363392" y="4745736"/>
            <a:ext cx="2650160" cy="1656350"/>
          </a:xfrm>
          <a:prstGeom prst="rect">
            <a:avLst/>
          </a:prstGeom>
        </p:spPr>
      </p:pic>
      <p:sp>
        <p:nvSpPr>
          <p:cNvPr id="48" name="frame-135"/>
          <p:cNvSpPr/>
          <p:nvPr/>
        </p:nvSpPr>
        <p:spPr>
          <a:xfrm>
            <a:off x="3363392" y="4745736"/>
            <a:ext cx="2650160" cy="1656350"/>
          </a:xfrm>
          <a:prstGeom prst="roundRect">
            <a:avLst>
              <a:gd name="adj" fmla="val 3312"/>
            </a:avLst>
          </a:prstGeom>
          <a:ln w="12700">
            <a:solidFill>
              <a:srgbClr val="22324F"/>
            </a:solidFill>
            <a:prstDash val="solid"/>
          </a:ln>
        </p:spPr>
      </p:sp>
      <p:sp>
        <p:nvSpPr>
          <p:cNvPr id="49" name="text-136"/>
          <p:cNvSpPr txBox="1"/>
          <p:nvPr/>
        </p:nvSpPr>
        <p:spPr>
          <a:xfrm>
            <a:off x="3363392" y="6447806"/>
            <a:ext cx="2650160" cy="228600"/>
          </a:xfrm>
          <a:prstGeom prst="rect">
            <a:avLst/>
          </a:prstGeom>
          <a:noFill/>
          <a:ln/>
        </p:spPr>
        <p:txBody>
          <a:bodyPr wrap="square" lIns="0" tIns="0" rIns="0" bIns="0" rtlCol="0" anchor="t"/>
          <a:lstStyle/>
          <a:p>
            <a:pPr indent="0" marL="0">
              <a:buNone/>
            </a:pPr>
            <a:r>
              <a:rPr lang="en-US" sz="1000" dirty="0">
                <a:solidFill>
                  <a:schemeClr val="accent6"/>
                </a:solidFill>
              </a:rPr>
              <a:t>Campaign Radar</a:t>
            </a:r>
            <a:endParaRPr lang="en-US" sz="1000" dirty="0"/>
          </a:p>
        </p:txBody>
      </p:sp>
      <p:pic>
        <p:nvPicPr>
          <p:cNvPr id="50" name="evidence-report-137" descr="Evidence report screenshot (DEMO DATA)">    </p:cNvPr>
          <p:cNvPicPr>
            <a:picLocks noChangeAspect="1"/>
          </p:cNvPicPr>
          <p:nvPr/>
        </p:nvPicPr>
        <p:blipFill>
          <a:blip r:embed="rId3"/>
          <a:stretch>
            <a:fillRect/>
          </a:stretch>
        </p:blipFill>
        <p:spPr>
          <a:xfrm>
            <a:off x="6178144" y="4745736"/>
            <a:ext cx="2650160" cy="1656350"/>
          </a:xfrm>
          <a:prstGeom prst="rect">
            <a:avLst/>
          </a:prstGeom>
        </p:spPr>
      </p:pic>
      <p:sp>
        <p:nvSpPr>
          <p:cNvPr id="51" name="frame-138"/>
          <p:cNvSpPr/>
          <p:nvPr/>
        </p:nvSpPr>
        <p:spPr>
          <a:xfrm>
            <a:off x="6178144" y="4745736"/>
            <a:ext cx="2650160" cy="1656350"/>
          </a:xfrm>
          <a:prstGeom prst="roundRect">
            <a:avLst>
              <a:gd name="adj" fmla="val 3312"/>
            </a:avLst>
          </a:prstGeom>
          <a:ln w="12700">
            <a:solidFill>
              <a:srgbClr val="22324F"/>
            </a:solidFill>
            <a:prstDash val="solid"/>
          </a:ln>
        </p:spPr>
      </p:sp>
      <p:sp>
        <p:nvSpPr>
          <p:cNvPr id="52" name="text-139"/>
          <p:cNvSpPr txBox="1"/>
          <p:nvPr/>
        </p:nvSpPr>
        <p:spPr>
          <a:xfrm>
            <a:off x="6178144" y="6447806"/>
            <a:ext cx="2650160" cy="228600"/>
          </a:xfrm>
          <a:prstGeom prst="rect">
            <a:avLst/>
          </a:prstGeom>
          <a:noFill/>
          <a:ln/>
        </p:spPr>
        <p:txBody>
          <a:bodyPr wrap="square" lIns="0" tIns="0" rIns="0" bIns="0" rtlCol="0" anchor="t"/>
          <a:lstStyle/>
          <a:p>
            <a:pPr indent="0" marL="0">
              <a:buNone/>
            </a:pPr>
            <a:r>
              <a:rPr lang="en-US" sz="1000" dirty="0">
                <a:solidFill>
                  <a:schemeClr val="accent6"/>
                </a:solidFill>
              </a:rPr>
              <a:t>Evidence report</a:t>
            </a:r>
            <a:endParaRPr lang="en-US" sz="1000" dirty="0"/>
          </a:p>
        </p:txBody>
      </p:sp>
      <p:pic>
        <p:nvPicPr>
          <p:cNvPr id="53" name="guardian-shield-page-140" descr="Browser protection page screenshot (DEMO DATA)">    </p:cNvPr>
          <p:cNvPicPr>
            <a:picLocks noChangeAspect="1"/>
          </p:cNvPicPr>
          <p:nvPr/>
        </p:nvPicPr>
        <p:blipFill>
          <a:blip r:embed="rId4"/>
          <a:stretch>
            <a:fillRect/>
          </a:stretch>
        </p:blipFill>
        <p:spPr>
          <a:xfrm>
            <a:off x="8992895" y="4745736"/>
            <a:ext cx="2650160" cy="1656350"/>
          </a:xfrm>
          <a:prstGeom prst="rect">
            <a:avLst/>
          </a:prstGeom>
        </p:spPr>
      </p:pic>
      <p:sp>
        <p:nvSpPr>
          <p:cNvPr id="54" name="frame-141"/>
          <p:cNvSpPr/>
          <p:nvPr/>
        </p:nvSpPr>
        <p:spPr>
          <a:xfrm>
            <a:off x="8992895" y="4745736"/>
            <a:ext cx="2650160" cy="1656350"/>
          </a:xfrm>
          <a:prstGeom prst="roundRect">
            <a:avLst>
              <a:gd name="adj" fmla="val 3312"/>
            </a:avLst>
          </a:prstGeom>
          <a:ln w="12700">
            <a:solidFill>
              <a:srgbClr val="22324F"/>
            </a:solidFill>
            <a:prstDash val="solid"/>
          </a:ln>
        </p:spPr>
      </p:sp>
      <p:sp>
        <p:nvSpPr>
          <p:cNvPr id="55" name="text-142"/>
          <p:cNvSpPr txBox="1"/>
          <p:nvPr/>
        </p:nvSpPr>
        <p:spPr>
          <a:xfrm>
            <a:off x="8992895" y="6447806"/>
            <a:ext cx="2650160" cy="228600"/>
          </a:xfrm>
          <a:prstGeom prst="rect">
            <a:avLst/>
          </a:prstGeom>
          <a:noFill/>
          <a:ln/>
        </p:spPr>
        <p:txBody>
          <a:bodyPr wrap="square" lIns="0" tIns="0" rIns="0" bIns="0" rtlCol="0" anchor="t"/>
          <a:lstStyle/>
          <a:p>
            <a:pPr indent="0" marL="0">
              <a:buNone/>
            </a:pPr>
            <a:r>
              <a:rPr lang="en-US" sz="1000" dirty="0">
                <a:solidFill>
                  <a:schemeClr val="accent6"/>
                </a:solidFill>
              </a:rPr>
              <a:t>Browser protection page</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300" kern="0" dirty="0">
                <a:solidFill>
                  <a:schemeClr val="accent1"/>
                </a:solidFill>
              </a:rPr>
              <a:t>06 · DETECTION AND DECISIONING</a:t>
            </a:r>
            <a:endParaRPr lang="en-US" sz="1100" dirty="0"/>
          </a:p>
        </p:txBody>
      </p:sp>
      <p:sp>
        <p:nvSpPr>
          <p:cNvPr id="3" name="Text 0"/>
          <p:cNvSpPr/>
          <p:nvPr>
            <p:ph idx="101" type="title" hasCustomPrompt="1"/>
          </p:nvPr>
        </p:nvSpPr>
        <p:spPr>
          <a:xfrm>
            <a:off x="548640" y="566928"/>
            <a:ext cx="11094415" cy="731520"/>
          </a:xfrm>
          <a:prstGeom prst="rect">
            <a:avLst/>
          </a:prstGeom>
          <a:noFill/>
          <a:ln/>
        </p:spPr>
        <p:txBody>
          <a:bodyPr wrap="square" lIns="0" tIns="0" rIns="0" bIns="0" rtlCol="0" anchor="t"/>
          <a:lstStyle/>
          <a:p>
            <a:pPr indent="0" marL="0">
              <a:buNone/>
            </a:pPr>
            <a:r>
              <a:rPr lang="en-US" sz="3200" b="1" dirty="0">
                <a:solidFill>
                  <a:schemeClr val="bg2"/>
                </a:solidFill>
                <a:latin typeface="Arial" pitchFamily="34" charset="0"/>
                <a:ea typeface="Arial" pitchFamily="34" charset="-122"/>
                <a:cs typeface="Arial" pitchFamily="34" charset="-120"/>
              </a:rPr>
              <a:t>From evidence to one useful alert</a:t>
            </a:r>
            <a:endParaRPr lang="en-US" sz="3200" dirty="0"/>
          </a:p>
        </p:txBody>
      </p:sp>
      <p:sp>
        <p:nvSpPr>
          <p:cNvPr id="4" name="panel-143"/>
          <p:cNvSpPr/>
          <p:nvPr/>
        </p:nvSpPr>
        <p:spPr>
          <a:xfrm>
            <a:off x="548640" y="1463040"/>
            <a:ext cx="2057949" cy="1874520"/>
          </a:xfrm>
          <a:prstGeom prst="roundRect">
            <a:avLst>
              <a:gd name="adj" fmla="val 3902"/>
            </a:avLst>
          </a:prstGeom>
          <a:solidFill>
            <a:srgbClr val="0F1830">
              <a:alpha val="92000"/>
            </a:srgbClr>
          </a:solidFill>
          <a:ln w="12700">
            <a:solidFill>
              <a:srgbClr val="22324F"/>
            </a:solidFill>
            <a:prstDash val="solid"/>
          </a:ln>
        </p:spPr>
      </p:sp>
      <p:sp>
        <p:nvSpPr>
          <p:cNvPr id="5" name="text-144"/>
          <p:cNvSpPr txBox="1"/>
          <p:nvPr/>
        </p:nvSpPr>
        <p:spPr>
          <a:xfrm>
            <a:off x="713232" y="1600200"/>
            <a:ext cx="548640" cy="228600"/>
          </a:xfrm>
          <a:prstGeom prst="rect">
            <a:avLst/>
          </a:prstGeom>
          <a:noFill/>
          <a:ln/>
        </p:spPr>
        <p:txBody>
          <a:bodyPr wrap="square" lIns="0" tIns="0" rIns="0" bIns="0" rtlCol="0" anchor="t"/>
          <a:lstStyle/>
          <a:p>
            <a:pPr indent="0" marL="0">
              <a:buNone/>
            </a:pPr>
            <a:r>
              <a:rPr lang="en-US" sz="1100" b="1" dirty="0">
                <a:solidFill>
                  <a:schemeClr val="accent1"/>
                </a:solidFill>
              </a:rPr>
              <a:t>01</a:t>
            </a:r>
            <a:endParaRPr lang="en-US" sz="1100" dirty="0"/>
          </a:p>
        </p:txBody>
      </p:sp>
      <p:sp>
        <p:nvSpPr>
          <p:cNvPr id="6" name="text-145"/>
          <p:cNvSpPr txBox="1"/>
          <p:nvPr/>
        </p:nvSpPr>
        <p:spPr>
          <a:xfrm>
            <a:off x="713232" y="1847088"/>
            <a:ext cx="1728765" cy="320040"/>
          </a:xfrm>
          <a:prstGeom prst="rect">
            <a:avLst/>
          </a:prstGeom>
          <a:noFill/>
          <a:ln/>
        </p:spPr>
        <p:txBody>
          <a:bodyPr wrap="square" lIns="0" tIns="0" rIns="0" bIns="0" rtlCol="0" anchor="t"/>
          <a:lstStyle/>
          <a:p>
            <a:pPr indent="0" marL="0">
              <a:buNone/>
            </a:pPr>
            <a:r>
              <a:rPr lang="en-US" sz="1500" b="1" dirty="0">
                <a:solidFill>
                  <a:schemeClr val="bg2"/>
                </a:solidFill>
              </a:rPr>
              <a:t>Ingest and redact</a:t>
            </a:r>
            <a:endParaRPr lang="en-US" sz="1500" dirty="0"/>
          </a:p>
        </p:txBody>
      </p:sp>
      <p:sp>
        <p:nvSpPr>
          <p:cNvPr id="7" name="text-146"/>
          <p:cNvSpPr txBox="1"/>
          <p:nvPr/>
        </p:nvSpPr>
        <p:spPr>
          <a:xfrm>
            <a:off x="713232" y="2212848"/>
            <a:ext cx="1728765" cy="1051560"/>
          </a:xfrm>
          <a:prstGeom prst="rect">
            <a:avLst/>
          </a:prstGeom>
          <a:noFill/>
          <a:ln/>
        </p:spPr>
        <p:txBody>
          <a:bodyPr wrap="square" lIns="0" tIns="0" rIns="0" bIns="0" rtlCol="0" anchor="t"/>
          <a:lstStyle/>
          <a:p>
            <a:pPr indent="0" marL="0">
              <a:buNone/>
            </a:pPr>
            <a:r>
              <a:rPr lang="en-US" sz="1150" dirty="0">
                <a:solidFill>
                  <a:schemeClr val="accent6"/>
                </a:solidFill>
              </a:rPr>
              <a:t>Codes, phones, e-mails and card numbers removed; phones and UPI IDs compared as keyed hashes.</a:t>
            </a:r>
            <a:endParaRPr lang="en-US" sz="1150" dirty="0"/>
          </a:p>
        </p:txBody>
      </p:sp>
      <p:sp>
        <p:nvSpPr>
          <p:cNvPr id="8" name="chev-147"/>
          <p:cNvSpPr/>
          <p:nvPr/>
        </p:nvSpPr>
        <p:spPr>
          <a:xfrm>
            <a:off x="2652309" y="2286000"/>
            <a:ext cx="109728" cy="201168"/>
          </a:xfrm>
          <a:prstGeom prst="chevron">
            <a:avLst/>
          </a:prstGeom>
          <a:solidFill>
            <a:srgbClr val="3EE6FF"/>
          </a:solidFill>
          <a:ln/>
        </p:spPr>
      </p:sp>
      <p:sp>
        <p:nvSpPr>
          <p:cNvPr id="9" name="panel-148"/>
          <p:cNvSpPr/>
          <p:nvPr/>
        </p:nvSpPr>
        <p:spPr>
          <a:xfrm>
            <a:off x="2807757" y="1463040"/>
            <a:ext cx="2057949" cy="1874520"/>
          </a:xfrm>
          <a:prstGeom prst="roundRect">
            <a:avLst>
              <a:gd name="adj" fmla="val 3902"/>
            </a:avLst>
          </a:prstGeom>
          <a:solidFill>
            <a:srgbClr val="0F1830">
              <a:alpha val="92000"/>
            </a:srgbClr>
          </a:solidFill>
          <a:ln w="12700">
            <a:solidFill>
              <a:srgbClr val="22324F"/>
            </a:solidFill>
            <a:prstDash val="solid"/>
          </a:ln>
        </p:spPr>
      </p:sp>
      <p:sp>
        <p:nvSpPr>
          <p:cNvPr id="10" name="text-149"/>
          <p:cNvSpPr txBox="1"/>
          <p:nvPr/>
        </p:nvSpPr>
        <p:spPr>
          <a:xfrm>
            <a:off x="2972349" y="1600200"/>
            <a:ext cx="548640" cy="228600"/>
          </a:xfrm>
          <a:prstGeom prst="rect">
            <a:avLst/>
          </a:prstGeom>
          <a:noFill/>
          <a:ln/>
        </p:spPr>
        <p:txBody>
          <a:bodyPr wrap="square" lIns="0" tIns="0" rIns="0" bIns="0" rtlCol="0" anchor="t"/>
          <a:lstStyle/>
          <a:p>
            <a:pPr indent="0" marL="0">
              <a:buNone/>
            </a:pPr>
            <a:r>
              <a:rPr lang="en-US" sz="1100" b="1" dirty="0">
                <a:solidFill>
                  <a:schemeClr val="accent1"/>
                </a:solidFill>
              </a:rPr>
              <a:t>02</a:t>
            </a:r>
            <a:endParaRPr lang="en-US" sz="1100" dirty="0"/>
          </a:p>
        </p:txBody>
      </p:sp>
      <p:sp>
        <p:nvSpPr>
          <p:cNvPr id="11" name="text-150"/>
          <p:cNvSpPr txBox="1"/>
          <p:nvPr/>
        </p:nvSpPr>
        <p:spPr>
          <a:xfrm>
            <a:off x="2972349" y="1847088"/>
            <a:ext cx="1728765" cy="320040"/>
          </a:xfrm>
          <a:prstGeom prst="rect">
            <a:avLst/>
          </a:prstGeom>
          <a:noFill/>
          <a:ln/>
        </p:spPr>
        <p:txBody>
          <a:bodyPr wrap="square" lIns="0" tIns="0" rIns="0" bIns="0" rtlCol="0" anchor="t"/>
          <a:lstStyle/>
          <a:p>
            <a:pPr indent="0" marL="0">
              <a:buNone/>
            </a:pPr>
            <a:r>
              <a:rPr lang="en-US" sz="1500" b="1" dirty="0">
                <a:solidFill>
                  <a:schemeClr val="bg2"/>
                </a:solidFill>
              </a:rPr>
              <a:t>Extract</a:t>
            </a:r>
            <a:endParaRPr lang="en-US" sz="1500" dirty="0"/>
          </a:p>
        </p:txBody>
      </p:sp>
      <p:sp>
        <p:nvSpPr>
          <p:cNvPr id="12" name="text-151"/>
          <p:cNvSpPr txBox="1"/>
          <p:nvPr/>
        </p:nvSpPr>
        <p:spPr>
          <a:xfrm>
            <a:off x="2972349" y="2212848"/>
            <a:ext cx="1728765" cy="1051560"/>
          </a:xfrm>
          <a:prstGeom prst="rect">
            <a:avLst/>
          </a:prstGeom>
          <a:noFill/>
          <a:ln/>
        </p:spPr>
        <p:txBody>
          <a:bodyPr wrap="square" lIns="0" tIns="0" rIns="0" bIns="0" rtlCol="0" anchor="t"/>
          <a:lstStyle/>
          <a:p>
            <a:pPr indent="0" marL="0">
              <a:buNone/>
            </a:pPr>
            <a:r>
              <a:rPr lang="en-US" sz="1150" dirty="0">
                <a:solidFill>
                  <a:schemeClr val="accent6"/>
                </a:solidFill>
              </a:rPr>
              <a:t>Tactics with the matching words; links analysed statically, never fetched.</a:t>
            </a:r>
            <a:endParaRPr lang="en-US" sz="1150" dirty="0"/>
          </a:p>
        </p:txBody>
      </p:sp>
      <p:sp>
        <p:nvSpPr>
          <p:cNvPr id="13" name="chev-152"/>
          <p:cNvSpPr/>
          <p:nvPr/>
        </p:nvSpPr>
        <p:spPr>
          <a:xfrm>
            <a:off x="4911425" y="2286000"/>
            <a:ext cx="109728" cy="201168"/>
          </a:xfrm>
          <a:prstGeom prst="chevron">
            <a:avLst/>
          </a:prstGeom>
          <a:solidFill>
            <a:srgbClr val="3EE6FF"/>
          </a:solidFill>
          <a:ln/>
        </p:spPr>
      </p:sp>
      <p:sp>
        <p:nvSpPr>
          <p:cNvPr id="14" name="panel-153"/>
          <p:cNvSpPr/>
          <p:nvPr/>
        </p:nvSpPr>
        <p:spPr>
          <a:xfrm>
            <a:off x="5066873" y="1463040"/>
            <a:ext cx="2057949" cy="1874520"/>
          </a:xfrm>
          <a:prstGeom prst="roundRect">
            <a:avLst>
              <a:gd name="adj" fmla="val 3902"/>
            </a:avLst>
          </a:prstGeom>
          <a:solidFill>
            <a:srgbClr val="0F1830">
              <a:alpha val="92000"/>
            </a:srgbClr>
          </a:solidFill>
          <a:ln w="12700">
            <a:solidFill>
              <a:srgbClr val="22324F"/>
            </a:solidFill>
            <a:prstDash val="solid"/>
          </a:ln>
        </p:spPr>
      </p:sp>
      <p:sp>
        <p:nvSpPr>
          <p:cNvPr id="15" name="text-154"/>
          <p:cNvSpPr txBox="1"/>
          <p:nvPr/>
        </p:nvSpPr>
        <p:spPr>
          <a:xfrm>
            <a:off x="5231465" y="1600200"/>
            <a:ext cx="548640" cy="228600"/>
          </a:xfrm>
          <a:prstGeom prst="rect">
            <a:avLst/>
          </a:prstGeom>
          <a:noFill/>
          <a:ln/>
        </p:spPr>
        <p:txBody>
          <a:bodyPr wrap="square" lIns="0" tIns="0" rIns="0" bIns="0" rtlCol="0" anchor="t"/>
          <a:lstStyle/>
          <a:p>
            <a:pPr indent="0" marL="0">
              <a:buNone/>
            </a:pPr>
            <a:r>
              <a:rPr lang="en-US" sz="1100" b="1" dirty="0">
                <a:solidFill>
                  <a:schemeClr val="accent1"/>
                </a:solidFill>
              </a:rPr>
              <a:t>03</a:t>
            </a:r>
            <a:endParaRPr lang="en-US" sz="1100" dirty="0"/>
          </a:p>
        </p:txBody>
      </p:sp>
      <p:sp>
        <p:nvSpPr>
          <p:cNvPr id="16" name="text-155"/>
          <p:cNvSpPr txBox="1"/>
          <p:nvPr/>
        </p:nvSpPr>
        <p:spPr>
          <a:xfrm>
            <a:off x="5231465" y="1847088"/>
            <a:ext cx="1728765" cy="320040"/>
          </a:xfrm>
          <a:prstGeom prst="rect">
            <a:avLst/>
          </a:prstGeom>
          <a:noFill/>
          <a:ln/>
        </p:spPr>
        <p:txBody>
          <a:bodyPr wrap="square" lIns="0" tIns="0" rIns="0" bIns="0" rtlCol="0" anchor="t"/>
          <a:lstStyle/>
          <a:p>
            <a:pPr indent="0" marL="0">
              <a:buNone/>
            </a:pPr>
            <a:r>
              <a:rPr lang="en-US" sz="1500" b="1" dirty="0">
                <a:solidFill>
                  <a:schemeClr val="bg2"/>
                </a:solidFill>
              </a:rPr>
              <a:t>Reassess</a:t>
            </a:r>
            <a:endParaRPr lang="en-US" sz="1500" dirty="0"/>
          </a:p>
        </p:txBody>
      </p:sp>
      <p:sp>
        <p:nvSpPr>
          <p:cNvPr id="17" name="text-156"/>
          <p:cNvSpPr txBox="1"/>
          <p:nvPr/>
        </p:nvSpPr>
        <p:spPr>
          <a:xfrm>
            <a:off x="5231465" y="2212848"/>
            <a:ext cx="1728765" cy="1051560"/>
          </a:xfrm>
          <a:prstGeom prst="rect">
            <a:avLst/>
          </a:prstGeom>
          <a:noFill/>
          <a:ln/>
        </p:spPr>
        <p:txBody>
          <a:bodyPr wrap="square" lIns="0" tIns="0" rIns="0" bIns="0" rtlCol="0" anchor="t"/>
          <a:lstStyle/>
          <a:p>
            <a:pPr indent="0" marL="0">
              <a:buNone/>
            </a:pPr>
            <a:r>
              <a:rPr lang="en-US" sz="1150" dirty="0">
                <a:solidFill>
                  <a:schemeClr val="accent6"/>
                </a:solidFill>
              </a:rPr>
              <a:t>Every item re-scores the case: strongest weight per tactic, noisy-OR, combination and stage bonuses.</a:t>
            </a:r>
            <a:endParaRPr lang="en-US" sz="1150" dirty="0"/>
          </a:p>
        </p:txBody>
      </p:sp>
      <p:sp>
        <p:nvSpPr>
          <p:cNvPr id="18" name="chev-157"/>
          <p:cNvSpPr/>
          <p:nvPr/>
        </p:nvSpPr>
        <p:spPr>
          <a:xfrm>
            <a:off x="7170542" y="2286000"/>
            <a:ext cx="109728" cy="201168"/>
          </a:xfrm>
          <a:prstGeom prst="chevron">
            <a:avLst/>
          </a:prstGeom>
          <a:solidFill>
            <a:srgbClr val="3EE6FF"/>
          </a:solidFill>
          <a:ln/>
        </p:spPr>
      </p:sp>
      <p:sp>
        <p:nvSpPr>
          <p:cNvPr id="19" name="panel-158"/>
          <p:cNvSpPr/>
          <p:nvPr/>
        </p:nvSpPr>
        <p:spPr>
          <a:xfrm>
            <a:off x="7325990" y="1463040"/>
            <a:ext cx="2057949" cy="1874520"/>
          </a:xfrm>
          <a:prstGeom prst="roundRect">
            <a:avLst>
              <a:gd name="adj" fmla="val 3902"/>
            </a:avLst>
          </a:prstGeom>
          <a:solidFill>
            <a:srgbClr val="0F1830">
              <a:alpha val="92000"/>
            </a:srgbClr>
          </a:solidFill>
          <a:ln w="12700">
            <a:solidFill>
              <a:srgbClr val="22324F"/>
            </a:solidFill>
            <a:prstDash val="solid"/>
          </a:ln>
        </p:spPr>
      </p:sp>
      <p:sp>
        <p:nvSpPr>
          <p:cNvPr id="20" name="text-159"/>
          <p:cNvSpPr txBox="1"/>
          <p:nvPr/>
        </p:nvSpPr>
        <p:spPr>
          <a:xfrm>
            <a:off x="7490582" y="1600200"/>
            <a:ext cx="548640" cy="228600"/>
          </a:xfrm>
          <a:prstGeom prst="rect">
            <a:avLst/>
          </a:prstGeom>
          <a:noFill/>
          <a:ln/>
        </p:spPr>
        <p:txBody>
          <a:bodyPr wrap="square" lIns="0" tIns="0" rIns="0" bIns="0" rtlCol="0" anchor="t"/>
          <a:lstStyle/>
          <a:p>
            <a:pPr indent="0" marL="0">
              <a:buNone/>
            </a:pPr>
            <a:r>
              <a:rPr lang="en-US" sz="1100" b="1" dirty="0">
                <a:solidFill>
                  <a:schemeClr val="accent1"/>
                </a:solidFill>
              </a:rPr>
              <a:t>04</a:t>
            </a:r>
            <a:endParaRPr lang="en-US" sz="1100" dirty="0"/>
          </a:p>
        </p:txBody>
      </p:sp>
      <p:sp>
        <p:nvSpPr>
          <p:cNvPr id="21" name="text-160"/>
          <p:cNvSpPr txBox="1"/>
          <p:nvPr/>
        </p:nvSpPr>
        <p:spPr>
          <a:xfrm>
            <a:off x="7490582" y="1847088"/>
            <a:ext cx="1728765" cy="320040"/>
          </a:xfrm>
          <a:prstGeom prst="rect">
            <a:avLst/>
          </a:prstGeom>
          <a:noFill/>
          <a:ln/>
        </p:spPr>
        <p:txBody>
          <a:bodyPr wrap="square" lIns="0" tIns="0" rIns="0" bIns="0" rtlCol="0" anchor="t"/>
          <a:lstStyle/>
          <a:p>
            <a:pPr indent="0" marL="0">
              <a:buNone/>
            </a:pPr>
            <a:r>
              <a:rPr lang="en-US" sz="1500" b="1" dirty="0">
                <a:solidFill>
                  <a:schemeClr val="bg2"/>
                </a:solidFill>
              </a:rPr>
              <a:t>Doubt</a:t>
            </a:r>
            <a:endParaRPr lang="en-US" sz="1500" dirty="0"/>
          </a:p>
        </p:txBody>
      </p:sp>
      <p:sp>
        <p:nvSpPr>
          <p:cNvPr id="22" name="text-161"/>
          <p:cNvSpPr txBox="1"/>
          <p:nvPr/>
        </p:nvSpPr>
        <p:spPr>
          <a:xfrm>
            <a:off x="7490582" y="2212848"/>
            <a:ext cx="1728765" cy="1051560"/>
          </a:xfrm>
          <a:prstGeom prst="rect">
            <a:avLst/>
          </a:prstGeom>
          <a:noFill/>
          <a:ln/>
        </p:spPr>
        <p:txBody>
          <a:bodyPr wrap="square" lIns="0" tIns="0" rIns="0" bIns="0" rtlCol="0" anchor="t"/>
          <a:lstStyle/>
          <a:p>
            <a:pPr indent="0" marL="0">
              <a:buNone/>
            </a:pPr>
            <a:r>
              <a:rPr lang="en-US" sz="1150" dirty="0">
                <a:solidFill>
                  <a:schemeClr val="accent6"/>
                </a:solidFill>
              </a:rPr>
              <a:t>One uncorroborated tactic is held at medium and sent for review; conflicts and missing evidence shown.</a:t>
            </a:r>
            <a:endParaRPr lang="en-US" sz="1150" dirty="0"/>
          </a:p>
        </p:txBody>
      </p:sp>
      <p:sp>
        <p:nvSpPr>
          <p:cNvPr id="23" name="chev-162"/>
          <p:cNvSpPr/>
          <p:nvPr/>
        </p:nvSpPr>
        <p:spPr>
          <a:xfrm>
            <a:off x="9429659" y="2286000"/>
            <a:ext cx="109728" cy="201168"/>
          </a:xfrm>
          <a:prstGeom prst="chevron">
            <a:avLst/>
          </a:prstGeom>
          <a:solidFill>
            <a:srgbClr val="3EE6FF"/>
          </a:solidFill>
          <a:ln/>
        </p:spPr>
      </p:sp>
      <p:sp>
        <p:nvSpPr>
          <p:cNvPr id="24" name="panel-163"/>
          <p:cNvSpPr/>
          <p:nvPr/>
        </p:nvSpPr>
        <p:spPr>
          <a:xfrm>
            <a:off x="9585107" y="1463040"/>
            <a:ext cx="2057949" cy="1874520"/>
          </a:xfrm>
          <a:prstGeom prst="roundRect">
            <a:avLst>
              <a:gd name="adj" fmla="val 3902"/>
            </a:avLst>
          </a:prstGeom>
          <a:solidFill>
            <a:srgbClr val="0F1830">
              <a:alpha val="92000"/>
            </a:srgbClr>
          </a:solidFill>
          <a:ln w="12700">
            <a:solidFill>
              <a:srgbClr val="22324F"/>
            </a:solidFill>
            <a:prstDash val="solid"/>
          </a:ln>
        </p:spPr>
      </p:sp>
      <p:sp>
        <p:nvSpPr>
          <p:cNvPr id="25" name="text-164"/>
          <p:cNvSpPr txBox="1"/>
          <p:nvPr/>
        </p:nvSpPr>
        <p:spPr>
          <a:xfrm>
            <a:off x="9749699" y="1600200"/>
            <a:ext cx="548640" cy="228600"/>
          </a:xfrm>
          <a:prstGeom prst="rect">
            <a:avLst/>
          </a:prstGeom>
          <a:noFill/>
          <a:ln/>
        </p:spPr>
        <p:txBody>
          <a:bodyPr wrap="square" lIns="0" tIns="0" rIns="0" bIns="0" rtlCol="0" anchor="t"/>
          <a:lstStyle/>
          <a:p>
            <a:pPr indent="0" marL="0">
              <a:buNone/>
            </a:pPr>
            <a:r>
              <a:rPr lang="en-US" sz="1100" b="1" dirty="0">
                <a:solidFill>
                  <a:schemeClr val="accent1"/>
                </a:solidFill>
              </a:rPr>
              <a:t>05</a:t>
            </a:r>
            <a:endParaRPr lang="en-US" sz="1100" dirty="0"/>
          </a:p>
        </p:txBody>
      </p:sp>
      <p:sp>
        <p:nvSpPr>
          <p:cNvPr id="26" name="text-165"/>
          <p:cNvSpPr txBox="1"/>
          <p:nvPr/>
        </p:nvSpPr>
        <p:spPr>
          <a:xfrm>
            <a:off x="9749699" y="1847088"/>
            <a:ext cx="1728765" cy="320040"/>
          </a:xfrm>
          <a:prstGeom prst="rect">
            <a:avLst/>
          </a:prstGeom>
          <a:noFill/>
          <a:ln/>
        </p:spPr>
        <p:txBody>
          <a:bodyPr wrap="square" lIns="0" tIns="0" rIns="0" bIns="0" rtlCol="0" anchor="t"/>
          <a:lstStyle/>
          <a:p>
            <a:pPr indent="0" marL="0">
              <a:buNone/>
            </a:pPr>
            <a:r>
              <a:rPr lang="en-US" sz="1500" b="1" dirty="0">
                <a:solidFill>
                  <a:schemeClr val="bg2"/>
                </a:solidFill>
              </a:rPr>
              <a:t>Decide</a:t>
            </a:r>
            <a:endParaRPr lang="en-US" sz="1500" dirty="0"/>
          </a:p>
        </p:txBody>
      </p:sp>
      <p:sp>
        <p:nvSpPr>
          <p:cNvPr id="27" name="text-166"/>
          <p:cNvSpPr txBox="1"/>
          <p:nvPr/>
        </p:nvSpPr>
        <p:spPr>
          <a:xfrm>
            <a:off x="9749699" y="2212848"/>
            <a:ext cx="1728765" cy="1051560"/>
          </a:xfrm>
          <a:prstGeom prst="rect">
            <a:avLst/>
          </a:prstGeom>
          <a:noFill/>
          <a:ln/>
        </p:spPr>
        <p:txBody>
          <a:bodyPr wrap="square" lIns="0" tIns="0" rIns="0" bIns="0" rtlCol="0" anchor="t"/>
          <a:lstStyle/>
          <a:p>
            <a:pPr indent="0" marL="0">
              <a:buNone/>
            </a:pPr>
            <a:r>
              <a:rPr lang="en-US" sz="1150" dirty="0">
                <a:solidFill>
                  <a:schemeClr val="accent6"/>
                </a:solidFill>
              </a:rPr>
              <a:t>Alert only when risk rises or a high-weight tactic appears; duplicates suppressed and logged.</a:t>
            </a:r>
            <a:endParaRPr lang="en-US" sz="1150" dirty="0"/>
          </a:p>
        </p:txBody>
      </p:sp>
      <p:graphicFrame>
        <p:nvGraphicFramePr>
          <p:cNvPr id="7" name="table-167"/>
          <p:cNvGraphicFramePr>
            <a:graphicFrameLocks noGrp="1"/>
          </p:cNvGraphicFramePr>
          <p:nvPr>
            <p:extLst>
              <p:ext uri="{D42A27DB-BD31-4B8C-83A1-F6EECF244321}">
                <p14:modId xmlns:p14="http://schemas.microsoft.com/office/powerpoint/2010/main" val="1579011935"/>
              </p:ext>
            </p:extLst>
          </p:nvPr>
        </p:nvGraphicFramePr>
        <p:xfrm>
          <a:off x="548640" y="3611880"/>
          <a:ext cx="5852160" cy="914400"/>
        </p:xfrm>
        <a:graphic>
          <a:graphicData uri="http://schemas.openxmlformats.org/drawingml/2006/table">
            <a:tbl>
              <a:tblPr/>
              <a:tblGrid>
                <a:gridCol w="1371600"/>
                <a:gridCol w="3383280"/>
                <a:gridCol w="1097280"/>
              </a:tblGrid>
              <a:tr h="329184">
                <a:tc>
                  <a:txBody>
                    <a:bodyPr/>
                    <a:lstStyle/>
                    <a:p>
                      <a:pPr indent="0" marL="0">
                        <a:buNone/>
                      </a:pPr>
                      <a:r>
                        <a:rPr lang="en-US" sz="1050" b="1" dirty="0">
                          <a:solidFill>
                            <a:schemeClr val="accent6"/>
                          </a:solidFill>
                          <a:latin typeface="Calibri" pitchFamily="34" charset="0"/>
                          <a:ea typeface="Calibri" pitchFamily="34" charset="-122"/>
                          <a:cs typeface="Calibri" pitchFamily="34" charset="-120"/>
                        </a:rPr>
                        <a:t>Alert decision</a:t>
                      </a:r>
                      <a:endParaRPr lang="en-US" sz="10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B1224"/>
                    </a:solidFill>
                  </a:tcPr>
                </a:tc>
                <a:tc>
                  <a:txBody>
                    <a:bodyPr/>
                    <a:lstStyle/>
                    <a:p>
                      <a:pPr indent="0" marL="0">
                        <a:buNone/>
                      </a:pPr>
                      <a:r>
                        <a:rPr lang="en-US" sz="1050" b="1" dirty="0">
                          <a:solidFill>
                            <a:schemeClr val="accent6"/>
                          </a:solidFill>
                          <a:latin typeface="Calibri" pitchFamily="34" charset="0"/>
                          <a:ea typeface="Calibri" pitchFamily="34" charset="-122"/>
                          <a:cs typeface="Calibri" pitchFamily="34" charset="-120"/>
                        </a:rPr>
                        <a:t>When</a:t>
                      </a:r>
                      <a:endParaRPr lang="en-US" sz="10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B1224"/>
                    </a:solidFill>
                  </a:tcPr>
                </a:tc>
                <a:tc>
                  <a:txBody>
                    <a:bodyPr/>
                    <a:lstStyle/>
                    <a:p>
                      <a:pPr indent="0" marL="0">
                        <a:buNone/>
                      </a:pPr>
                      <a:r>
                        <a:rPr lang="en-US" sz="1050" b="1" dirty="0">
                          <a:solidFill>
                            <a:schemeClr val="accent6"/>
                          </a:solidFill>
                          <a:latin typeface="Calibri" pitchFamily="34" charset="0"/>
                          <a:ea typeface="Calibri" pitchFamily="34" charset="-122"/>
                          <a:cs typeface="Calibri" pitchFamily="34" charset="-120"/>
                        </a:rPr>
                        <a:t>Notifies</a:t>
                      </a:r>
                      <a:endParaRPr lang="en-US" sz="10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B1224"/>
                    </a:solidFill>
                  </a:tcPr>
                </a:tc>
              </a:tr>
              <a:tr h="329184">
                <a:tc>
                  <a:txBody>
                    <a:bodyPr/>
                    <a:lstStyle/>
                    <a:p>
                      <a:pPr indent="0" marL="0">
                        <a:buNone/>
                      </a:pPr>
                      <a:r>
                        <a:rPr lang="en-US" sz="1200" dirty="0">
                          <a:solidFill>
                            <a:schemeClr val="accent3"/>
                          </a:solidFill>
                          <a:latin typeface="Calibri" pitchFamily="34" charset="0"/>
                          <a:ea typeface="Calibri" pitchFamily="34" charset="-122"/>
                          <a:cs typeface="Calibri" pitchFamily="34" charset="-120"/>
                        </a:rPr>
                        <a:t>new</a:t>
                      </a:r>
                      <a:endParaRPr lang="en-US" sz="12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indent="0" marL="0">
                        <a:buNone/>
                      </a:pPr>
                      <a:r>
                        <a:rPr lang="en-US" sz="1200" dirty="0">
                          <a:solidFill>
                            <a:schemeClr val="bg2"/>
                          </a:solidFill>
                          <a:latin typeface="Calibri" pitchFamily="34" charset="0"/>
                          <a:ea typeface="Calibri" pitchFamily="34" charset="-122"/>
                          <a:cs typeface="Calibri" pitchFamily="34" charset="-120"/>
                        </a:rPr>
                        <a:t>First medium or high, or review needed</a:t>
                      </a:r>
                      <a:endParaRPr lang="en-US" sz="12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indent="0" marL="0">
                        <a:buNone/>
                      </a:pPr>
                      <a:r>
                        <a:rPr lang="en-US" sz="1200" dirty="0">
                          <a:solidFill>
                            <a:schemeClr val="bg2"/>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r>
              <a:tr h="329184">
                <a:tc>
                  <a:txBody>
                    <a:bodyPr/>
                    <a:lstStyle/>
                    <a:p>
                      <a:pPr indent="0" marL="0">
                        <a:buNone/>
                      </a:pPr>
                      <a:r>
                        <a:rPr lang="en-US" sz="1200" dirty="0">
                          <a:solidFill>
                            <a:schemeClr val="accent3"/>
                          </a:solidFill>
                          <a:latin typeface="Calibri" pitchFamily="34" charset="0"/>
                          <a:ea typeface="Calibri" pitchFamily="34" charset="-122"/>
                          <a:cs typeface="Calibri" pitchFamily="34" charset="-120"/>
                        </a:rPr>
                        <a:t>escalated</a:t>
                      </a:r>
                      <a:endParaRPr lang="en-US" sz="12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indent="0" marL="0">
                        <a:buNone/>
                      </a:pPr>
                      <a:r>
                        <a:rPr lang="en-US" sz="1200" dirty="0">
                          <a:solidFill>
                            <a:schemeClr val="bg2"/>
                          </a:solidFill>
                          <a:latin typeface="Calibri" pitchFamily="34" charset="0"/>
                          <a:ea typeface="Calibri" pitchFamily="34" charset="-122"/>
                          <a:cs typeface="Calibri" pitchFamily="34" charset="-120"/>
                        </a:rPr>
                        <a:t>Risk level rose</a:t>
                      </a:r>
                      <a:endParaRPr lang="en-US" sz="12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indent="0" marL="0">
                        <a:buNone/>
                      </a:pPr>
                      <a:r>
                        <a:rPr lang="en-US" sz="1200" dirty="0">
                          <a:solidFill>
                            <a:schemeClr val="bg2"/>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r>
              <a:tr h="329184">
                <a:tc>
                  <a:txBody>
                    <a:bodyPr/>
                    <a:lstStyle/>
                    <a:p>
                      <a:pPr indent="0" marL="0">
                        <a:buNone/>
                      </a:pPr>
                      <a:r>
                        <a:rPr lang="en-US" sz="1200" dirty="0">
                          <a:solidFill>
                            <a:schemeClr val="accent5"/>
                          </a:solidFill>
                          <a:latin typeface="Calibri" pitchFamily="34" charset="0"/>
                          <a:ea typeface="Calibri" pitchFamily="34" charset="-122"/>
                          <a:cs typeface="Calibri" pitchFamily="34" charset="-120"/>
                        </a:rPr>
                        <a:t>updated</a:t>
                      </a:r>
                      <a:endParaRPr lang="en-US" sz="12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indent="0" marL="0">
                        <a:buNone/>
                      </a:pPr>
                      <a:r>
                        <a:rPr lang="en-US" sz="1200" dirty="0">
                          <a:solidFill>
                            <a:schemeClr val="bg2"/>
                          </a:solidFill>
                          <a:latin typeface="Calibri" pitchFamily="34" charset="0"/>
                          <a:ea typeface="Calibri" pitchFamily="34" charset="-122"/>
                          <a:cs typeface="Calibri" pitchFamily="34" charset="-120"/>
                        </a:rPr>
                        <a:t>New high-weight tactic, same level</a:t>
                      </a:r>
                      <a:endParaRPr lang="en-US" sz="12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indent="0" marL="0">
                        <a:buNone/>
                      </a:pPr>
                      <a:r>
                        <a:rPr lang="en-US" sz="1200" dirty="0">
                          <a:solidFill>
                            <a:schemeClr val="bg2"/>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r>
              <a:tr h="329184">
                <a:tc>
                  <a:txBody>
                    <a:bodyPr/>
                    <a:lstStyle/>
                    <a:p>
                      <a:pPr indent="0" marL="0">
                        <a:buNone/>
                      </a:pPr>
                      <a:r>
                        <a:rPr lang="en-US" sz="1200" dirty="0">
                          <a:solidFill>
                            <a:schemeClr val="accent6"/>
                          </a:solidFill>
                          <a:latin typeface="Calibri" pitchFamily="34" charset="0"/>
                          <a:ea typeface="Calibri" pitchFamily="34" charset="-122"/>
                          <a:cs typeface="Calibri" pitchFamily="34" charset="-120"/>
                        </a:rPr>
                        <a:t>suppressed</a:t>
                      </a:r>
                      <a:endParaRPr lang="en-US" sz="12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indent="0" marL="0">
                        <a:buNone/>
                      </a:pPr>
                      <a:r>
                        <a:rPr lang="en-US" sz="1200" dirty="0">
                          <a:solidFill>
                            <a:schemeClr val="bg2"/>
                          </a:solidFill>
                          <a:latin typeface="Calibri" pitchFamily="34" charset="0"/>
                          <a:ea typeface="Calibri" pitchFamily="34" charset="-122"/>
                          <a:cs typeface="Calibri" pitchFamily="34" charset="-120"/>
                        </a:rPr>
                        <a:t>Nothing material changed</a:t>
                      </a:r>
                      <a:endParaRPr lang="en-US" sz="12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indent="0" marL="0">
                        <a:buNone/>
                      </a:pPr>
                      <a:r>
                        <a:rPr lang="en-US" sz="1200" dirty="0">
                          <a:solidFill>
                            <a:schemeClr val="bg2"/>
                          </a:solidFill>
                          <a:latin typeface="Calibri" pitchFamily="34" charset="0"/>
                          <a:ea typeface="Calibri" pitchFamily="34" charset="-122"/>
                          <a:cs typeface="Calibri" pitchFamily="34" charset="-120"/>
                        </a:rPr>
                        <a:t>no, logged</a:t>
                      </a:r>
                      <a:endParaRPr lang="en-US" sz="12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r>
              <a:tr h="329184">
                <a:tc>
                  <a:txBody>
                    <a:bodyPr/>
                    <a:lstStyle/>
                    <a:p>
                      <a:pPr indent="0" marL="0">
                        <a:buNone/>
                      </a:pPr>
                      <a:r>
                        <a:rPr lang="en-US" sz="1200" dirty="0">
                          <a:solidFill>
                            <a:schemeClr val="accent6"/>
                          </a:solidFill>
                          <a:latin typeface="Calibri" pitchFamily="34" charset="0"/>
                          <a:ea typeface="Calibri" pitchFamily="34" charset="-122"/>
                          <a:cs typeface="Calibri" pitchFamily="34" charset="-120"/>
                        </a:rPr>
                        <a:t>deescalated</a:t>
                      </a:r>
                      <a:endParaRPr lang="en-US" sz="12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indent="0" marL="0">
                        <a:buNone/>
                      </a:pPr>
                      <a:r>
                        <a:rPr lang="en-US" sz="1200" dirty="0">
                          <a:solidFill>
                            <a:schemeClr val="bg2"/>
                          </a:solidFill>
                          <a:latin typeface="Calibri" pitchFamily="34" charset="0"/>
                          <a:ea typeface="Calibri" pitchFamily="34" charset="-122"/>
                          <a:cs typeface="Calibri" pitchFamily="34" charset="-120"/>
                        </a:rPr>
                        <a:t>Risk level fell</a:t>
                      </a:r>
                      <a:endParaRPr lang="en-US" sz="12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indent="0" marL="0">
                        <a:buNone/>
                      </a:pPr>
                      <a:r>
                        <a:rPr lang="en-US" sz="1200" dirty="0">
                          <a:solidFill>
                            <a:schemeClr val="bg2"/>
                          </a:solidFill>
                          <a:latin typeface="Calibri" pitchFamily="34" charset="0"/>
                          <a:ea typeface="Calibri" pitchFamily="34" charset="-122"/>
                          <a:cs typeface="Calibri" pitchFamily="34" charset="-120"/>
                        </a:rPr>
                        <a:t>no, logged</a:t>
                      </a:r>
                      <a:endParaRPr lang="en-US" sz="12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r>
            </a:tbl>
          </a:graphicData>
        </a:graphic>
      </p:graphicFrame>
      <p:sp>
        <p:nvSpPr>
          <p:cNvPr id="29" name="text-168"/>
          <p:cNvSpPr txBox="1"/>
          <p:nvPr/>
        </p:nvSpPr>
        <p:spPr>
          <a:xfrm>
            <a:off x="548640" y="5669280"/>
            <a:ext cx="5852160" cy="228600"/>
          </a:xfrm>
          <a:prstGeom prst="rect">
            <a:avLst/>
          </a:prstGeom>
          <a:noFill/>
          <a:ln/>
        </p:spPr>
        <p:txBody>
          <a:bodyPr wrap="square" lIns="0" tIns="0" rIns="0" bIns="0" rtlCol="0" anchor="t"/>
          <a:lstStyle/>
          <a:p>
            <a:pPr indent="0" marL="0">
              <a:buNone/>
            </a:pPr>
            <a:r>
              <a:rPr lang="en-US" sz="1000" dirty="0">
                <a:solidFill>
                  <a:schemeClr val="accent6"/>
                </a:solidFill>
              </a:rPr>
              <a:t>Source: backend/app/scamdna/alerts.py</a:t>
            </a:r>
            <a:endParaRPr lang="en-US" sz="1000" dirty="0"/>
          </a:p>
        </p:txBody>
      </p:sp>
      <p:sp>
        <p:nvSpPr>
          <p:cNvPr id="30" name="panel-169"/>
          <p:cNvSpPr/>
          <p:nvPr/>
        </p:nvSpPr>
        <p:spPr>
          <a:xfrm>
            <a:off x="6720840" y="3611880"/>
            <a:ext cx="4922215" cy="2377440"/>
          </a:xfrm>
          <a:prstGeom prst="roundRect">
            <a:avLst>
              <a:gd name="adj" fmla="val 3077"/>
            </a:avLst>
          </a:prstGeom>
          <a:solidFill>
            <a:srgbClr val="131F3B">
              <a:alpha val="92000"/>
            </a:srgbClr>
          </a:solidFill>
          <a:ln w="12700">
            <a:solidFill>
              <a:srgbClr val="22324F"/>
            </a:solidFill>
            <a:prstDash val="solid"/>
          </a:ln>
        </p:spPr>
      </p:sp>
      <p:sp>
        <p:nvSpPr>
          <p:cNvPr id="31" name="text-170"/>
          <p:cNvSpPr txBox="1"/>
          <p:nvPr/>
        </p:nvSpPr>
        <p:spPr>
          <a:xfrm>
            <a:off x="6903720" y="3749040"/>
            <a:ext cx="4556455" cy="228600"/>
          </a:xfrm>
          <a:prstGeom prst="rect">
            <a:avLst/>
          </a:prstGeom>
          <a:noFill/>
          <a:ln/>
        </p:spPr>
        <p:txBody>
          <a:bodyPr wrap="square" lIns="0" tIns="0" rIns="0" bIns="0" rtlCol="0" anchor="t"/>
          <a:lstStyle/>
          <a:p>
            <a:pPr indent="0" marL="0">
              <a:buNone/>
            </a:pPr>
            <a:r>
              <a:rPr lang="en-US" sz="1000" b="1" spc="200" kern="0" dirty="0">
                <a:solidFill>
                  <a:schemeClr val="accent2"/>
                </a:solidFill>
              </a:rPr>
              <a:t>REAL OUTPUT: LONE OTP REQUEST, THEN A RETRACTION</a:t>
            </a:r>
            <a:endParaRPr lang="en-US" sz="1000" dirty="0"/>
          </a:p>
        </p:txBody>
      </p:sp>
      <p:sp>
        <p:nvSpPr>
          <p:cNvPr id="32" name="text-171"/>
          <p:cNvSpPr txBox="1"/>
          <p:nvPr/>
        </p:nvSpPr>
        <p:spPr>
          <a:xfrm>
            <a:off x="6903720" y="4069080"/>
            <a:ext cx="4556455" cy="1828800"/>
          </a:xfrm>
          <a:prstGeom prst="rect">
            <a:avLst/>
          </a:prstGeom>
          <a:noFill/>
          <a:ln/>
        </p:spPr>
        <p:txBody>
          <a:bodyPr wrap="square" lIns="0" tIns="0" rIns="0" bIns="0" rtlCol="0" anchor="t"/>
          <a:lstStyle/>
          <a:p>
            <a:pPr indent="0" marL="0">
              <a:spcAft>
                <a:spcPts val="400"/>
              </a:spcAft>
              <a:buNone/>
            </a:pPr>
            <a:r>
              <a:rPr lang="en-US" sz="1200" dirty="0">
                <a:solidFill>
                  <a:schemeClr val="bg2"/>
                </a:solidFill>
              </a:rPr>
              <a:t>1 · “Hi, I sent a code to your phone by mistake. Please share the OTP you just received.”</a:t>
            </a:r>
            <a:endParaRPr lang="en-US" sz="1200" dirty="0"/>
          </a:p>
          <a:p>
            <a:pPr indent="0" marL="0">
              <a:spcAft>
                <a:spcPts val="400"/>
              </a:spcAft>
              <a:buNone/>
            </a:pPr>
            <a:r>
              <a:rPr lang="en-US" sz="1200" dirty="0">
                <a:solidFill>
                  <a:schemeClr val="accent5"/>
                </a:solidFill>
              </a:rPr>
              <a:t>medium 59, review required: one tactic cannot make a case high on its own.</a:t>
            </a:r>
            <a:endParaRPr lang="en-US" sz="1200" dirty="0"/>
          </a:p>
          <a:p>
            <a:pPr indent="0" marL="0">
              <a:spcAft>
                <a:spcPts val="400"/>
              </a:spcAft>
              <a:buNone/>
            </a:pPr>
            <a:r>
              <a:rPr lang="en-US" sz="1200" dirty="0">
                <a:solidFill>
                  <a:schemeClr val="bg2"/>
                </a:solidFill>
              </a:rPr>
              <a:t>2 · “Please ignore the earlier message. We will never ask for your OTP.”</a:t>
            </a:r>
            <a:endParaRPr lang="en-US" sz="1200" dirty="0"/>
          </a:p>
          <a:p>
            <a:pPr indent="0" marL="0">
              <a:spcAft>
                <a:spcPts val="400"/>
              </a:spcAft>
              <a:buNone/>
            </a:pPr>
            <a:r>
              <a:rPr lang="en-US" sz="1200" dirty="0">
                <a:solidFill>
                  <a:schemeClr val="accent2"/>
                </a:solidFill>
              </a:rPr>
              <a:t>Conflict recorded; score unchanged at 59; alert suppressed. A newer message is not more trustworthy.</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300" kern="0" dirty="0">
                <a:solidFill>
                  <a:schemeClr val="accent1"/>
                </a:solidFill>
              </a:rPr>
              <a:t>07 · SYSTEM ARCHITECTURE</a:t>
            </a:r>
            <a:endParaRPr lang="en-US" sz="1100" dirty="0"/>
          </a:p>
        </p:txBody>
      </p:sp>
      <p:sp>
        <p:nvSpPr>
          <p:cNvPr id="3" name="Text 0"/>
          <p:cNvSpPr/>
          <p:nvPr>
            <p:ph idx="101" type="title" hasCustomPrompt="1"/>
          </p:nvPr>
        </p:nvSpPr>
        <p:spPr>
          <a:xfrm>
            <a:off x="548640" y="566928"/>
            <a:ext cx="11094415" cy="731520"/>
          </a:xfrm>
          <a:prstGeom prst="rect">
            <a:avLst/>
          </a:prstGeom>
          <a:noFill/>
          <a:ln/>
        </p:spPr>
        <p:txBody>
          <a:bodyPr wrap="square" lIns="0" tIns="0" rIns="0" bIns="0" rtlCol="0" anchor="t"/>
          <a:lstStyle/>
          <a:p>
            <a:pPr indent="0" marL="0">
              <a:buNone/>
            </a:pPr>
            <a:r>
              <a:rPr lang="en-US" sz="3200" b="1" dirty="0">
                <a:solidFill>
                  <a:schemeClr val="bg2"/>
                </a:solidFill>
                <a:latin typeface="Arial" pitchFamily="34" charset="0"/>
                <a:ea typeface="Arial" pitchFamily="34" charset="-122"/>
                <a:cs typeface="Arial" pitchFamily="34" charset="-120"/>
              </a:rPr>
              <a:t>One deployable unit, clear boundaries</a:t>
            </a:r>
            <a:endParaRPr lang="en-US" sz="3200" dirty="0"/>
          </a:p>
        </p:txBody>
      </p:sp>
      <p:pic>
        <p:nvPicPr>
          <p:cNvPr id="4" name="scene-a-172" descr="Scene A of the 3D walkthrough: the system by layer">    </p:cNvPr>
          <p:cNvPicPr>
            <a:picLocks noChangeAspect="1"/>
          </p:cNvPicPr>
          <p:nvPr/>
        </p:nvPicPr>
        <p:blipFill>
          <a:blip r:embed="rId1"/>
          <a:stretch>
            <a:fillRect/>
          </a:stretch>
        </p:blipFill>
        <p:spPr>
          <a:xfrm>
            <a:off x="4434840" y="1371600"/>
            <a:ext cx="7208215" cy="4054621"/>
          </a:xfrm>
          <a:prstGeom prst="rect">
            <a:avLst/>
          </a:prstGeom>
        </p:spPr>
      </p:pic>
      <p:sp>
        <p:nvSpPr>
          <p:cNvPr id="5" name="frame-173"/>
          <p:cNvSpPr/>
          <p:nvPr/>
        </p:nvSpPr>
        <p:spPr>
          <a:xfrm>
            <a:off x="4434840" y="1371600"/>
            <a:ext cx="7208215" cy="4054621"/>
          </a:xfrm>
          <a:prstGeom prst="roundRect">
            <a:avLst>
              <a:gd name="adj" fmla="val 1353"/>
            </a:avLst>
          </a:prstGeom>
          <a:ln w="12700">
            <a:solidFill>
              <a:srgbClr val="22324F"/>
            </a:solidFill>
            <a:prstDash val="solid"/>
          </a:ln>
        </p:spPr>
      </p:sp>
      <p:sp>
        <p:nvSpPr>
          <p:cNvPr id="6" name="text-174"/>
          <p:cNvSpPr txBox="1"/>
          <p:nvPr/>
        </p:nvSpPr>
        <p:spPr>
          <a:xfrm>
            <a:off x="548640" y="1371600"/>
            <a:ext cx="365760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CLIENTS · USER-INITIATED</a:t>
            </a:r>
            <a:endParaRPr lang="en-US" sz="1000" dirty="0"/>
          </a:p>
        </p:txBody>
      </p:sp>
      <p:sp>
        <p:nvSpPr>
          <p:cNvPr id="7" name="dot-175"/>
          <p:cNvSpPr/>
          <p:nvPr/>
        </p:nvSpPr>
        <p:spPr>
          <a:xfrm>
            <a:off x="548640" y="1691640"/>
            <a:ext cx="100584" cy="100584"/>
          </a:xfrm>
          <a:prstGeom prst="ellipse">
            <a:avLst/>
          </a:prstGeom>
          <a:solidFill>
            <a:srgbClr val="FFB84D"/>
          </a:solidFill>
          <a:ln/>
        </p:spPr>
      </p:sp>
      <p:sp>
        <p:nvSpPr>
          <p:cNvPr id="8" name="text-176"/>
          <p:cNvSpPr txBox="1"/>
          <p:nvPr/>
        </p:nvSpPr>
        <p:spPr>
          <a:xfrm>
            <a:off x="731520" y="1627632"/>
            <a:ext cx="3611880" cy="411480"/>
          </a:xfrm>
          <a:prstGeom prst="rect">
            <a:avLst/>
          </a:prstGeom>
          <a:noFill/>
          <a:ln/>
        </p:spPr>
        <p:txBody>
          <a:bodyPr wrap="square" lIns="0" tIns="0" rIns="0" bIns="0" rtlCol="0" anchor="t"/>
          <a:lstStyle/>
          <a:p>
            <a:pPr indent="0" marL="0">
              <a:buNone/>
            </a:pPr>
            <a:r>
              <a:rPr lang="en-US" sz="1150" dirty="0">
                <a:solidFill>
                  <a:schemeClr val="bg2"/>
                </a:solidFill>
              </a:rPr>
              <a:t>Guardian Shield extension (MV3)</a:t>
            </a:r>
            <a:endParaRPr lang="en-US" sz="1150" dirty="0"/>
          </a:p>
        </p:txBody>
      </p:sp>
      <p:sp>
        <p:nvSpPr>
          <p:cNvPr id="9" name="dot-177"/>
          <p:cNvSpPr/>
          <p:nvPr/>
        </p:nvSpPr>
        <p:spPr>
          <a:xfrm>
            <a:off x="548640" y="1965960"/>
            <a:ext cx="100584" cy="100584"/>
          </a:xfrm>
          <a:prstGeom prst="ellipse">
            <a:avLst/>
          </a:prstGeom>
          <a:solidFill>
            <a:srgbClr val="5CEBB0"/>
          </a:solidFill>
          <a:ln/>
        </p:spPr>
      </p:sp>
      <p:sp>
        <p:nvSpPr>
          <p:cNvPr id="10" name="text-178"/>
          <p:cNvSpPr txBox="1"/>
          <p:nvPr/>
        </p:nvSpPr>
        <p:spPr>
          <a:xfrm>
            <a:off x="731520" y="1901952"/>
            <a:ext cx="3611880" cy="411480"/>
          </a:xfrm>
          <a:prstGeom prst="rect">
            <a:avLst/>
          </a:prstGeom>
          <a:noFill/>
          <a:ln/>
        </p:spPr>
        <p:txBody>
          <a:bodyPr wrap="square" lIns="0" tIns="0" rIns="0" bIns="0" rtlCol="0" anchor="t"/>
          <a:lstStyle/>
          <a:p>
            <a:pPr indent="0" marL="0">
              <a:buNone/>
            </a:pPr>
            <a:r>
              <a:rPr lang="en-US" sz="1150" dirty="0">
                <a:solidFill>
                  <a:schemeClr val="bg2"/>
                </a:solidFill>
              </a:rPr>
              <a:t>Next.js 15 static dashboard</a:t>
            </a:r>
            <a:endParaRPr lang="en-US" sz="1150" dirty="0"/>
          </a:p>
        </p:txBody>
      </p:sp>
      <p:sp>
        <p:nvSpPr>
          <p:cNvPr id="11" name="text-179"/>
          <p:cNvSpPr txBox="1"/>
          <p:nvPr/>
        </p:nvSpPr>
        <p:spPr>
          <a:xfrm>
            <a:off x="548640" y="2267712"/>
            <a:ext cx="365760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API BOUNDARY</a:t>
            </a:r>
            <a:endParaRPr lang="en-US" sz="1000" dirty="0"/>
          </a:p>
        </p:txBody>
      </p:sp>
      <p:sp>
        <p:nvSpPr>
          <p:cNvPr id="12" name="dot-180"/>
          <p:cNvSpPr/>
          <p:nvPr/>
        </p:nvSpPr>
        <p:spPr>
          <a:xfrm>
            <a:off x="548640" y="2587752"/>
            <a:ext cx="100584" cy="100584"/>
          </a:xfrm>
          <a:prstGeom prst="ellipse">
            <a:avLst/>
          </a:prstGeom>
          <a:solidFill>
            <a:srgbClr val="5CEBB0"/>
          </a:solidFill>
          <a:ln/>
        </p:spPr>
      </p:sp>
      <p:sp>
        <p:nvSpPr>
          <p:cNvPr id="13" name="text-181"/>
          <p:cNvSpPr txBox="1"/>
          <p:nvPr/>
        </p:nvSpPr>
        <p:spPr>
          <a:xfrm>
            <a:off x="731520" y="2523744"/>
            <a:ext cx="3611880" cy="411480"/>
          </a:xfrm>
          <a:prstGeom prst="rect">
            <a:avLst/>
          </a:prstGeom>
          <a:noFill/>
          <a:ln/>
        </p:spPr>
        <p:txBody>
          <a:bodyPr wrap="square" lIns="0" tIns="0" rIns="0" bIns="0" rtlCol="0" anchor="t"/>
          <a:lstStyle/>
          <a:p>
            <a:pPr indent="0" marL="0">
              <a:buNone/>
            </a:pPr>
            <a:r>
              <a:rPr lang="en-US" sz="1150" dirty="0">
                <a:solidFill>
                  <a:schemeClr val="bg2"/>
                </a:solidFill>
              </a:rPr>
              <a:t>FastAPI: validation, rate and size limits, CSP, content-free logs</a:t>
            </a:r>
            <a:endParaRPr lang="en-US" sz="1150" dirty="0"/>
          </a:p>
        </p:txBody>
      </p:sp>
      <p:sp>
        <p:nvSpPr>
          <p:cNvPr id="14" name="text-182"/>
          <p:cNvSpPr txBox="1"/>
          <p:nvPr/>
        </p:nvSpPr>
        <p:spPr>
          <a:xfrm>
            <a:off x="548640" y="3054096"/>
            <a:ext cx="365760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DETECTION LOGIC</a:t>
            </a:r>
            <a:endParaRPr lang="en-US" sz="1000" dirty="0"/>
          </a:p>
        </p:txBody>
      </p:sp>
      <p:sp>
        <p:nvSpPr>
          <p:cNvPr id="15" name="dot-183"/>
          <p:cNvSpPr/>
          <p:nvPr/>
        </p:nvSpPr>
        <p:spPr>
          <a:xfrm>
            <a:off x="548640" y="3374136"/>
            <a:ext cx="100584" cy="100584"/>
          </a:xfrm>
          <a:prstGeom prst="ellipse">
            <a:avLst/>
          </a:prstGeom>
          <a:solidFill>
            <a:srgbClr val="5CEBB0"/>
          </a:solidFill>
          <a:ln/>
        </p:spPr>
      </p:sp>
      <p:sp>
        <p:nvSpPr>
          <p:cNvPr id="16" name="text-184"/>
          <p:cNvSpPr txBox="1"/>
          <p:nvPr/>
        </p:nvSpPr>
        <p:spPr>
          <a:xfrm>
            <a:off x="731520" y="3310128"/>
            <a:ext cx="3611880" cy="411480"/>
          </a:xfrm>
          <a:prstGeom prst="rect">
            <a:avLst/>
          </a:prstGeom>
          <a:noFill/>
          <a:ln/>
        </p:spPr>
        <p:txBody>
          <a:bodyPr wrap="square" lIns="0" tIns="0" rIns="0" bIns="0" rtlCol="0" anchor="t"/>
          <a:lstStyle/>
          <a:p>
            <a:pPr indent="0" marL="0">
              <a:buNone/>
            </a:pPr>
            <a:r>
              <a:rPr lang="en-US" sz="1150" dirty="0">
                <a:solidFill>
                  <a:schemeClr val="bg2"/>
                </a:solidFill>
              </a:rPr>
              <a:t>Single-message detector (rules, URL analysis, local models)</a:t>
            </a:r>
            <a:endParaRPr lang="en-US" sz="1150" dirty="0"/>
          </a:p>
        </p:txBody>
      </p:sp>
      <p:sp>
        <p:nvSpPr>
          <p:cNvPr id="17" name="dot-185"/>
          <p:cNvSpPr/>
          <p:nvPr/>
        </p:nvSpPr>
        <p:spPr>
          <a:xfrm>
            <a:off x="548640" y="3813048"/>
            <a:ext cx="100584" cy="100584"/>
          </a:xfrm>
          <a:prstGeom prst="ellipse">
            <a:avLst/>
          </a:prstGeom>
          <a:solidFill>
            <a:srgbClr val="5CEBB0"/>
          </a:solidFill>
          <a:ln/>
        </p:spPr>
      </p:sp>
      <p:sp>
        <p:nvSpPr>
          <p:cNvPr id="18" name="text-186"/>
          <p:cNvSpPr txBox="1"/>
          <p:nvPr/>
        </p:nvSpPr>
        <p:spPr>
          <a:xfrm>
            <a:off x="731520" y="3749040"/>
            <a:ext cx="3611880" cy="411480"/>
          </a:xfrm>
          <a:prstGeom prst="rect">
            <a:avLst/>
          </a:prstGeom>
          <a:noFill/>
          <a:ln/>
        </p:spPr>
        <p:txBody>
          <a:bodyPr wrap="square" lIns="0" tIns="0" rIns="0" bIns="0" rtlCol="0" anchor="t"/>
          <a:lstStyle/>
          <a:p>
            <a:pPr indent="0" marL="0">
              <a:buNone/>
            </a:pPr>
            <a:r>
              <a:rPr lang="en-US" sz="1150" dirty="0">
                <a:solidFill>
                  <a:schemeClr val="bg2"/>
                </a:solidFill>
              </a:rPr>
              <a:t>Scam DNA case engine and alert decisions</a:t>
            </a:r>
            <a:endParaRPr lang="en-US" sz="1150" dirty="0"/>
          </a:p>
        </p:txBody>
      </p:sp>
      <p:sp>
        <p:nvSpPr>
          <p:cNvPr id="19" name="dot-187"/>
          <p:cNvSpPr/>
          <p:nvPr/>
        </p:nvSpPr>
        <p:spPr>
          <a:xfrm>
            <a:off x="548640" y="4087368"/>
            <a:ext cx="100584" cy="100584"/>
          </a:xfrm>
          <a:prstGeom prst="ellipse">
            <a:avLst/>
          </a:prstGeom>
          <a:solidFill>
            <a:srgbClr val="A08CFF"/>
          </a:solidFill>
          <a:ln/>
        </p:spPr>
      </p:sp>
      <p:sp>
        <p:nvSpPr>
          <p:cNvPr id="20" name="text-188"/>
          <p:cNvSpPr txBox="1"/>
          <p:nvPr/>
        </p:nvSpPr>
        <p:spPr>
          <a:xfrm>
            <a:off x="731520" y="4023360"/>
            <a:ext cx="3611880" cy="411480"/>
          </a:xfrm>
          <a:prstGeom prst="rect">
            <a:avLst/>
          </a:prstGeom>
          <a:noFill/>
          <a:ln/>
        </p:spPr>
        <p:txBody>
          <a:bodyPr wrap="square" lIns="0" tIns="0" rIns="0" bIns="0" rtlCol="0" anchor="t"/>
          <a:lstStyle/>
          <a:p>
            <a:pPr indent="0" marL="0">
              <a:buNone/>
            </a:pPr>
            <a:r>
              <a:rPr lang="en-US" sz="1150" dirty="0">
                <a:solidFill>
                  <a:schemeClr val="bg2"/>
                </a:solidFill>
              </a:rPr>
              <a:t>Optional AI summary: off by default, never scores</a:t>
            </a:r>
            <a:endParaRPr lang="en-US" sz="1150" dirty="0"/>
          </a:p>
        </p:txBody>
      </p:sp>
      <p:sp>
        <p:nvSpPr>
          <p:cNvPr id="21" name="text-189"/>
          <p:cNvSpPr txBox="1"/>
          <p:nvPr/>
        </p:nvSpPr>
        <p:spPr>
          <a:xfrm>
            <a:off x="548640" y="4553712"/>
            <a:ext cx="365760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PERSISTENCE</a:t>
            </a:r>
            <a:endParaRPr lang="en-US" sz="1000" dirty="0"/>
          </a:p>
        </p:txBody>
      </p:sp>
      <p:sp>
        <p:nvSpPr>
          <p:cNvPr id="22" name="dot-190"/>
          <p:cNvSpPr/>
          <p:nvPr/>
        </p:nvSpPr>
        <p:spPr>
          <a:xfrm>
            <a:off x="548640" y="4873752"/>
            <a:ext cx="100584" cy="100584"/>
          </a:xfrm>
          <a:prstGeom prst="ellipse">
            <a:avLst/>
          </a:prstGeom>
          <a:solidFill>
            <a:srgbClr val="FFB84D"/>
          </a:solidFill>
          <a:ln/>
        </p:spPr>
      </p:sp>
      <p:sp>
        <p:nvSpPr>
          <p:cNvPr id="23" name="text-191"/>
          <p:cNvSpPr txBox="1"/>
          <p:nvPr/>
        </p:nvSpPr>
        <p:spPr>
          <a:xfrm>
            <a:off x="731520" y="4809744"/>
            <a:ext cx="3611880" cy="411480"/>
          </a:xfrm>
          <a:prstGeom prst="rect">
            <a:avLst/>
          </a:prstGeom>
          <a:noFill/>
          <a:ln/>
        </p:spPr>
        <p:txBody>
          <a:bodyPr wrap="square" lIns="0" tIns="0" rIns="0" bIns="0" rtlCol="0" anchor="t"/>
          <a:lstStyle/>
          <a:p>
            <a:pPr indent="0" marL="0">
              <a:buNone/>
            </a:pPr>
            <a:r>
              <a:rPr lang="en-US" sz="1150" dirty="0">
                <a:solidFill>
                  <a:schemeClr val="bg2"/>
                </a:solidFill>
              </a:rPr>
              <a:t>SQLite locally; PostgreSQL via Docker Compose</a:t>
            </a:r>
            <a:endParaRPr lang="en-US" sz="1150" dirty="0"/>
          </a:p>
        </p:txBody>
      </p:sp>
      <p:sp>
        <p:nvSpPr>
          <p:cNvPr id="24" name="text-192"/>
          <p:cNvSpPr txBox="1"/>
          <p:nvPr/>
        </p:nvSpPr>
        <p:spPr>
          <a:xfrm>
            <a:off x="548640" y="5175504"/>
            <a:ext cx="365760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REVIEW AND REPORTING</a:t>
            </a:r>
            <a:endParaRPr lang="en-US" sz="1000" dirty="0"/>
          </a:p>
        </p:txBody>
      </p:sp>
      <p:sp>
        <p:nvSpPr>
          <p:cNvPr id="25" name="dot-193"/>
          <p:cNvSpPr/>
          <p:nvPr/>
        </p:nvSpPr>
        <p:spPr>
          <a:xfrm>
            <a:off x="548640" y="5495544"/>
            <a:ext cx="100584" cy="100584"/>
          </a:xfrm>
          <a:prstGeom prst="ellipse">
            <a:avLst/>
          </a:prstGeom>
          <a:solidFill>
            <a:srgbClr val="5CEBB0"/>
          </a:solidFill>
          <a:ln/>
        </p:spPr>
      </p:sp>
      <p:sp>
        <p:nvSpPr>
          <p:cNvPr id="26" name="text-194"/>
          <p:cNvSpPr txBox="1"/>
          <p:nvPr/>
        </p:nvSpPr>
        <p:spPr>
          <a:xfrm>
            <a:off x="731520" y="5431536"/>
            <a:ext cx="3611880" cy="411480"/>
          </a:xfrm>
          <a:prstGeom prst="rect">
            <a:avLst/>
          </a:prstGeom>
          <a:noFill/>
          <a:ln/>
        </p:spPr>
        <p:txBody>
          <a:bodyPr wrap="square" lIns="0" tIns="0" rIns="0" bIns="0" rtlCol="0" anchor="t"/>
          <a:lstStyle/>
          <a:p>
            <a:pPr indent="0" marL="0">
              <a:buNone/>
            </a:pPr>
            <a:r>
              <a:rPr lang="en-US" sz="1150" dirty="0">
                <a:solidFill>
                  <a:schemeClr val="bg2"/>
                </a:solidFill>
              </a:rPr>
              <a:t>Review states, evidence report, consented alerts</a:t>
            </a:r>
            <a:endParaRPr lang="en-US" sz="1150" dirty="0"/>
          </a:p>
        </p:txBody>
      </p:sp>
      <p:sp>
        <p:nvSpPr>
          <p:cNvPr id="27" name="text-195"/>
          <p:cNvSpPr txBox="1"/>
          <p:nvPr/>
        </p:nvSpPr>
        <p:spPr>
          <a:xfrm>
            <a:off x="548640" y="5897880"/>
            <a:ext cx="3749040" cy="411480"/>
          </a:xfrm>
          <a:prstGeom prst="rect">
            <a:avLst/>
          </a:prstGeom>
          <a:noFill/>
          <a:ln/>
        </p:spPr>
        <p:txBody>
          <a:bodyPr wrap="square" lIns="0" tIns="0" rIns="0" bIns="0" rtlCol="0" anchor="t"/>
          <a:lstStyle/>
          <a:p>
            <a:pPr indent="0" marL="0">
              <a:buNone/>
            </a:pPr>
            <a:r>
              <a:rPr lang="en-US" sz="1000" dirty="0">
                <a:solidFill>
                  <a:schemeClr val="accent6"/>
                </a:solidFill>
              </a:rPr>
              <a:t>Green: implemented and tested · amber: partial or configured only · violet: optional</a:t>
            </a:r>
            <a:endParaRPr lang="en-US" sz="1000" dirty="0"/>
          </a:p>
        </p:txBody>
      </p:sp>
      <p:sp>
        <p:nvSpPr>
          <p:cNvPr id="28" name="text-196"/>
          <p:cNvSpPr txBox="1"/>
          <p:nvPr/>
        </p:nvSpPr>
        <p:spPr>
          <a:xfrm>
            <a:off x="4434840" y="5715000"/>
            <a:ext cx="7208215" cy="457200"/>
          </a:xfrm>
          <a:prstGeom prst="rect">
            <a:avLst/>
          </a:prstGeom>
          <a:noFill/>
          <a:ln/>
        </p:spPr>
        <p:txBody>
          <a:bodyPr wrap="square" lIns="0" tIns="0" rIns="0" bIns="0" rtlCol="0" anchor="t"/>
          <a:lstStyle/>
          <a:p>
            <a:pPr indent="0" marL="0">
              <a:buNone/>
            </a:pPr>
            <a:r>
              <a:rPr lang="en-US" sz="1100" dirty="0">
                <a:solidFill>
                  <a:schemeClr val="accent6"/>
                </a:solidFill>
              </a:rPr>
              <a:t>Rendered from the interactive 3D walkthrough (presentation/site, Scene A). No bank, NPCI or threat-intelligence feed is connected; links are never fetched.</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300" kern="0" dirty="0">
                <a:solidFill>
                  <a:schemeClr val="accent1"/>
                </a:solidFill>
              </a:rPr>
              <a:t>08 · VALIDATION</a:t>
            </a:r>
            <a:endParaRPr lang="en-US" sz="1100" dirty="0"/>
          </a:p>
        </p:txBody>
      </p:sp>
      <p:sp>
        <p:nvSpPr>
          <p:cNvPr id="3" name="Text 0"/>
          <p:cNvSpPr/>
          <p:nvPr>
            <p:ph idx="101" type="title" hasCustomPrompt="1"/>
          </p:nvPr>
        </p:nvSpPr>
        <p:spPr>
          <a:xfrm>
            <a:off x="548640" y="566928"/>
            <a:ext cx="11094415" cy="731520"/>
          </a:xfrm>
          <a:prstGeom prst="rect">
            <a:avLst/>
          </a:prstGeom>
          <a:noFill/>
          <a:ln/>
        </p:spPr>
        <p:txBody>
          <a:bodyPr wrap="square" lIns="0" tIns="0" rIns="0" bIns="0" rtlCol="0" anchor="t"/>
          <a:lstStyle/>
          <a:p>
            <a:pPr indent="0" marL="0">
              <a:buNone/>
            </a:pPr>
            <a:r>
              <a:rPr lang="en-US" sz="3200" b="1" dirty="0">
                <a:solidFill>
                  <a:schemeClr val="bg2"/>
                </a:solidFill>
                <a:latin typeface="Arial" pitchFamily="34" charset="0"/>
                <a:ea typeface="Arial" pitchFamily="34" charset="-122"/>
                <a:cs typeface="Arial" pitchFamily="34" charset="-120"/>
              </a:rPr>
              <a:t>Honest numbers on a frozen synthetic set</a:t>
            </a:r>
            <a:endParaRPr lang="en-US" sz="3200" dirty="0"/>
          </a:p>
        </p:txBody>
      </p:sp>
      <p:sp>
        <p:nvSpPr>
          <p:cNvPr id="4" name="text-197"/>
          <p:cNvSpPr txBox="1"/>
          <p:nvPr/>
        </p:nvSpPr>
        <p:spPr>
          <a:xfrm>
            <a:off x="548640" y="1371600"/>
            <a:ext cx="6583680" cy="685800"/>
          </a:xfrm>
          <a:prstGeom prst="rect">
            <a:avLst/>
          </a:prstGeom>
          <a:noFill/>
          <a:ln/>
        </p:spPr>
        <p:txBody>
          <a:bodyPr wrap="square" lIns="0" tIns="0" rIns="0" bIns="0" rtlCol="0" anchor="t"/>
          <a:lstStyle/>
          <a:p>
            <a:pPr indent="0" marL="0">
              <a:buNone/>
            </a:pPr>
            <a:r>
              <a:rPr lang="en-US" sz="1400" dirty="0">
                <a:solidFill>
                  <a:schemeClr val="accent6"/>
                </a:solidFill>
              </a:rPr>
              <a:t>65 synthetic scenarios, labels and checksum committed before the first run, scored through the real API with the rules unchanged. 51 are labelled scam (24) or benign (27).</a:t>
            </a:r>
            <a:endParaRPr lang="en-US" sz="1400" dirty="0"/>
          </a:p>
        </p:txBody>
      </p:sp>
      <p:sp>
        <p:nvSpPr>
          <p:cNvPr id="5" name="panel-198"/>
          <p:cNvSpPr/>
          <p:nvPr/>
        </p:nvSpPr>
        <p:spPr>
          <a:xfrm>
            <a:off x="548640" y="2148840"/>
            <a:ext cx="2103120" cy="1325880"/>
          </a:xfrm>
          <a:prstGeom prst="roundRect">
            <a:avLst>
              <a:gd name="adj" fmla="val 5517"/>
            </a:avLst>
          </a:prstGeom>
          <a:solidFill>
            <a:srgbClr val="0F1830">
              <a:alpha val="92000"/>
            </a:srgbClr>
          </a:solidFill>
          <a:ln w="12700">
            <a:solidFill>
              <a:srgbClr val="22324F"/>
            </a:solidFill>
            <a:prstDash val="solid"/>
          </a:ln>
        </p:spPr>
      </p:sp>
      <p:sp>
        <p:nvSpPr>
          <p:cNvPr id="6" name="text-199"/>
          <p:cNvSpPr txBox="1"/>
          <p:nvPr/>
        </p:nvSpPr>
        <p:spPr>
          <a:xfrm>
            <a:off x="731520" y="2240280"/>
            <a:ext cx="1828800" cy="640080"/>
          </a:xfrm>
          <a:prstGeom prst="rect">
            <a:avLst/>
          </a:prstGeom>
          <a:noFill/>
          <a:ln/>
        </p:spPr>
        <p:txBody>
          <a:bodyPr wrap="square" lIns="0" tIns="0" rIns="0" bIns="0" rtlCol="0" anchor="t"/>
          <a:lstStyle/>
          <a:p>
            <a:pPr indent="0" marL="0">
              <a:buNone/>
            </a:pPr>
            <a:r>
              <a:rPr lang="en-US" sz="3600" b="1" dirty="0">
                <a:solidFill>
                  <a:schemeClr val="accent1"/>
                </a:solidFill>
                <a:latin typeface="Arial" pitchFamily="34" charset="0"/>
                <a:ea typeface="Arial" pitchFamily="34" charset="-122"/>
                <a:cs typeface="Arial" pitchFamily="34" charset="-120"/>
              </a:rPr>
              <a:t>0.885</a:t>
            </a:r>
            <a:endParaRPr lang="en-US" sz="3600" dirty="0"/>
          </a:p>
        </p:txBody>
      </p:sp>
      <p:sp>
        <p:nvSpPr>
          <p:cNvPr id="7" name="text-200"/>
          <p:cNvSpPr txBox="1"/>
          <p:nvPr/>
        </p:nvSpPr>
        <p:spPr>
          <a:xfrm>
            <a:off x="731520" y="2834640"/>
            <a:ext cx="1828800" cy="228600"/>
          </a:xfrm>
          <a:prstGeom prst="rect">
            <a:avLst/>
          </a:prstGeom>
          <a:noFill/>
          <a:ln/>
        </p:spPr>
        <p:txBody>
          <a:bodyPr wrap="square" lIns="0" tIns="0" rIns="0" bIns="0" rtlCol="0" anchor="t"/>
          <a:lstStyle/>
          <a:p>
            <a:pPr indent="0" marL="0">
              <a:buNone/>
            </a:pPr>
            <a:r>
              <a:rPr lang="en-US" sz="1200" dirty="0">
                <a:solidFill>
                  <a:schemeClr val="bg2"/>
                </a:solidFill>
              </a:rPr>
              <a:t>23/26</a:t>
            </a:r>
            <a:endParaRPr lang="en-US" sz="1200" dirty="0"/>
          </a:p>
        </p:txBody>
      </p:sp>
      <p:sp>
        <p:nvSpPr>
          <p:cNvPr id="8" name="text-201"/>
          <p:cNvSpPr txBox="1"/>
          <p:nvPr/>
        </p:nvSpPr>
        <p:spPr>
          <a:xfrm>
            <a:off x="731520" y="3108960"/>
            <a:ext cx="1828800" cy="228600"/>
          </a:xfrm>
          <a:prstGeom prst="rect">
            <a:avLst/>
          </a:prstGeom>
          <a:noFill/>
          <a:ln/>
        </p:spPr>
        <p:txBody>
          <a:bodyPr wrap="square" lIns="0" tIns="0" rIns="0" bIns="0" rtlCol="0" anchor="t"/>
          <a:lstStyle/>
          <a:p>
            <a:pPr indent="0" marL="0">
              <a:buNone/>
            </a:pPr>
            <a:r>
              <a:rPr lang="en-US" sz="1000" b="1" spc="100" kern="0" dirty="0">
                <a:solidFill>
                  <a:schemeClr val="accent6"/>
                </a:solidFill>
              </a:rPr>
              <a:t>PRECISION</a:t>
            </a:r>
            <a:endParaRPr lang="en-US" sz="1000" dirty="0"/>
          </a:p>
        </p:txBody>
      </p:sp>
      <p:sp>
        <p:nvSpPr>
          <p:cNvPr id="9" name="panel-202"/>
          <p:cNvSpPr/>
          <p:nvPr/>
        </p:nvSpPr>
        <p:spPr>
          <a:xfrm>
            <a:off x="2788920" y="2148840"/>
            <a:ext cx="2103120" cy="1325880"/>
          </a:xfrm>
          <a:prstGeom prst="roundRect">
            <a:avLst>
              <a:gd name="adj" fmla="val 5517"/>
            </a:avLst>
          </a:prstGeom>
          <a:solidFill>
            <a:srgbClr val="0F1830">
              <a:alpha val="92000"/>
            </a:srgbClr>
          </a:solidFill>
          <a:ln w="12700">
            <a:solidFill>
              <a:srgbClr val="22324F"/>
            </a:solidFill>
            <a:prstDash val="solid"/>
          </a:ln>
        </p:spPr>
      </p:sp>
      <p:sp>
        <p:nvSpPr>
          <p:cNvPr id="10" name="text-203"/>
          <p:cNvSpPr txBox="1"/>
          <p:nvPr/>
        </p:nvSpPr>
        <p:spPr>
          <a:xfrm>
            <a:off x="2971800" y="2240280"/>
            <a:ext cx="1828800" cy="640080"/>
          </a:xfrm>
          <a:prstGeom prst="rect">
            <a:avLst/>
          </a:prstGeom>
          <a:noFill/>
          <a:ln/>
        </p:spPr>
        <p:txBody>
          <a:bodyPr wrap="square" lIns="0" tIns="0" rIns="0" bIns="0" rtlCol="0" anchor="t"/>
          <a:lstStyle/>
          <a:p>
            <a:pPr indent="0" marL="0">
              <a:buNone/>
            </a:pPr>
            <a:r>
              <a:rPr lang="en-US" sz="3600" b="1" dirty="0">
                <a:solidFill>
                  <a:schemeClr val="accent1"/>
                </a:solidFill>
                <a:latin typeface="Arial" pitchFamily="34" charset="0"/>
                <a:ea typeface="Arial" pitchFamily="34" charset="-122"/>
                <a:cs typeface="Arial" pitchFamily="34" charset="-120"/>
              </a:rPr>
              <a:t>0.958</a:t>
            </a:r>
            <a:endParaRPr lang="en-US" sz="3600" dirty="0"/>
          </a:p>
        </p:txBody>
      </p:sp>
      <p:sp>
        <p:nvSpPr>
          <p:cNvPr id="11" name="text-204"/>
          <p:cNvSpPr txBox="1"/>
          <p:nvPr/>
        </p:nvSpPr>
        <p:spPr>
          <a:xfrm>
            <a:off x="2971800" y="2834640"/>
            <a:ext cx="1828800" cy="228600"/>
          </a:xfrm>
          <a:prstGeom prst="rect">
            <a:avLst/>
          </a:prstGeom>
          <a:noFill/>
          <a:ln/>
        </p:spPr>
        <p:txBody>
          <a:bodyPr wrap="square" lIns="0" tIns="0" rIns="0" bIns="0" rtlCol="0" anchor="t"/>
          <a:lstStyle/>
          <a:p>
            <a:pPr indent="0" marL="0">
              <a:buNone/>
            </a:pPr>
            <a:r>
              <a:rPr lang="en-US" sz="1200" dirty="0">
                <a:solidFill>
                  <a:schemeClr val="bg2"/>
                </a:solidFill>
              </a:rPr>
              <a:t>23/24</a:t>
            </a:r>
            <a:endParaRPr lang="en-US" sz="1200" dirty="0"/>
          </a:p>
        </p:txBody>
      </p:sp>
      <p:sp>
        <p:nvSpPr>
          <p:cNvPr id="12" name="text-205"/>
          <p:cNvSpPr txBox="1"/>
          <p:nvPr/>
        </p:nvSpPr>
        <p:spPr>
          <a:xfrm>
            <a:off x="2971800" y="3108960"/>
            <a:ext cx="1828800" cy="228600"/>
          </a:xfrm>
          <a:prstGeom prst="rect">
            <a:avLst/>
          </a:prstGeom>
          <a:noFill/>
          <a:ln/>
        </p:spPr>
        <p:txBody>
          <a:bodyPr wrap="square" lIns="0" tIns="0" rIns="0" bIns="0" rtlCol="0" anchor="t"/>
          <a:lstStyle/>
          <a:p>
            <a:pPr indent="0" marL="0">
              <a:buNone/>
            </a:pPr>
            <a:r>
              <a:rPr lang="en-US" sz="1000" b="1" spc="100" kern="0" dirty="0">
                <a:solidFill>
                  <a:schemeClr val="accent6"/>
                </a:solidFill>
              </a:rPr>
              <a:t>RECALL</a:t>
            </a:r>
            <a:endParaRPr lang="en-US" sz="1000" dirty="0"/>
          </a:p>
        </p:txBody>
      </p:sp>
      <p:sp>
        <p:nvSpPr>
          <p:cNvPr id="13" name="panel-206"/>
          <p:cNvSpPr/>
          <p:nvPr/>
        </p:nvSpPr>
        <p:spPr>
          <a:xfrm>
            <a:off x="5029200" y="2148840"/>
            <a:ext cx="2103120" cy="1325880"/>
          </a:xfrm>
          <a:prstGeom prst="roundRect">
            <a:avLst>
              <a:gd name="adj" fmla="val 5517"/>
            </a:avLst>
          </a:prstGeom>
          <a:solidFill>
            <a:srgbClr val="0F1830">
              <a:alpha val="92000"/>
            </a:srgbClr>
          </a:solidFill>
          <a:ln w="12700">
            <a:solidFill>
              <a:srgbClr val="22324F"/>
            </a:solidFill>
            <a:prstDash val="solid"/>
          </a:ln>
        </p:spPr>
      </p:sp>
      <p:sp>
        <p:nvSpPr>
          <p:cNvPr id="14" name="text-207"/>
          <p:cNvSpPr txBox="1"/>
          <p:nvPr/>
        </p:nvSpPr>
        <p:spPr>
          <a:xfrm>
            <a:off x="5212080" y="2240280"/>
            <a:ext cx="1828800" cy="640080"/>
          </a:xfrm>
          <a:prstGeom prst="rect">
            <a:avLst/>
          </a:prstGeom>
          <a:noFill/>
          <a:ln/>
        </p:spPr>
        <p:txBody>
          <a:bodyPr wrap="square" lIns="0" tIns="0" rIns="0" bIns="0" rtlCol="0" anchor="t"/>
          <a:lstStyle/>
          <a:p>
            <a:pPr indent="0" marL="0">
              <a:buNone/>
            </a:pPr>
            <a:r>
              <a:rPr lang="en-US" sz="3600" b="1" dirty="0">
                <a:solidFill>
                  <a:schemeClr val="accent5"/>
                </a:solidFill>
                <a:latin typeface="Arial" pitchFamily="34" charset="0"/>
                <a:ea typeface="Arial" pitchFamily="34" charset="-122"/>
                <a:cs typeface="Arial" pitchFamily="34" charset="-120"/>
              </a:rPr>
              <a:t>0.111</a:t>
            </a:r>
            <a:endParaRPr lang="en-US" sz="3600" dirty="0"/>
          </a:p>
        </p:txBody>
      </p:sp>
      <p:sp>
        <p:nvSpPr>
          <p:cNvPr id="15" name="text-208"/>
          <p:cNvSpPr txBox="1"/>
          <p:nvPr/>
        </p:nvSpPr>
        <p:spPr>
          <a:xfrm>
            <a:off x="5212080" y="2834640"/>
            <a:ext cx="1828800" cy="228600"/>
          </a:xfrm>
          <a:prstGeom prst="rect">
            <a:avLst/>
          </a:prstGeom>
          <a:noFill/>
          <a:ln/>
        </p:spPr>
        <p:txBody>
          <a:bodyPr wrap="square" lIns="0" tIns="0" rIns="0" bIns="0" rtlCol="0" anchor="t"/>
          <a:lstStyle/>
          <a:p>
            <a:pPr indent="0" marL="0">
              <a:buNone/>
            </a:pPr>
            <a:r>
              <a:rPr lang="en-US" sz="1200" dirty="0">
                <a:solidFill>
                  <a:schemeClr val="bg2"/>
                </a:solidFill>
              </a:rPr>
              <a:t>3/27</a:t>
            </a:r>
            <a:endParaRPr lang="en-US" sz="1200" dirty="0"/>
          </a:p>
        </p:txBody>
      </p:sp>
      <p:sp>
        <p:nvSpPr>
          <p:cNvPr id="16" name="text-209"/>
          <p:cNvSpPr txBox="1"/>
          <p:nvPr/>
        </p:nvSpPr>
        <p:spPr>
          <a:xfrm>
            <a:off x="5212080" y="3108960"/>
            <a:ext cx="1828800" cy="228600"/>
          </a:xfrm>
          <a:prstGeom prst="rect">
            <a:avLst/>
          </a:prstGeom>
          <a:noFill/>
          <a:ln/>
        </p:spPr>
        <p:txBody>
          <a:bodyPr wrap="square" lIns="0" tIns="0" rIns="0" bIns="0" rtlCol="0" anchor="t"/>
          <a:lstStyle/>
          <a:p>
            <a:pPr indent="0" marL="0">
              <a:buNone/>
            </a:pPr>
            <a:r>
              <a:rPr lang="en-US" sz="1000" b="1" spc="100" kern="0" dirty="0">
                <a:solidFill>
                  <a:schemeClr val="accent6"/>
                </a:solidFill>
              </a:rPr>
              <a:t>FALSE-POSITIVE RATE</a:t>
            </a:r>
            <a:endParaRPr lang="en-US" sz="1000" dirty="0"/>
          </a:p>
        </p:txBody>
      </p:sp>
      <p:sp>
        <p:nvSpPr>
          <p:cNvPr id="17" name="text-210"/>
          <p:cNvSpPr txBox="1"/>
          <p:nvPr/>
        </p:nvSpPr>
        <p:spPr>
          <a:xfrm>
            <a:off x="548640" y="3703320"/>
            <a:ext cx="6583680" cy="228600"/>
          </a:xfrm>
          <a:prstGeom prst="rect">
            <a:avLst/>
          </a:prstGeom>
          <a:noFill/>
          <a:ln/>
        </p:spPr>
        <p:txBody>
          <a:bodyPr wrap="square" lIns="0" tIns="0" rIns="0" bIns="0" rtlCol="0" anchor="t"/>
          <a:lstStyle/>
          <a:p>
            <a:pPr indent="0" marL="0">
              <a:buNone/>
            </a:pPr>
            <a:r>
              <a:rPr lang="en-US" sz="1000" b="1" spc="200" kern="0" dirty="0">
                <a:solidFill>
                  <a:schemeClr val="accent3"/>
                </a:solidFill>
              </a:rPr>
              <a:t>ERRORS IN THE FROZEN V2 RUN (BEFORE HARDENING)</a:t>
            </a:r>
            <a:endParaRPr lang="en-US" sz="1000" dirty="0"/>
          </a:p>
        </p:txBody>
      </p:sp>
      <p:sp>
        <p:nvSpPr>
          <p:cNvPr id="18" name="text-211"/>
          <p:cNvSpPr txBox="1"/>
          <p:nvPr/>
        </p:nvSpPr>
        <p:spPr>
          <a:xfrm>
            <a:off x="548640" y="3959352"/>
            <a:ext cx="6583680" cy="1234440"/>
          </a:xfrm>
          <a:prstGeom prst="rect">
            <a:avLst/>
          </a:prstGeom>
          <a:noFill/>
          <a:ln/>
        </p:spPr>
        <p:txBody>
          <a:bodyPr wrap="square" lIns="0" tIns="0" rIns="0" bIns="0" rtlCol="0" anchor="t"/>
          <a:lstStyle/>
          <a:p>
            <a:pPr marL="342900" indent="-342900">
              <a:spcAft>
                <a:spcPts val="200"/>
              </a:spcAft>
              <a:buSzPct val="100000"/>
              <a:buChar char="•"/>
            </a:pPr>
            <a:r>
              <a:rPr lang="en-US" sz="1200" dirty="0">
                <a:solidFill>
                  <a:schemeClr val="bg2"/>
                </a:solidFill>
              </a:rPr>
              <a:t>False positive: New-login security alert pointing to the official app (warn, 30)</a:t>
            </a:r>
            <a:endParaRPr lang="en-US" sz="1200" dirty="0"/>
          </a:p>
          <a:p>
            <a:pPr marL="342900" indent="-342900">
              <a:spcAft>
                <a:spcPts val="200"/>
              </a:spcAft>
              <a:buSzPct val="100000"/>
              <a:buChar char="•"/>
            </a:pPr>
            <a:r>
              <a:rPr lang="en-US" sz="1200" dirty="0">
                <a:solidFill>
                  <a:schemeClr val="bg2"/>
                </a:solidFill>
              </a:rPr>
              <a:t>False positive: Genuine delivery OTP that IS meant to be shared with the courier (false-positive trap) (alert, 60)</a:t>
            </a:r>
            <a:endParaRPr lang="en-US" sz="1200" dirty="0"/>
          </a:p>
          <a:p>
            <a:pPr marL="342900" indent="-342900">
              <a:spcAft>
                <a:spcPts val="200"/>
              </a:spcAft>
              <a:buSzPct val="100000"/>
              <a:buChar char="•"/>
            </a:pPr>
            <a:r>
              <a:rPr lang="en-US" sz="1200" dirty="0">
                <a:solidFill>
                  <a:schemeClr val="bg2"/>
                </a:solidFill>
              </a:rPr>
              <a:t>False positive: LPG booking confirmation (warn, 35)</a:t>
            </a:r>
            <a:endParaRPr lang="en-US" sz="1200" dirty="0"/>
          </a:p>
          <a:p>
            <a:pPr marL="342900" indent="-342900">
              <a:spcAft>
                <a:spcPts val="200"/>
              </a:spcAft>
              <a:buSzPct val="100000"/>
              <a:buChar char="•"/>
            </a:pPr>
            <a:r>
              <a:rPr lang="en-US" sz="1200" dirty="0">
                <a:solidFill>
                  <a:schemeClr val="bg2"/>
                </a:solidFill>
              </a:rPr>
              <a:t>False negative: Product-rating job with registration fee (clear, 15)</a:t>
            </a:r>
            <a:endParaRPr lang="en-US" sz="1200" dirty="0"/>
          </a:p>
        </p:txBody>
      </p:sp>
      <p:sp>
        <p:nvSpPr>
          <p:cNvPr id="19" name="text-212"/>
          <p:cNvSpPr txBox="1"/>
          <p:nvPr/>
        </p:nvSpPr>
        <p:spPr>
          <a:xfrm>
            <a:off x="548640" y="5230368"/>
            <a:ext cx="6583680" cy="502920"/>
          </a:xfrm>
          <a:prstGeom prst="rect">
            <a:avLst/>
          </a:prstGeom>
          <a:noFill/>
          <a:ln/>
        </p:spPr>
        <p:txBody>
          <a:bodyPr wrap="square" lIns="0" tIns="0" rIns="0" bIns="0" rtlCol="0" anchor="t"/>
          <a:lstStyle/>
          <a:p>
            <a:pPr indent="0" marL="0">
              <a:buNone/>
            </a:pPr>
            <a:r>
              <a:rPr lang="en-US" sz="1200" dirty="0">
                <a:solidFill>
                  <a:schemeClr val="accent6"/>
                </a:solidFill>
              </a:rPr>
              <a:t>After hardening the courier OTP is warn 59: still a false positive, no longer high. v3 check (32 scenarios, not independent): P 0.778, R 0.933, FPR 0.235, unchanged by the fixes.</a:t>
            </a:r>
            <a:endParaRPr lang="en-US" sz="1200" dirty="0"/>
          </a:p>
        </p:txBody>
      </p:sp>
      <p:sp>
        <p:nvSpPr>
          <p:cNvPr id="20" name="text-213"/>
          <p:cNvSpPr txBox="1"/>
          <p:nvPr/>
        </p:nvSpPr>
        <p:spPr>
          <a:xfrm>
            <a:off x="548640" y="5788152"/>
            <a:ext cx="6583680" cy="411480"/>
          </a:xfrm>
          <a:prstGeom prst="rect">
            <a:avLst/>
          </a:prstGeom>
          <a:noFill/>
          <a:ln/>
        </p:spPr>
        <p:txBody>
          <a:bodyPr wrap="square" lIns="0" tIns="0" rIns="0" bIns="0" rtlCol="0" anchor="t"/>
          <a:lstStyle/>
          <a:p>
            <a:pPr indent="0" marL="0">
              <a:buNone/>
            </a:pPr>
            <a:r>
              <a:rPr lang="en-US" sz="1100" dirty="0">
                <a:solidFill>
                  <a:schemeClr val="accent6"/>
                </a:solidFill>
              </a:rPr>
              <a:t>Tests on this branch: backend 176/176, extension 25/25, browser suites 18/18, 21/21, 17/17, 30/30 and demo 12/12, all run on 2026-10-12 against a scratch database.</a:t>
            </a:r>
            <a:endParaRPr lang="en-US" sz="1100" dirty="0"/>
          </a:p>
        </p:txBody>
      </p:sp>
      <p:graphicFrame>
        <p:nvGraphicFramePr>
          <p:cNvPr id="21" name="chart-214" descr=""/>
          <p:cNvGraphicFramePr/>
          <p:nvPr/>
        </p:nvGraphicFramePr>
        <p:xfrm>
          <a:off x="7315200" y="1371600"/>
          <a:ext cx="4327855" cy="3886200"/>
        </p:xfrm>
        <a:graphic xmlns:a="http://schemas.openxmlformats.org/drawingml/2006/main">
          <a:graphicData uri="http://schemas.openxmlformats.org/drawingml/2006/chart">
            <c:chart xmlns:c="http://schemas.openxmlformats.org/drawingml/2006/chart" r:id="rId1"/>
          </a:graphicData>
        </a:graphic>
      </p:graphicFrame>
      <p:sp>
        <p:nvSpPr>
          <p:cNvPr id="22" name="panel-215"/>
          <p:cNvSpPr/>
          <p:nvPr/>
        </p:nvSpPr>
        <p:spPr>
          <a:xfrm>
            <a:off x="7315200" y="5440680"/>
            <a:ext cx="4327855" cy="731520"/>
          </a:xfrm>
          <a:prstGeom prst="roundRect">
            <a:avLst>
              <a:gd name="adj" fmla="val 10000"/>
            </a:avLst>
          </a:prstGeom>
          <a:solidFill>
            <a:srgbClr val="2A1420">
              <a:alpha val="92000"/>
            </a:srgbClr>
          </a:solidFill>
          <a:ln w="12700">
            <a:solidFill>
              <a:srgbClr val="22324F"/>
            </a:solidFill>
            <a:prstDash val="solid"/>
          </a:ln>
        </p:spPr>
      </p:sp>
      <p:sp>
        <p:nvSpPr>
          <p:cNvPr id="23" name="text-216"/>
          <p:cNvSpPr txBox="1"/>
          <p:nvPr/>
        </p:nvSpPr>
        <p:spPr>
          <a:xfrm>
            <a:off x="7498080" y="5504688"/>
            <a:ext cx="3962095" cy="594360"/>
          </a:xfrm>
          <a:prstGeom prst="rect">
            <a:avLst/>
          </a:prstGeom>
          <a:noFill/>
          <a:ln/>
        </p:spPr>
        <p:txBody>
          <a:bodyPr wrap="square" lIns="0" tIns="0" rIns="0" bIns="0" rtlCol="0" anchor="ctr"/>
          <a:lstStyle/>
          <a:p>
            <a:pPr indent="0" marL="0">
              <a:buNone/>
            </a:pPr>
            <a:r>
              <a:rPr lang="en-US" sz="1300" b="1" dirty="0">
                <a:solidFill>
                  <a:schemeClr val="bg2"/>
                </a:solidFill>
              </a:rPr>
              <a:t>Synthetic benchmark performance does not establish real-world fraud-detection accuracy.</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300" kern="0" dirty="0">
                <a:solidFill>
                  <a:schemeClr val="accent1"/>
                </a:solidFill>
              </a:rPr>
              <a:t>09 · TRUST AND DEPLOYMENT</a:t>
            </a:r>
            <a:endParaRPr lang="en-US" sz="1100" dirty="0"/>
          </a:p>
        </p:txBody>
      </p:sp>
      <p:sp>
        <p:nvSpPr>
          <p:cNvPr id="3" name="Text 0"/>
          <p:cNvSpPr/>
          <p:nvPr>
            <p:ph idx="101" type="title" hasCustomPrompt="1"/>
          </p:nvPr>
        </p:nvSpPr>
        <p:spPr>
          <a:xfrm>
            <a:off x="548640" y="566928"/>
            <a:ext cx="11094415" cy="731520"/>
          </a:xfrm>
          <a:prstGeom prst="rect">
            <a:avLst/>
          </a:prstGeom>
          <a:noFill/>
          <a:ln/>
        </p:spPr>
        <p:txBody>
          <a:bodyPr wrap="square" lIns="0" tIns="0" rIns="0" bIns="0" rtlCol="0" anchor="t"/>
          <a:lstStyle/>
          <a:p>
            <a:pPr indent="0" marL="0">
              <a:buNone/>
            </a:pPr>
            <a:r>
              <a:rPr lang="en-US" sz="3200" b="1" dirty="0">
                <a:solidFill>
                  <a:schemeClr val="bg2"/>
                </a:solidFill>
                <a:latin typeface="Arial" pitchFamily="34" charset="0"/>
                <a:ea typeface="Arial" pitchFamily="34" charset="-122"/>
                <a:cs typeface="Arial" pitchFamily="34" charset="-120"/>
              </a:rPr>
              <a:t>Privacy, consent and a realistic path</a:t>
            </a:r>
            <a:endParaRPr lang="en-US" sz="3200" dirty="0"/>
          </a:p>
        </p:txBody>
      </p:sp>
      <p:sp>
        <p:nvSpPr>
          <p:cNvPr id="4" name="icon-217"/>
          <p:cNvSpPr/>
          <p:nvPr/>
        </p:nvSpPr>
        <p:spPr>
          <a:xfrm>
            <a:off x="548640" y="1453896"/>
            <a:ext cx="329184" cy="329184"/>
          </a:xfrm>
          <a:prstGeom prst="roundRect">
            <a:avLst>
              <a:gd name="adj" fmla="val 22222"/>
            </a:avLst>
          </a:prstGeom>
          <a:solidFill>
            <a:srgbClr val="3EE6FF">
              <a:alpha val="18000"/>
            </a:srgbClr>
          </a:solidFill>
          <a:ln w="12700">
            <a:solidFill>
              <a:srgbClr val="3EE6FF"/>
            </a:solidFill>
            <a:prstDash val="solid"/>
          </a:ln>
        </p:spPr>
      </p:sp>
      <p:sp>
        <p:nvSpPr>
          <p:cNvPr id="5" name="text-218"/>
          <p:cNvSpPr txBox="1"/>
          <p:nvPr/>
        </p:nvSpPr>
        <p:spPr>
          <a:xfrm>
            <a:off x="548640" y="1453896"/>
            <a:ext cx="329184" cy="329184"/>
          </a:xfrm>
          <a:prstGeom prst="rect">
            <a:avLst/>
          </a:prstGeom>
          <a:noFill/>
          <a:ln/>
        </p:spPr>
        <p:txBody>
          <a:bodyPr wrap="square" lIns="0" tIns="0" rIns="0" bIns="0" rtlCol="0" anchor="ctr"/>
          <a:lstStyle/>
          <a:p>
            <a:pPr algn="ctr" indent="0" marL="0">
              <a:buNone/>
            </a:pPr>
            <a:r>
              <a:rPr lang="en-US" sz="1200" b="1" dirty="0">
                <a:solidFill>
                  <a:schemeClr val="accent1"/>
                </a:solidFill>
              </a:rPr>
              <a:t>1</a:t>
            </a:r>
            <a:endParaRPr lang="en-US" sz="1200" dirty="0"/>
          </a:p>
        </p:txBody>
      </p:sp>
      <p:sp>
        <p:nvSpPr>
          <p:cNvPr id="6" name="text-219"/>
          <p:cNvSpPr txBox="1"/>
          <p:nvPr/>
        </p:nvSpPr>
        <p:spPr>
          <a:xfrm>
            <a:off x="1051560" y="1417320"/>
            <a:ext cx="5394960" cy="274320"/>
          </a:xfrm>
          <a:prstGeom prst="rect">
            <a:avLst/>
          </a:prstGeom>
          <a:noFill/>
          <a:ln/>
        </p:spPr>
        <p:txBody>
          <a:bodyPr wrap="square" lIns="0" tIns="0" rIns="0" bIns="0" rtlCol="0" anchor="t"/>
          <a:lstStyle/>
          <a:p>
            <a:pPr indent="0" marL="0">
              <a:buNone/>
            </a:pPr>
            <a:r>
              <a:rPr lang="en-US" sz="1400" b="1" dirty="0">
                <a:solidFill>
                  <a:schemeClr val="bg2"/>
                </a:solidFill>
              </a:rPr>
              <a:t>You choose what to check</a:t>
            </a:r>
            <a:endParaRPr lang="en-US" sz="1400" dirty="0"/>
          </a:p>
        </p:txBody>
      </p:sp>
      <p:sp>
        <p:nvSpPr>
          <p:cNvPr id="7" name="text-220"/>
          <p:cNvSpPr txBox="1"/>
          <p:nvPr/>
        </p:nvSpPr>
        <p:spPr>
          <a:xfrm>
            <a:off x="1051560" y="1691640"/>
            <a:ext cx="5394960" cy="457200"/>
          </a:xfrm>
          <a:prstGeom prst="rect">
            <a:avLst/>
          </a:prstGeom>
          <a:noFill/>
          <a:ln/>
        </p:spPr>
        <p:txBody>
          <a:bodyPr wrap="square" lIns="0" tIns="0" rIns="0" bIns="0" rtlCol="0" anchor="t"/>
          <a:lstStyle/>
          <a:p>
            <a:pPr indent="0" marL="0">
              <a:buNone/>
            </a:pPr>
            <a:r>
              <a:rPr lang="en-US" sz="1150" dirty="0">
                <a:solidFill>
                  <a:schemeClr val="accent6"/>
                </a:solidFill>
              </a:rPr>
              <a:t>No SMS, call, WhatsApp or transaction monitoring; mobile platforms restrict that access and we do not work around it.</a:t>
            </a:r>
            <a:endParaRPr lang="en-US" sz="1150" dirty="0"/>
          </a:p>
        </p:txBody>
      </p:sp>
      <p:sp>
        <p:nvSpPr>
          <p:cNvPr id="8" name="icon-221"/>
          <p:cNvSpPr/>
          <p:nvPr/>
        </p:nvSpPr>
        <p:spPr>
          <a:xfrm>
            <a:off x="548640" y="2240280"/>
            <a:ext cx="329184" cy="329184"/>
          </a:xfrm>
          <a:prstGeom prst="roundRect">
            <a:avLst>
              <a:gd name="adj" fmla="val 22222"/>
            </a:avLst>
          </a:prstGeom>
          <a:solidFill>
            <a:srgbClr val="3EE6FF">
              <a:alpha val="18000"/>
            </a:srgbClr>
          </a:solidFill>
          <a:ln w="12700">
            <a:solidFill>
              <a:srgbClr val="3EE6FF"/>
            </a:solidFill>
            <a:prstDash val="solid"/>
          </a:ln>
        </p:spPr>
      </p:sp>
      <p:sp>
        <p:nvSpPr>
          <p:cNvPr id="9" name="text-222"/>
          <p:cNvSpPr txBox="1"/>
          <p:nvPr/>
        </p:nvSpPr>
        <p:spPr>
          <a:xfrm>
            <a:off x="548640" y="2240280"/>
            <a:ext cx="329184" cy="329184"/>
          </a:xfrm>
          <a:prstGeom prst="rect">
            <a:avLst/>
          </a:prstGeom>
          <a:noFill/>
          <a:ln/>
        </p:spPr>
        <p:txBody>
          <a:bodyPr wrap="square" lIns="0" tIns="0" rIns="0" bIns="0" rtlCol="0" anchor="ctr"/>
          <a:lstStyle/>
          <a:p>
            <a:pPr algn="ctr" indent="0" marL="0">
              <a:buNone/>
            </a:pPr>
            <a:r>
              <a:rPr lang="en-US" sz="1200" b="1" dirty="0">
                <a:solidFill>
                  <a:schemeClr val="accent1"/>
                </a:solidFill>
              </a:rPr>
              <a:t>2</a:t>
            </a:r>
            <a:endParaRPr lang="en-US" sz="1200" dirty="0"/>
          </a:p>
        </p:txBody>
      </p:sp>
      <p:sp>
        <p:nvSpPr>
          <p:cNvPr id="10" name="text-223"/>
          <p:cNvSpPr txBox="1"/>
          <p:nvPr/>
        </p:nvSpPr>
        <p:spPr>
          <a:xfrm>
            <a:off x="1051560" y="2203704"/>
            <a:ext cx="5394960" cy="274320"/>
          </a:xfrm>
          <a:prstGeom prst="rect">
            <a:avLst/>
          </a:prstGeom>
          <a:noFill/>
          <a:ln/>
        </p:spPr>
        <p:txBody>
          <a:bodyPr wrap="square" lIns="0" tIns="0" rIns="0" bIns="0" rtlCol="0" anchor="t"/>
          <a:lstStyle/>
          <a:p>
            <a:pPr indent="0" marL="0">
              <a:buNone/>
            </a:pPr>
            <a:r>
              <a:rPr lang="en-US" sz="1400" b="1" dirty="0">
                <a:solidFill>
                  <a:schemeClr val="bg2"/>
                </a:solidFill>
              </a:rPr>
              <a:t>Minimal retention</a:t>
            </a:r>
            <a:endParaRPr lang="en-US" sz="1400" dirty="0"/>
          </a:p>
        </p:txBody>
      </p:sp>
      <p:sp>
        <p:nvSpPr>
          <p:cNvPr id="11" name="text-224"/>
          <p:cNvSpPr txBox="1"/>
          <p:nvPr/>
        </p:nvSpPr>
        <p:spPr>
          <a:xfrm>
            <a:off x="1051560" y="2478024"/>
            <a:ext cx="5394960" cy="457200"/>
          </a:xfrm>
          <a:prstGeom prst="rect">
            <a:avLst/>
          </a:prstGeom>
          <a:noFill/>
          <a:ln/>
        </p:spPr>
        <p:txBody>
          <a:bodyPr wrap="square" lIns="0" tIns="0" rIns="0" bIns="0" rtlCol="0" anchor="t"/>
          <a:lstStyle/>
          <a:p>
            <a:pPr indent="0" marL="0">
              <a:buNone/>
            </a:pPr>
            <a:r>
              <a:rPr lang="en-US" sz="1150" dirty="0">
                <a:solidFill>
                  <a:schemeClr val="accent6"/>
                </a:solidFill>
              </a:rPr>
              <a:t>Redacted excerpts only; screenshots discarded after local OCR; history is opt-in; export and delete-everything.</a:t>
            </a:r>
            <a:endParaRPr lang="en-US" sz="1150" dirty="0"/>
          </a:p>
        </p:txBody>
      </p:sp>
      <p:sp>
        <p:nvSpPr>
          <p:cNvPr id="12" name="icon-225"/>
          <p:cNvSpPr/>
          <p:nvPr/>
        </p:nvSpPr>
        <p:spPr>
          <a:xfrm>
            <a:off x="548640" y="3026664"/>
            <a:ext cx="329184" cy="329184"/>
          </a:xfrm>
          <a:prstGeom prst="roundRect">
            <a:avLst>
              <a:gd name="adj" fmla="val 22222"/>
            </a:avLst>
          </a:prstGeom>
          <a:solidFill>
            <a:srgbClr val="3EE6FF">
              <a:alpha val="18000"/>
            </a:srgbClr>
          </a:solidFill>
          <a:ln w="12700">
            <a:solidFill>
              <a:srgbClr val="3EE6FF"/>
            </a:solidFill>
            <a:prstDash val="solid"/>
          </a:ln>
        </p:spPr>
      </p:sp>
      <p:sp>
        <p:nvSpPr>
          <p:cNvPr id="13" name="text-226"/>
          <p:cNvSpPr txBox="1"/>
          <p:nvPr/>
        </p:nvSpPr>
        <p:spPr>
          <a:xfrm>
            <a:off x="548640" y="3026664"/>
            <a:ext cx="329184" cy="329184"/>
          </a:xfrm>
          <a:prstGeom prst="rect">
            <a:avLst/>
          </a:prstGeom>
          <a:noFill/>
          <a:ln/>
        </p:spPr>
        <p:txBody>
          <a:bodyPr wrap="square" lIns="0" tIns="0" rIns="0" bIns="0" rtlCol="0" anchor="ctr"/>
          <a:lstStyle/>
          <a:p>
            <a:pPr algn="ctr" indent="0" marL="0">
              <a:buNone/>
            </a:pPr>
            <a:r>
              <a:rPr lang="en-US" sz="1200" b="1" dirty="0">
                <a:solidFill>
                  <a:schemeClr val="accent1"/>
                </a:solidFill>
              </a:rPr>
              <a:t>3</a:t>
            </a:r>
            <a:endParaRPr lang="en-US" sz="1200" dirty="0"/>
          </a:p>
        </p:txBody>
      </p:sp>
      <p:sp>
        <p:nvSpPr>
          <p:cNvPr id="14" name="text-227"/>
          <p:cNvSpPr txBox="1"/>
          <p:nvPr/>
        </p:nvSpPr>
        <p:spPr>
          <a:xfrm>
            <a:off x="1051560" y="2990088"/>
            <a:ext cx="5394960" cy="274320"/>
          </a:xfrm>
          <a:prstGeom prst="rect">
            <a:avLst/>
          </a:prstGeom>
          <a:noFill/>
          <a:ln/>
        </p:spPr>
        <p:txBody>
          <a:bodyPr wrap="square" lIns="0" tIns="0" rIns="0" bIns="0" rtlCol="0" anchor="t"/>
          <a:lstStyle/>
          <a:p>
            <a:pPr indent="0" marL="0">
              <a:buNone/>
            </a:pPr>
            <a:r>
              <a:rPr lang="en-US" sz="1400" b="1" dirty="0">
                <a:solidFill>
                  <a:schemeClr val="bg2"/>
                </a:solidFill>
              </a:rPr>
              <a:t>Minimal URLs</a:t>
            </a:r>
            <a:endParaRPr lang="en-US" sz="1400" dirty="0"/>
          </a:p>
        </p:txBody>
      </p:sp>
      <p:sp>
        <p:nvSpPr>
          <p:cNvPr id="15" name="text-228"/>
          <p:cNvSpPr txBox="1"/>
          <p:nvPr/>
        </p:nvSpPr>
        <p:spPr>
          <a:xfrm>
            <a:off x="1051560" y="3264408"/>
            <a:ext cx="5394960" cy="457200"/>
          </a:xfrm>
          <a:prstGeom prst="rect">
            <a:avLst/>
          </a:prstGeom>
          <a:noFill/>
          <a:ln/>
        </p:spPr>
        <p:txBody>
          <a:bodyPr wrap="square" lIns="0" tIns="0" rIns="0" bIns="0" rtlCol="0" anchor="t"/>
          <a:lstStyle/>
          <a:p>
            <a:pPr indent="0" marL="0">
              <a:buNone/>
            </a:pPr>
            <a:r>
              <a:rPr lang="en-US" sz="1150" dirty="0">
                <a:solidFill>
                  <a:schemeClr val="accent6"/>
                </a:solidFill>
              </a:rPr>
              <a:t>The extension masks query values and drops fragments before sending a clicked link.</a:t>
            </a:r>
            <a:endParaRPr lang="en-US" sz="1150" dirty="0"/>
          </a:p>
        </p:txBody>
      </p:sp>
      <p:sp>
        <p:nvSpPr>
          <p:cNvPr id="16" name="icon-229"/>
          <p:cNvSpPr/>
          <p:nvPr/>
        </p:nvSpPr>
        <p:spPr>
          <a:xfrm>
            <a:off x="548640" y="3813048"/>
            <a:ext cx="329184" cy="329184"/>
          </a:xfrm>
          <a:prstGeom prst="roundRect">
            <a:avLst>
              <a:gd name="adj" fmla="val 22222"/>
            </a:avLst>
          </a:prstGeom>
          <a:solidFill>
            <a:srgbClr val="3EE6FF">
              <a:alpha val="18000"/>
            </a:srgbClr>
          </a:solidFill>
          <a:ln w="12700">
            <a:solidFill>
              <a:srgbClr val="3EE6FF"/>
            </a:solidFill>
            <a:prstDash val="solid"/>
          </a:ln>
        </p:spPr>
      </p:sp>
      <p:sp>
        <p:nvSpPr>
          <p:cNvPr id="17" name="text-230"/>
          <p:cNvSpPr txBox="1"/>
          <p:nvPr/>
        </p:nvSpPr>
        <p:spPr>
          <a:xfrm>
            <a:off x="548640" y="3813048"/>
            <a:ext cx="329184" cy="329184"/>
          </a:xfrm>
          <a:prstGeom prst="rect">
            <a:avLst/>
          </a:prstGeom>
          <a:noFill/>
          <a:ln/>
        </p:spPr>
        <p:txBody>
          <a:bodyPr wrap="square" lIns="0" tIns="0" rIns="0" bIns="0" rtlCol="0" anchor="ctr"/>
          <a:lstStyle/>
          <a:p>
            <a:pPr algn="ctr" indent="0" marL="0">
              <a:buNone/>
            </a:pPr>
            <a:r>
              <a:rPr lang="en-US" sz="1200" b="1" dirty="0">
                <a:solidFill>
                  <a:schemeClr val="accent1"/>
                </a:solidFill>
              </a:rPr>
              <a:t>4</a:t>
            </a:r>
            <a:endParaRPr lang="en-US" sz="1200" dirty="0"/>
          </a:p>
        </p:txBody>
      </p:sp>
      <p:sp>
        <p:nvSpPr>
          <p:cNvPr id="18" name="text-231"/>
          <p:cNvSpPr txBox="1"/>
          <p:nvPr/>
        </p:nvSpPr>
        <p:spPr>
          <a:xfrm>
            <a:off x="1051560" y="3776472"/>
            <a:ext cx="5394960" cy="274320"/>
          </a:xfrm>
          <a:prstGeom prst="rect">
            <a:avLst/>
          </a:prstGeom>
          <a:noFill/>
          <a:ln/>
        </p:spPr>
        <p:txBody>
          <a:bodyPr wrap="square" lIns="0" tIns="0" rIns="0" bIns="0" rtlCol="0" anchor="t"/>
          <a:lstStyle/>
          <a:p>
            <a:pPr indent="0" marL="0">
              <a:buNone/>
            </a:pPr>
            <a:r>
              <a:rPr lang="en-US" sz="1400" b="1" dirty="0">
                <a:solidFill>
                  <a:schemeClr val="bg2"/>
                </a:solidFill>
              </a:rPr>
              <a:t>Consent</a:t>
            </a:r>
            <a:endParaRPr lang="en-US" sz="1400" dirty="0"/>
          </a:p>
        </p:txBody>
      </p:sp>
      <p:sp>
        <p:nvSpPr>
          <p:cNvPr id="19" name="text-232"/>
          <p:cNvSpPr txBox="1"/>
          <p:nvPr/>
        </p:nvSpPr>
        <p:spPr>
          <a:xfrm>
            <a:off x="1051560" y="4050792"/>
            <a:ext cx="5394960" cy="457200"/>
          </a:xfrm>
          <a:prstGeom prst="rect">
            <a:avLst/>
          </a:prstGeom>
          <a:noFill/>
          <a:ln/>
        </p:spPr>
        <p:txBody>
          <a:bodyPr wrap="square" lIns="0" tIns="0" rIns="0" bIns="0" rtlCol="0" anchor="t"/>
          <a:lstStyle/>
          <a:p>
            <a:pPr indent="0" marL="0">
              <a:buNone/>
            </a:pPr>
            <a:r>
              <a:rPr lang="en-US" sz="1150" dirty="0">
                <a:solidFill>
                  <a:schemeClr val="accent6"/>
                </a:solidFill>
              </a:rPr>
              <a:t>Trusted contacts accept on their side; alerts are sent by the user, never automatically.</a:t>
            </a:r>
            <a:endParaRPr lang="en-US" sz="1150" dirty="0"/>
          </a:p>
        </p:txBody>
      </p:sp>
      <p:sp>
        <p:nvSpPr>
          <p:cNvPr id="20" name="icon-233"/>
          <p:cNvSpPr/>
          <p:nvPr/>
        </p:nvSpPr>
        <p:spPr>
          <a:xfrm>
            <a:off x="548640" y="4599432"/>
            <a:ext cx="329184" cy="329184"/>
          </a:xfrm>
          <a:prstGeom prst="roundRect">
            <a:avLst>
              <a:gd name="adj" fmla="val 22222"/>
            </a:avLst>
          </a:prstGeom>
          <a:solidFill>
            <a:srgbClr val="3EE6FF">
              <a:alpha val="18000"/>
            </a:srgbClr>
          </a:solidFill>
          <a:ln w="12700">
            <a:solidFill>
              <a:srgbClr val="3EE6FF"/>
            </a:solidFill>
            <a:prstDash val="solid"/>
          </a:ln>
        </p:spPr>
      </p:sp>
      <p:sp>
        <p:nvSpPr>
          <p:cNvPr id="21" name="text-234"/>
          <p:cNvSpPr txBox="1"/>
          <p:nvPr/>
        </p:nvSpPr>
        <p:spPr>
          <a:xfrm>
            <a:off x="548640" y="4599432"/>
            <a:ext cx="329184" cy="329184"/>
          </a:xfrm>
          <a:prstGeom prst="rect">
            <a:avLst/>
          </a:prstGeom>
          <a:noFill/>
          <a:ln/>
        </p:spPr>
        <p:txBody>
          <a:bodyPr wrap="square" lIns="0" tIns="0" rIns="0" bIns="0" rtlCol="0" anchor="ctr"/>
          <a:lstStyle/>
          <a:p>
            <a:pPr algn="ctr" indent="0" marL="0">
              <a:buNone/>
            </a:pPr>
            <a:r>
              <a:rPr lang="en-US" sz="1200" b="1" dirty="0">
                <a:solidFill>
                  <a:schemeClr val="accent1"/>
                </a:solidFill>
              </a:rPr>
              <a:t>5</a:t>
            </a:r>
            <a:endParaRPr lang="en-US" sz="1200" dirty="0"/>
          </a:p>
        </p:txBody>
      </p:sp>
      <p:sp>
        <p:nvSpPr>
          <p:cNvPr id="22" name="text-235"/>
          <p:cNvSpPr txBox="1"/>
          <p:nvPr/>
        </p:nvSpPr>
        <p:spPr>
          <a:xfrm>
            <a:off x="1051560" y="4562856"/>
            <a:ext cx="5394960" cy="274320"/>
          </a:xfrm>
          <a:prstGeom prst="rect">
            <a:avLst/>
          </a:prstGeom>
          <a:noFill/>
          <a:ln/>
        </p:spPr>
        <p:txBody>
          <a:bodyPr wrap="square" lIns="0" tIns="0" rIns="0" bIns="0" rtlCol="0" anchor="t"/>
          <a:lstStyle/>
          <a:p>
            <a:pPr indent="0" marL="0">
              <a:buNone/>
            </a:pPr>
            <a:r>
              <a:rPr lang="en-US" sz="1400" b="1" dirty="0">
                <a:solidFill>
                  <a:schemeClr val="bg2"/>
                </a:solidFill>
              </a:rPr>
              <a:t>Human review</a:t>
            </a:r>
            <a:endParaRPr lang="en-US" sz="1400" dirty="0"/>
          </a:p>
        </p:txBody>
      </p:sp>
      <p:sp>
        <p:nvSpPr>
          <p:cNvPr id="23" name="text-236"/>
          <p:cNvSpPr txBox="1"/>
          <p:nvPr/>
        </p:nvSpPr>
        <p:spPr>
          <a:xfrm>
            <a:off x="1051560" y="4837176"/>
            <a:ext cx="5394960" cy="457200"/>
          </a:xfrm>
          <a:prstGeom prst="rect">
            <a:avLst/>
          </a:prstGeom>
          <a:noFill/>
          <a:ln/>
        </p:spPr>
        <p:txBody>
          <a:bodyPr wrap="square" lIns="0" tIns="0" rIns="0" bIns="0" rtlCol="0" anchor="t"/>
          <a:lstStyle/>
          <a:p>
            <a:pPr indent="0" marL="0">
              <a:buNone/>
            </a:pPr>
            <a:r>
              <a:rPr lang="en-US" sz="1150" dirty="0">
                <a:solidFill>
                  <a:schemeClr val="accent6"/>
                </a:solidFill>
              </a:rPr>
              <a:t>Conflicts and single-tactic cases go to review; reports export only after a review tick and are never submitted.</a:t>
            </a:r>
            <a:endParaRPr lang="en-US" sz="1150" dirty="0"/>
          </a:p>
        </p:txBody>
      </p:sp>
      <p:sp>
        <p:nvSpPr>
          <p:cNvPr id="24" name="icon-237"/>
          <p:cNvSpPr/>
          <p:nvPr/>
        </p:nvSpPr>
        <p:spPr>
          <a:xfrm>
            <a:off x="548640" y="5385816"/>
            <a:ext cx="329184" cy="329184"/>
          </a:xfrm>
          <a:prstGeom prst="roundRect">
            <a:avLst>
              <a:gd name="adj" fmla="val 22222"/>
            </a:avLst>
          </a:prstGeom>
          <a:solidFill>
            <a:srgbClr val="3EE6FF">
              <a:alpha val="18000"/>
            </a:srgbClr>
          </a:solidFill>
          <a:ln w="12700">
            <a:solidFill>
              <a:srgbClr val="3EE6FF"/>
            </a:solidFill>
            <a:prstDash val="solid"/>
          </a:ln>
        </p:spPr>
      </p:sp>
      <p:sp>
        <p:nvSpPr>
          <p:cNvPr id="25" name="text-238"/>
          <p:cNvSpPr txBox="1"/>
          <p:nvPr/>
        </p:nvSpPr>
        <p:spPr>
          <a:xfrm>
            <a:off x="548640" y="5385816"/>
            <a:ext cx="329184" cy="329184"/>
          </a:xfrm>
          <a:prstGeom prst="rect">
            <a:avLst/>
          </a:prstGeom>
          <a:noFill/>
          <a:ln/>
        </p:spPr>
        <p:txBody>
          <a:bodyPr wrap="square" lIns="0" tIns="0" rIns="0" bIns="0" rtlCol="0" anchor="ctr"/>
          <a:lstStyle/>
          <a:p>
            <a:pPr algn="ctr" indent="0" marL="0">
              <a:buNone/>
            </a:pPr>
            <a:r>
              <a:rPr lang="en-US" sz="1200" b="1" dirty="0">
                <a:solidFill>
                  <a:schemeClr val="accent1"/>
                </a:solidFill>
              </a:rPr>
              <a:t>6</a:t>
            </a:r>
            <a:endParaRPr lang="en-US" sz="1200" dirty="0"/>
          </a:p>
        </p:txBody>
      </p:sp>
      <p:sp>
        <p:nvSpPr>
          <p:cNvPr id="26" name="text-239"/>
          <p:cNvSpPr txBox="1"/>
          <p:nvPr/>
        </p:nvSpPr>
        <p:spPr>
          <a:xfrm>
            <a:off x="1051560" y="5349240"/>
            <a:ext cx="5394960" cy="274320"/>
          </a:xfrm>
          <a:prstGeom prst="rect">
            <a:avLst/>
          </a:prstGeom>
          <a:noFill/>
          <a:ln/>
        </p:spPr>
        <p:txBody>
          <a:bodyPr wrap="square" lIns="0" tIns="0" rIns="0" bIns="0" rtlCol="0" anchor="t"/>
          <a:lstStyle/>
          <a:p>
            <a:pPr indent="0" marL="0">
              <a:buNone/>
            </a:pPr>
            <a:r>
              <a:rPr lang="en-US" sz="1400" b="1" dirty="0">
                <a:solidFill>
                  <a:schemeClr val="bg2"/>
                </a:solidFill>
              </a:rPr>
              <a:t>Alert fatigue</a:t>
            </a:r>
            <a:endParaRPr lang="en-US" sz="1400" dirty="0"/>
          </a:p>
        </p:txBody>
      </p:sp>
      <p:sp>
        <p:nvSpPr>
          <p:cNvPr id="27" name="text-240"/>
          <p:cNvSpPr txBox="1"/>
          <p:nvPr/>
        </p:nvSpPr>
        <p:spPr>
          <a:xfrm>
            <a:off x="1051560" y="5623560"/>
            <a:ext cx="5394960" cy="457200"/>
          </a:xfrm>
          <a:prstGeom prst="rect">
            <a:avLst/>
          </a:prstGeom>
          <a:noFill/>
          <a:ln/>
        </p:spPr>
        <p:txBody>
          <a:bodyPr wrap="square" lIns="0" tIns="0" rIns="0" bIns="0" rtlCol="0" anchor="t"/>
          <a:lstStyle/>
          <a:p>
            <a:pPr indent="0" marL="0">
              <a:buNone/>
            </a:pPr>
            <a:r>
              <a:rPr lang="en-US" sz="1150" dirty="0">
                <a:solidFill>
                  <a:schemeClr val="accent6"/>
                </a:solidFill>
              </a:rPr>
              <a:t>Duplicates and minor additions are suppressed, and every decision is in the case's audit trail.</a:t>
            </a:r>
            <a:endParaRPr lang="en-US" sz="1150" dirty="0"/>
          </a:p>
        </p:txBody>
      </p:sp>
      <p:sp>
        <p:nvSpPr>
          <p:cNvPr id="28" name="text-241"/>
          <p:cNvSpPr txBox="1"/>
          <p:nvPr/>
        </p:nvSpPr>
        <p:spPr>
          <a:xfrm>
            <a:off x="6720840" y="1417320"/>
            <a:ext cx="457200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DEPLOYMENT PATHWAY</a:t>
            </a:r>
            <a:endParaRPr lang="en-US" sz="1000" dirty="0"/>
          </a:p>
        </p:txBody>
      </p:sp>
      <p:graphicFrame>
        <p:nvGraphicFramePr>
          <p:cNvPr id="10" name="table-242"/>
          <p:cNvGraphicFramePr>
            <a:graphicFrameLocks noGrp="1"/>
          </p:cNvGraphicFramePr>
          <p:nvPr>
            <p:extLst>
              <p:ext uri="{D42A27DB-BD31-4B8C-83A1-F6EECF244321}">
                <p14:modId xmlns:p14="http://schemas.microsoft.com/office/powerpoint/2010/main" val="1579011935"/>
              </p:ext>
            </p:extLst>
          </p:nvPr>
        </p:nvGraphicFramePr>
        <p:xfrm>
          <a:off x="6720840" y="1737360"/>
          <a:ext cx="4922215" cy="914400"/>
        </p:xfrm>
        <a:graphic>
          <a:graphicData uri="http://schemas.openxmlformats.org/drawingml/2006/table">
            <a:tbl>
              <a:tblPr/>
              <a:tblGrid>
                <a:gridCol w="2971800"/>
                <a:gridCol w="1950415"/>
              </a:tblGrid>
              <a:tr h="457200">
                <a:tc>
                  <a:txBody>
                    <a:bodyPr/>
                    <a:lstStyle/>
                    <a:p>
                      <a:pPr indent="0" marL="0">
                        <a:buNone/>
                      </a:pPr>
                      <a:r>
                        <a:rPr lang="en-US" sz="1050" b="1" dirty="0">
                          <a:solidFill>
                            <a:schemeClr val="accent6"/>
                          </a:solidFill>
                          <a:latin typeface="Calibri" pitchFamily="34" charset="0"/>
                          <a:ea typeface="Calibri" pitchFamily="34" charset="-122"/>
                          <a:cs typeface="Calibri" pitchFamily="34" charset="-120"/>
                        </a:rPr>
                        <a:t>Stage</a:t>
                      </a:r>
                      <a:endParaRPr lang="en-US" sz="10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B1224"/>
                    </a:solidFill>
                  </a:tcPr>
                </a:tc>
                <a:tc>
                  <a:txBody>
                    <a:bodyPr/>
                    <a:lstStyle/>
                    <a:p>
                      <a:pPr indent="0" marL="0">
                        <a:buNone/>
                      </a:pPr>
                      <a:r>
                        <a:rPr lang="en-US" sz="1050" b="1" dirty="0">
                          <a:solidFill>
                            <a:schemeClr val="accent6"/>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B1224"/>
                    </a:solidFill>
                  </a:tcPr>
                </a:tc>
              </a:tr>
              <a:tr h="457200">
                <a:tc>
                  <a:txBody>
                    <a:bodyPr/>
                    <a:lstStyle/>
                    <a:p>
                      <a:pPr indent="0" marL="0">
                        <a:buNone/>
                      </a:pPr>
                      <a:r>
                        <a:rPr lang="en-US" sz="1200" dirty="0">
                          <a:solidFill>
                            <a:schemeClr val="bg2"/>
                          </a:solidFill>
                          <a:latin typeface="Calibri" pitchFamily="34" charset="0"/>
                          <a:ea typeface="Calibri" pitchFamily="34" charset="-122"/>
                          <a:cs typeface="Calibri" pitchFamily="34" charset="-120"/>
                        </a:rPr>
                        <a:t>Local single process (FastAPI serves the static site)</a:t>
                      </a:r>
                      <a:endParaRPr lang="en-US" sz="12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indent="0" marL="0">
                        <a:buNone/>
                      </a:pPr>
                      <a:r>
                        <a:rPr lang="en-US" sz="1200" b="1" dirty="0">
                          <a:solidFill>
                            <a:schemeClr val="accent4"/>
                          </a:solidFill>
                          <a:latin typeface="Calibri" pitchFamily="34" charset="0"/>
                          <a:ea typeface="Calibri" pitchFamily="34" charset="-122"/>
                          <a:cs typeface="Calibri" pitchFamily="34" charset="-120"/>
                        </a:rPr>
                        <a:t>Runs</a:t>
                      </a:r>
                      <a:endParaRPr lang="en-US" sz="12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r>
              <a:tr h="457200">
                <a:tc>
                  <a:txBody>
                    <a:bodyPr/>
                    <a:lstStyle/>
                    <a:p>
                      <a:pPr indent="0" marL="0">
                        <a:buNone/>
                      </a:pPr>
                      <a:r>
                        <a:rPr lang="en-US" sz="1200" dirty="0">
                          <a:solidFill>
                            <a:schemeClr val="bg2"/>
                          </a:solidFill>
                          <a:latin typeface="Calibri" pitchFamily="34" charset="0"/>
                          <a:ea typeface="Calibri" pitchFamily="34" charset="-122"/>
                          <a:cs typeface="Calibri" pitchFamily="34" charset="-120"/>
                        </a:rPr>
                        <a:t>Docker Compose with PostgreSQL</a:t>
                      </a:r>
                      <a:endParaRPr lang="en-US" sz="12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indent="0" marL="0">
                        <a:buNone/>
                      </a:pPr>
                      <a:r>
                        <a:rPr lang="en-US" sz="1200" b="1" dirty="0">
                          <a:solidFill>
                            <a:schemeClr val="accent5"/>
                          </a:solidFill>
                          <a:latin typeface="Calibri" pitchFamily="34" charset="0"/>
                          <a:ea typeface="Calibri" pitchFamily="34" charset="-122"/>
                          <a:cs typeface="Calibri" pitchFamily="34" charset="-120"/>
                        </a:rPr>
                        <a:t>Configured; image build not run</a:t>
                      </a:r>
                      <a:endParaRPr lang="en-US" sz="12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r>
              <a:tr h="457200">
                <a:tc>
                  <a:txBody>
                    <a:bodyPr/>
                    <a:lstStyle/>
                    <a:p>
                      <a:pPr indent="0" marL="0">
                        <a:buNone/>
                      </a:pPr>
                      <a:r>
                        <a:rPr lang="en-US" sz="1200" dirty="0">
                          <a:solidFill>
                            <a:schemeClr val="bg2"/>
                          </a:solidFill>
                          <a:latin typeface="Calibri" pitchFamily="34" charset="0"/>
                          <a:ea typeface="Calibri" pitchFamily="34" charset="-122"/>
                          <a:cs typeface="Calibri" pitchFamily="34" charset="-120"/>
                        </a:rPr>
                        <a:t>Render blueprint (render.yaml)</a:t>
                      </a:r>
                      <a:endParaRPr lang="en-US" sz="12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indent="0" marL="0">
                        <a:buNone/>
                      </a:pPr>
                      <a:r>
                        <a:rPr lang="en-US" sz="1200" b="1" dirty="0">
                          <a:solidFill>
                            <a:schemeClr val="accent5"/>
                          </a:solidFill>
                          <a:latin typeface="Calibri" pitchFamily="34" charset="0"/>
                          <a:ea typeface="Calibri" pitchFamily="34" charset="-122"/>
                          <a:cs typeface="Calibri" pitchFamily="34" charset="-120"/>
                        </a:rPr>
                        <a:t>Written; not deployed</a:t>
                      </a:r>
                      <a:endParaRPr lang="en-US" sz="12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r>
              <a:tr h="457200">
                <a:tc>
                  <a:txBody>
                    <a:bodyPr/>
                    <a:lstStyle/>
                    <a:p>
                      <a:pPr indent="0" marL="0">
                        <a:buNone/>
                      </a:pPr>
                      <a:r>
                        <a:rPr lang="en-US" sz="1200" dirty="0">
                          <a:solidFill>
                            <a:schemeClr val="bg2"/>
                          </a:solidFill>
                          <a:latin typeface="Calibri" pitchFamily="34" charset="0"/>
                          <a:ea typeface="Calibri" pitchFamily="34" charset="-122"/>
                          <a:cs typeface="Calibri" pitchFamily="34" charset="-120"/>
                        </a:rPr>
                        <a:t>Pilot with consenting users</a:t>
                      </a:r>
                      <a:endParaRPr lang="en-US" sz="12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indent="0" marL="0">
                        <a:buNone/>
                      </a:pPr>
                      <a:r>
                        <a:rPr lang="en-US" sz="1200" b="1" dirty="0">
                          <a:solidFill>
                            <a:schemeClr val="accent2"/>
                          </a:solidFill>
                          <a:latin typeface="Calibri" pitchFamily="34" charset="0"/>
                          <a:ea typeface="Calibri" pitchFamily="34" charset="-122"/>
                          <a:cs typeface="Calibri" pitchFamily="34" charset="-120"/>
                        </a:rPr>
                        <a:t>Proposed</a:t>
                      </a:r>
                      <a:endParaRPr lang="en-US" sz="12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r>
              <a:tr h="457200">
                <a:tc>
                  <a:txBody>
                    <a:bodyPr/>
                    <a:lstStyle/>
                    <a:p>
                      <a:pPr indent="0" marL="0">
                        <a:buNone/>
                      </a:pPr>
                      <a:r>
                        <a:rPr lang="en-US" sz="1200" dirty="0">
                          <a:solidFill>
                            <a:schemeClr val="bg2"/>
                          </a:solidFill>
                          <a:latin typeface="Calibri" pitchFamily="34" charset="0"/>
                          <a:ea typeface="Calibri" pitchFamily="34" charset="-122"/>
                          <a:cs typeface="Calibri" pitchFamily="34" charset="-120"/>
                        </a:rPr>
                        <a:t>Bank, NPCI or payment-app integration</a:t>
                      </a:r>
                      <a:endParaRPr lang="en-US" sz="12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indent="0" marL="0">
                        <a:buNone/>
                      </a:pPr>
                      <a:r>
                        <a:rPr lang="en-US" sz="1200" b="1" dirty="0">
                          <a:solidFill>
                            <a:schemeClr val="accent3"/>
                          </a:solidFill>
                          <a:latin typeface="Calibri" pitchFamily="34" charset="0"/>
                          <a:ea typeface="Calibri" pitchFamily="34" charset="-122"/>
                          <a:cs typeface="Calibri" pitchFamily="34" charset="-120"/>
                        </a:rPr>
                        <a:t>None</a:t>
                      </a:r>
                      <a:endParaRPr lang="en-US" sz="12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r>
            </a:tbl>
          </a:graphicData>
        </a:graphic>
      </p:graphicFrame>
      <p:sp>
        <p:nvSpPr>
          <p:cNvPr id="30" name="panel-243"/>
          <p:cNvSpPr/>
          <p:nvPr/>
        </p:nvSpPr>
        <p:spPr>
          <a:xfrm>
            <a:off x="6720840" y="4800600"/>
            <a:ext cx="4922215" cy="1234440"/>
          </a:xfrm>
          <a:prstGeom prst="roundRect">
            <a:avLst>
              <a:gd name="adj" fmla="val 5926"/>
            </a:avLst>
          </a:prstGeom>
          <a:solidFill>
            <a:srgbClr val="131F3B">
              <a:alpha val="92000"/>
            </a:srgbClr>
          </a:solidFill>
          <a:ln w="12700">
            <a:solidFill>
              <a:srgbClr val="22324F"/>
            </a:solidFill>
            <a:prstDash val="solid"/>
          </a:ln>
        </p:spPr>
      </p:sp>
      <p:sp>
        <p:nvSpPr>
          <p:cNvPr id="31" name="text-244"/>
          <p:cNvSpPr txBox="1"/>
          <p:nvPr/>
        </p:nvSpPr>
        <p:spPr>
          <a:xfrm>
            <a:off x="6903720" y="4919472"/>
            <a:ext cx="4556455" cy="1005840"/>
          </a:xfrm>
          <a:prstGeom prst="rect">
            <a:avLst/>
          </a:prstGeom>
          <a:noFill/>
          <a:ln/>
        </p:spPr>
        <p:txBody>
          <a:bodyPr wrap="square" lIns="0" tIns="0" rIns="0" bIns="0" rtlCol="0" anchor="t"/>
          <a:lstStyle/>
          <a:p>
            <a:pPr indent="0" marL="0">
              <a:buNone/>
            </a:pPr>
            <a:r>
              <a:rPr lang="en-US" sz="1200" dirty="0">
                <a:solidFill>
                  <a:schemeClr val="accent6"/>
                </a:solidFill>
              </a:rPr>
              <a:t>Not production-ready: no external security audit, English only, per-instance rate limiter, no real-world labelled dataset yet. No legal, regulatory or banking certification has been obtained.</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300" kern="0" dirty="0">
                <a:solidFill>
                  <a:schemeClr val="accent1"/>
                </a:solidFill>
              </a:rPr>
              <a:t>10 · 48-HOUR FINALE PLAN</a:t>
            </a:r>
            <a:endParaRPr lang="en-US" sz="1100" dirty="0"/>
          </a:p>
        </p:txBody>
      </p:sp>
      <p:sp>
        <p:nvSpPr>
          <p:cNvPr id="3" name="Text 0"/>
          <p:cNvSpPr/>
          <p:nvPr>
            <p:ph idx="101" type="title" hasCustomPrompt="1"/>
          </p:nvPr>
        </p:nvSpPr>
        <p:spPr>
          <a:xfrm>
            <a:off x="548640" y="566928"/>
            <a:ext cx="11094415" cy="731520"/>
          </a:xfrm>
          <a:prstGeom prst="rect">
            <a:avLst/>
          </a:prstGeom>
          <a:noFill/>
          <a:ln/>
        </p:spPr>
        <p:txBody>
          <a:bodyPr wrap="square" lIns="0" tIns="0" rIns="0" bIns="0" rtlCol="0" anchor="t"/>
          <a:lstStyle/>
          <a:p>
            <a:pPr indent="0" marL="0">
              <a:buNone/>
            </a:pPr>
            <a:r>
              <a:rPr lang="en-US" sz="3200" b="1" dirty="0">
                <a:solidFill>
                  <a:schemeClr val="bg2"/>
                </a:solidFill>
                <a:latin typeface="Arial" pitchFamily="34" charset="0"/>
                <a:ea typeface="Arial" pitchFamily="34" charset="-122"/>
                <a:cs typeface="Arial" pitchFamily="34" charset="-120"/>
              </a:rPr>
              <a:t>The 48-hour finale plan</a:t>
            </a:r>
            <a:endParaRPr lang="en-US" sz="3200" dirty="0"/>
          </a:p>
        </p:txBody>
      </p:sp>
      <p:sp>
        <p:nvSpPr>
          <p:cNvPr id="4" name="text-245"/>
          <p:cNvSpPr txBox="1"/>
          <p:nvPr/>
        </p:nvSpPr>
        <p:spPr>
          <a:xfrm>
            <a:off x="548640" y="1371600"/>
            <a:ext cx="10972800" cy="365760"/>
          </a:xfrm>
          <a:prstGeom prst="rect">
            <a:avLst/>
          </a:prstGeom>
          <a:noFill/>
          <a:ln/>
        </p:spPr>
        <p:txBody>
          <a:bodyPr wrap="square" lIns="0" tIns="0" rIns="0" bIns="0" rtlCol="0" anchor="t"/>
          <a:lstStyle/>
          <a:p>
            <a:pPr indent="0" marL="0">
              <a:buNone/>
            </a:pPr>
            <a:r>
              <a:rPr lang="en-US" sz="1500" dirty="0">
                <a:solidFill>
                  <a:schemeClr val="accent6"/>
                </a:solidFill>
              </a:rPr>
              <a:t>Proposed milestones. Each is judged on data the rules were not tuned on, and each ends with the demo dry run still passing.</a:t>
            </a:r>
            <a:endParaRPr lang="en-US" sz="1500" dirty="0"/>
          </a:p>
        </p:txBody>
      </p:sp>
      <p:sp>
        <p:nvSpPr>
          <p:cNvPr id="5" name="panel-246"/>
          <p:cNvSpPr/>
          <p:nvPr/>
        </p:nvSpPr>
        <p:spPr>
          <a:xfrm>
            <a:off x="548640" y="1920240"/>
            <a:ext cx="2636444" cy="2788920"/>
          </a:xfrm>
          <a:prstGeom prst="roundRect">
            <a:avLst>
              <a:gd name="adj" fmla="val 2775"/>
            </a:avLst>
          </a:prstGeom>
          <a:solidFill>
            <a:srgbClr val="0F1830">
              <a:alpha val="92000"/>
            </a:srgbClr>
          </a:solidFill>
          <a:ln w="12700">
            <a:solidFill>
              <a:srgbClr val="22324F"/>
            </a:solidFill>
            <a:prstDash val="solid"/>
          </a:ln>
        </p:spPr>
      </p:sp>
      <p:sp>
        <p:nvSpPr>
          <p:cNvPr id="6" name="text-247"/>
          <p:cNvSpPr txBox="1"/>
          <p:nvPr/>
        </p:nvSpPr>
        <p:spPr>
          <a:xfrm>
            <a:off x="731520" y="2057400"/>
            <a:ext cx="2270684"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H 0–12</a:t>
            </a:r>
            <a:endParaRPr lang="en-US" sz="1200" dirty="0"/>
          </a:p>
        </p:txBody>
      </p:sp>
      <p:sp>
        <p:nvSpPr>
          <p:cNvPr id="7" name="text-248"/>
          <p:cNvSpPr txBox="1"/>
          <p:nvPr/>
        </p:nvSpPr>
        <p:spPr>
          <a:xfrm>
            <a:off x="731520" y="2377440"/>
            <a:ext cx="2270684" cy="365760"/>
          </a:xfrm>
          <a:prstGeom prst="rect">
            <a:avLst/>
          </a:prstGeom>
          <a:noFill/>
          <a:ln/>
        </p:spPr>
        <p:txBody>
          <a:bodyPr wrap="square" lIns="0" tIns="0" rIns="0" bIns="0" rtlCol="0" anchor="t"/>
          <a:lstStyle/>
          <a:p>
            <a:pPr indent="0" marL="0">
              <a:buNone/>
            </a:pPr>
            <a:r>
              <a:rPr lang="en-US" sz="1700" b="1" dirty="0">
                <a:solidFill>
                  <a:schemeClr val="bg2"/>
                </a:solidFill>
              </a:rPr>
              <a:t>Fresh evaluation set</a:t>
            </a:r>
            <a:endParaRPr lang="en-US" sz="1700" dirty="0"/>
          </a:p>
        </p:txBody>
      </p:sp>
      <p:sp>
        <p:nvSpPr>
          <p:cNvPr id="8" name="text-249"/>
          <p:cNvSpPr txBox="1"/>
          <p:nvPr/>
        </p:nvSpPr>
        <p:spPr>
          <a:xfrm>
            <a:off x="731520" y="2788920"/>
            <a:ext cx="2270684" cy="1417320"/>
          </a:xfrm>
          <a:prstGeom prst="rect">
            <a:avLst/>
          </a:prstGeom>
          <a:noFill/>
          <a:ln/>
        </p:spPr>
        <p:txBody>
          <a:bodyPr wrap="square" lIns="0" tIns="0" rIns="0" bIns="0" rtlCol="0" anchor="t"/>
          <a:lstStyle/>
          <a:p>
            <a:pPr indent="0" marL="0">
              <a:buNone/>
            </a:pPr>
            <a:r>
              <a:rPr lang="en-US" sz="1200" dirty="0">
                <a:solidFill>
                  <a:schemeClr val="accent6"/>
                </a:solidFill>
              </a:rPr>
              <a:t>A v4 synthetic set written by a teammate who has not read the rules, frozen with a checksum before any run.</a:t>
            </a:r>
            <a:endParaRPr lang="en-US" sz="1200" dirty="0"/>
          </a:p>
        </p:txBody>
      </p:sp>
      <p:sp>
        <p:nvSpPr>
          <p:cNvPr id="9" name="text-250"/>
          <p:cNvSpPr txBox="1"/>
          <p:nvPr/>
        </p:nvSpPr>
        <p:spPr>
          <a:xfrm>
            <a:off x="731520" y="4297680"/>
            <a:ext cx="2270684" cy="274320"/>
          </a:xfrm>
          <a:prstGeom prst="rect">
            <a:avLst/>
          </a:prstGeom>
          <a:noFill/>
          <a:ln/>
        </p:spPr>
        <p:txBody>
          <a:bodyPr wrap="square" lIns="0" tIns="0" rIns="0" bIns="0" rtlCol="0" anchor="t"/>
          <a:lstStyle/>
          <a:p>
            <a:pPr indent="0" marL="0">
              <a:buNone/>
            </a:pPr>
            <a:r>
              <a:rPr lang="en-US" sz="1100" b="1" dirty="0">
                <a:solidFill>
                  <a:schemeClr val="accent2"/>
                </a:solidFill>
              </a:rPr>
              <a:t>Owner: Evaluation lead</a:t>
            </a:r>
            <a:endParaRPr lang="en-US" sz="1100" dirty="0"/>
          </a:p>
        </p:txBody>
      </p:sp>
      <p:sp>
        <p:nvSpPr>
          <p:cNvPr id="10" name="panel-251"/>
          <p:cNvSpPr/>
          <p:nvPr/>
        </p:nvSpPr>
        <p:spPr>
          <a:xfrm>
            <a:off x="3367964" y="1920240"/>
            <a:ext cx="2636444" cy="2788920"/>
          </a:xfrm>
          <a:prstGeom prst="roundRect">
            <a:avLst>
              <a:gd name="adj" fmla="val 2775"/>
            </a:avLst>
          </a:prstGeom>
          <a:solidFill>
            <a:srgbClr val="0F1830">
              <a:alpha val="92000"/>
            </a:srgbClr>
          </a:solidFill>
          <a:ln w="12700">
            <a:solidFill>
              <a:srgbClr val="22324F"/>
            </a:solidFill>
            <a:prstDash val="solid"/>
          </a:ln>
        </p:spPr>
      </p:sp>
      <p:sp>
        <p:nvSpPr>
          <p:cNvPr id="11" name="text-252"/>
          <p:cNvSpPr txBox="1"/>
          <p:nvPr/>
        </p:nvSpPr>
        <p:spPr>
          <a:xfrm>
            <a:off x="3550844" y="2057400"/>
            <a:ext cx="2270684"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H 12–24</a:t>
            </a:r>
            <a:endParaRPr lang="en-US" sz="1200" dirty="0"/>
          </a:p>
        </p:txBody>
      </p:sp>
      <p:sp>
        <p:nvSpPr>
          <p:cNvPr id="12" name="text-253"/>
          <p:cNvSpPr txBox="1"/>
          <p:nvPr/>
        </p:nvSpPr>
        <p:spPr>
          <a:xfrm>
            <a:off x="3550844" y="2377440"/>
            <a:ext cx="2270684" cy="365760"/>
          </a:xfrm>
          <a:prstGeom prst="rect">
            <a:avLst/>
          </a:prstGeom>
          <a:noFill/>
          <a:ln/>
        </p:spPr>
        <p:txBody>
          <a:bodyPr wrap="square" lIns="0" tIns="0" rIns="0" bIns="0" rtlCol="0" anchor="t"/>
          <a:lstStyle/>
          <a:p>
            <a:pPr indent="0" marL="0">
              <a:buNone/>
            </a:pPr>
            <a:r>
              <a:rPr lang="en-US" sz="1700" b="1" dirty="0">
                <a:solidFill>
                  <a:schemeClr val="bg2"/>
                </a:solidFill>
              </a:rPr>
              <a:t>Known errors</a:t>
            </a:r>
            <a:endParaRPr lang="en-US" sz="1700" dirty="0"/>
          </a:p>
        </p:txBody>
      </p:sp>
      <p:sp>
        <p:nvSpPr>
          <p:cNvPr id="13" name="text-254"/>
          <p:cNvSpPr txBox="1"/>
          <p:nvPr/>
        </p:nvSpPr>
        <p:spPr>
          <a:xfrm>
            <a:off x="3550844" y="2788920"/>
            <a:ext cx="2270684" cy="1417320"/>
          </a:xfrm>
          <a:prstGeom prst="rect">
            <a:avLst/>
          </a:prstGeom>
          <a:noFill/>
          <a:ln/>
        </p:spPr>
        <p:txBody>
          <a:bodyPr wrap="square" lIns="0" tIns="0" rIns="0" bIns="0" rtlCol="0" anchor="t"/>
          <a:lstStyle/>
          <a:p>
            <a:pPr indent="0" marL="0">
              <a:buNone/>
            </a:pPr>
            <a:r>
              <a:rPr lang="en-US" sz="1200" dirty="0">
                <a:solidFill>
                  <a:schemeClr val="accent6"/>
                </a:solidFill>
              </a:rPr>
              <a:t>Single-tactic false positives (login alerts, booking confirmations), the registration-fee job scam, and organisation claims drawn as weaker links.</a:t>
            </a:r>
            <a:endParaRPr lang="en-US" sz="1200" dirty="0"/>
          </a:p>
        </p:txBody>
      </p:sp>
      <p:sp>
        <p:nvSpPr>
          <p:cNvPr id="14" name="text-255"/>
          <p:cNvSpPr txBox="1"/>
          <p:nvPr/>
        </p:nvSpPr>
        <p:spPr>
          <a:xfrm>
            <a:off x="3550844" y="4297680"/>
            <a:ext cx="2270684" cy="274320"/>
          </a:xfrm>
          <a:prstGeom prst="rect">
            <a:avLst/>
          </a:prstGeom>
          <a:noFill/>
          <a:ln/>
        </p:spPr>
        <p:txBody>
          <a:bodyPr wrap="square" lIns="0" tIns="0" rIns="0" bIns="0" rtlCol="0" anchor="t"/>
          <a:lstStyle/>
          <a:p>
            <a:pPr indent="0" marL="0">
              <a:buNone/>
            </a:pPr>
            <a:r>
              <a:rPr lang="en-US" sz="1100" b="1" dirty="0">
                <a:solidFill>
                  <a:schemeClr val="accent2"/>
                </a:solidFill>
              </a:rPr>
              <a:t>Owner: Detection lead</a:t>
            </a:r>
            <a:endParaRPr lang="en-US" sz="1100" dirty="0"/>
          </a:p>
        </p:txBody>
      </p:sp>
      <p:sp>
        <p:nvSpPr>
          <p:cNvPr id="15" name="panel-256"/>
          <p:cNvSpPr/>
          <p:nvPr/>
        </p:nvSpPr>
        <p:spPr>
          <a:xfrm>
            <a:off x="6187288" y="1920240"/>
            <a:ext cx="2636444" cy="2788920"/>
          </a:xfrm>
          <a:prstGeom prst="roundRect">
            <a:avLst>
              <a:gd name="adj" fmla="val 2775"/>
            </a:avLst>
          </a:prstGeom>
          <a:solidFill>
            <a:srgbClr val="0F1830">
              <a:alpha val="92000"/>
            </a:srgbClr>
          </a:solidFill>
          <a:ln w="12700">
            <a:solidFill>
              <a:srgbClr val="22324F"/>
            </a:solidFill>
            <a:prstDash val="solid"/>
          </a:ln>
        </p:spPr>
      </p:sp>
      <p:sp>
        <p:nvSpPr>
          <p:cNvPr id="16" name="text-257"/>
          <p:cNvSpPr txBox="1"/>
          <p:nvPr/>
        </p:nvSpPr>
        <p:spPr>
          <a:xfrm>
            <a:off x="6370168" y="2057400"/>
            <a:ext cx="2270684"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H 24–36</a:t>
            </a:r>
            <a:endParaRPr lang="en-US" sz="1200" dirty="0"/>
          </a:p>
        </p:txBody>
      </p:sp>
      <p:sp>
        <p:nvSpPr>
          <p:cNvPr id="17" name="text-258"/>
          <p:cNvSpPr txBox="1"/>
          <p:nvPr/>
        </p:nvSpPr>
        <p:spPr>
          <a:xfrm>
            <a:off x="6370168" y="2377440"/>
            <a:ext cx="2270684" cy="365760"/>
          </a:xfrm>
          <a:prstGeom prst="rect">
            <a:avLst/>
          </a:prstGeom>
          <a:noFill/>
          <a:ln/>
        </p:spPr>
        <p:txBody>
          <a:bodyPr wrap="square" lIns="0" tIns="0" rIns="0" bIns="0" rtlCol="0" anchor="t"/>
          <a:lstStyle/>
          <a:p>
            <a:pPr indent="0" marL="0">
              <a:buNone/>
            </a:pPr>
            <a:r>
              <a:rPr lang="en-US" sz="1700" b="1" dirty="0">
                <a:solidFill>
                  <a:schemeClr val="bg2"/>
                </a:solidFill>
              </a:rPr>
              <a:t>Demo hardening</a:t>
            </a:r>
            <a:endParaRPr lang="en-US" sz="1700" dirty="0"/>
          </a:p>
        </p:txBody>
      </p:sp>
      <p:sp>
        <p:nvSpPr>
          <p:cNvPr id="18" name="text-259"/>
          <p:cNvSpPr txBox="1"/>
          <p:nvPr/>
        </p:nvSpPr>
        <p:spPr>
          <a:xfrm>
            <a:off x="6370168" y="2788920"/>
            <a:ext cx="2270684" cy="1417320"/>
          </a:xfrm>
          <a:prstGeom prst="rect">
            <a:avLst/>
          </a:prstGeom>
          <a:noFill/>
          <a:ln/>
        </p:spPr>
        <p:txBody>
          <a:bodyPr wrap="square" lIns="0" tIns="0" rIns="0" bIns="0" rtlCol="0" anchor="t"/>
          <a:lstStyle/>
          <a:p>
            <a:pPr indent="0" marL="0">
              <a:buNone/>
            </a:pPr>
            <a:r>
              <a:rPr lang="en-US" sz="1200" dirty="0">
                <a:solidFill>
                  <a:schemeClr val="accent6"/>
                </a:solidFill>
              </a:rPr>
              <a:t>Rebuild the served site, rename realistic demo UPI handles, rehearse the six-minute story on the presentation laptop.</a:t>
            </a:r>
            <a:endParaRPr lang="en-US" sz="1200" dirty="0"/>
          </a:p>
        </p:txBody>
      </p:sp>
      <p:sp>
        <p:nvSpPr>
          <p:cNvPr id="19" name="text-260"/>
          <p:cNvSpPr txBox="1"/>
          <p:nvPr/>
        </p:nvSpPr>
        <p:spPr>
          <a:xfrm>
            <a:off x="6370168" y="4297680"/>
            <a:ext cx="2270684" cy="274320"/>
          </a:xfrm>
          <a:prstGeom prst="rect">
            <a:avLst/>
          </a:prstGeom>
          <a:noFill/>
          <a:ln/>
        </p:spPr>
        <p:txBody>
          <a:bodyPr wrap="square" lIns="0" tIns="0" rIns="0" bIns="0" rtlCol="0" anchor="t"/>
          <a:lstStyle/>
          <a:p>
            <a:pPr indent="0" marL="0">
              <a:buNone/>
            </a:pPr>
            <a:r>
              <a:rPr lang="en-US" sz="1100" b="1" dirty="0">
                <a:solidFill>
                  <a:schemeClr val="accent2"/>
                </a:solidFill>
              </a:rPr>
              <a:t>Owner: Product and demo lead</a:t>
            </a:r>
            <a:endParaRPr lang="en-US" sz="1100" dirty="0"/>
          </a:p>
        </p:txBody>
      </p:sp>
      <p:sp>
        <p:nvSpPr>
          <p:cNvPr id="20" name="panel-261"/>
          <p:cNvSpPr/>
          <p:nvPr/>
        </p:nvSpPr>
        <p:spPr>
          <a:xfrm>
            <a:off x="9006611" y="1920240"/>
            <a:ext cx="2636444" cy="2788920"/>
          </a:xfrm>
          <a:prstGeom prst="roundRect">
            <a:avLst>
              <a:gd name="adj" fmla="val 2775"/>
            </a:avLst>
          </a:prstGeom>
          <a:solidFill>
            <a:srgbClr val="0F1830">
              <a:alpha val="92000"/>
            </a:srgbClr>
          </a:solidFill>
          <a:ln w="12700">
            <a:solidFill>
              <a:srgbClr val="22324F"/>
            </a:solidFill>
            <a:prstDash val="solid"/>
          </a:ln>
        </p:spPr>
      </p:sp>
      <p:sp>
        <p:nvSpPr>
          <p:cNvPr id="21" name="text-262"/>
          <p:cNvSpPr txBox="1"/>
          <p:nvPr/>
        </p:nvSpPr>
        <p:spPr>
          <a:xfrm>
            <a:off x="9189491" y="2057400"/>
            <a:ext cx="2270684" cy="274320"/>
          </a:xfrm>
          <a:prstGeom prst="rect">
            <a:avLst/>
          </a:prstGeom>
          <a:noFill/>
          <a:ln/>
        </p:spPr>
        <p:txBody>
          <a:bodyPr wrap="square" lIns="0" tIns="0" rIns="0" bIns="0" rtlCol="0" anchor="t"/>
          <a:lstStyle/>
          <a:p>
            <a:pPr indent="0" marL="0">
              <a:buNone/>
            </a:pPr>
            <a:r>
              <a:rPr lang="en-US" sz="1200" b="1" spc="200" kern="0" dirty="0">
                <a:solidFill>
                  <a:schemeClr val="accent1"/>
                </a:solidFill>
              </a:rPr>
              <a:t>H 36–48</a:t>
            </a:r>
            <a:endParaRPr lang="en-US" sz="1200" dirty="0"/>
          </a:p>
        </p:txBody>
      </p:sp>
      <p:sp>
        <p:nvSpPr>
          <p:cNvPr id="22" name="text-263"/>
          <p:cNvSpPr txBox="1"/>
          <p:nvPr/>
        </p:nvSpPr>
        <p:spPr>
          <a:xfrm>
            <a:off x="9189491" y="2377440"/>
            <a:ext cx="2270684" cy="365760"/>
          </a:xfrm>
          <a:prstGeom prst="rect">
            <a:avLst/>
          </a:prstGeom>
          <a:noFill/>
          <a:ln/>
        </p:spPr>
        <p:txBody>
          <a:bodyPr wrap="square" lIns="0" tIns="0" rIns="0" bIns="0" rtlCol="0" anchor="t"/>
          <a:lstStyle/>
          <a:p>
            <a:pPr indent="0" marL="0">
              <a:buNone/>
            </a:pPr>
            <a:r>
              <a:rPr lang="en-US" sz="1700" b="1" dirty="0">
                <a:solidFill>
                  <a:schemeClr val="bg2"/>
                </a:solidFill>
              </a:rPr>
              <a:t>Ship and explain</a:t>
            </a:r>
            <a:endParaRPr lang="en-US" sz="1700" dirty="0"/>
          </a:p>
        </p:txBody>
      </p:sp>
      <p:sp>
        <p:nvSpPr>
          <p:cNvPr id="23" name="text-264"/>
          <p:cNvSpPr txBox="1"/>
          <p:nvPr/>
        </p:nvSpPr>
        <p:spPr>
          <a:xfrm>
            <a:off x="9189491" y="2788920"/>
            <a:ext cx="2270684" cy="1417320"/>
          </a:xfrm>
          <a:prstGeom prst="rect">
            <a:avLst/>
          </a:prstGeom>
          <a:noFill/>
          <a:ln/>
        </p:spPr>
        <p:txBody>
          <a:bodyPr wrap="square" lIns="0" tIns="0" rIns="0" bIns="0" rtlCol="0" anchor="t"/>
          <a:lstStyle/>
          <a:p>
            <a:pPr indent="0" marL="0">
              <a:buNone/>
            </a:pPr>
            <a:r>
              <a:rPr lang="en-US" sz="1200" dirty="0">
                <a:solidFill>
                  <a:schemeClr val="accent6"/>
                </a:solidFill>
              </a:rPr>
              <a:t>Publish the repository, deploy the blueprint if hosting is approved, re-run every suite, update the paper with v4 numbers.</a:t>
            </a:r>
            <a:endParaRPr lang="en-US" sz="1200" dirty="0"/>
          </a:p>
        </p:txBody>
      </p:sp>
      <p:sp>
        <p:nvSpPr>
          <p:cNvPr id="24" name="text-265"/>
          <p:cNvSpPr txBox="1"/>
          <p:nvPr/>
        </p:nvSpPr>
        <p:spPr>
          <a:xfrm>
            <a:off x="9189491" y="4297680"/>
            <a:ext cx="2270684" cy="274320"/>
          </a:xfrm>
          <a:prstGeom prst="rect">
            <a:avLst/>
          </a:prstGeom>
          <a:noFill/>
          <a:ln/>
        </p:spPr>
        <p:txBody>
          <a:bodyPr wrap="square" lIns="0" tIns="0" rIns="0" bIns="0" rtlCol="0" anchor="t"/>
          <a:lstStyle/>
          <a:p>
            <a:pPr indent="0" marL="0">
              <a:buNone/>
            </a:pPr>
            <a:r>
              <a:rPr lang="en-US" sz="1100" b="1" dirty="0">
                <a:solidFill>
                  <a:schemeClr val="accent2"/>
                </a:solidFill>
              </a:rPr>
              <a:t>Owner: Whole team</a:t>
            </a:r>
            <a:endParaRPr lang="en-US" sz="1100" dirty="0"/>
          </a:p>
        </p:txBody>
      </p:sp>
      <p:sp>
        <p:nvSpPr>
          <p:cNvPr id="25" name="panel-266"/>
          <p:cNvSpPr/>
          <p:nvPr/>
        </p:nvSpPr>
        <p:spPr>
          <a:xfrm>
            <a:off x="548640" y="4937760"/>
            <a:ext cx="11094415" cy="1188720"/>
          </a:xfrm>
          <a:prstGeom prst="roundRect">
            <a:avLst>
              <a:gd name="adj" fmla="val 6154"/>
            </a:avLst>
          </a:prstGeom>
          <a:solidFill>
            <a:srgbClr val="131F3B">
              <a:alpha val="92000"/>
            </a:srgbClr>
          </a:solidFill>
          <a:ln w="12700">
            <a:solidFill>
              <a:srgbClr val="22324F"/>
            </a:solidFill>
            <a:prstDash val="solid"/>
          </a:ln>
        </p:spPr>
      </p:sp>
      <p:sp>
        <p:nvSpPr>
          <p:cNvPr id="26" name="text-267"/>
          <p:cNvSpPr txBox="1"/>
          <p:nvPr/>
        </p:nvSpPr>
        <p:spPr>
          <a:xfrm>
            <a:off x="731520" y="5047488"/>
            <a:ext cx="548640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DEMO SUCCESS CRITERIA</a:t>
            </a:r>
            <a:endParaRPr lang="en-US" sz="1000" dirty="0"/>
          </a:p>
        </p:txBody>
      </p:sp>
      <p:sp>
        <p:nvSpPr>
          <p:cNvPr id="27" name="text-268"/>
          <p:cNvSpPr txBox="1"/>
          <p:nvPr/>
        </p:nvSpPr>
        <p:spPr>
          <a:xfrm>
            <a:off x="731520" y="5349240"/>
            <a:ext cx="10728655" cy="685800"/>
          </a:xfrm>
          <a:prstGeom prst="rect">
            <a:avLst/>
          </a:prstGeom>
          <a:noFill/>
          <a:ln/>
        </p:spPr>
        <p:txBody>
          <a:bodyPr wrap="square" lIns="0" tIns="0" rIns="0" bIns="0" rtlCol="0" anchor="t"/>
          <a:lstStyle/>
          <a:p>
            <a:pPr indent="0" marL="0">
              <a:buNone/>
            </a:pPr>
            <a:r>
              <a:rPr lang="en-US" sz="1300" dirty="0">
                <a:solidFill>
                  <a:schemeClr val="bg2"/>
                </a:solidFill>
              </a:rPr>
              <a:t>demo_story_check.py passes · browser demo suite 12/12 · no console errors · a fresh-set report published with its errors listed · every claim on screen traceable to a file in the repository.</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560320"/>
            <a:ext cx="9144000" cy="914400"/>
          </a:xfrm>
          <a:prstGeom prst="rect">
            <a:avLst/>
          </a:prstGeom>
          <a:noFill/>
          <a:ln/>
        </p:spPr>
        <p:txBody>
          <a:bodyPr wrap="square" lIns="0" tIns="0" rIns="0" bIns="0" rtlCol="0"/>
          <a:lstStyle/>
          <a:p>
            <a:pPr indent="0" marL="0">
              <a:buNone/>
            </a:pPr>
            <a:r>
              <a:rPr lang="en-US" sz="4400" b="1" dirty="0">
                <a:solidFill>
                  <a:schemeClr val="bg2"/>
                </a:solidFill>
                <a:latin typeface="Arial" pitchFamily="34" charset="0"/>
                <a:ea typeface="Arial" pitchFamily="34" charset="-122"/>
                <a:cs typeface="Arial" pitchFamily="34" charset="-120"/>
              </a:rPr>
              <a:t>Appendix</a:t>
            </a:r>
            <a:endParaRPr lang="en-US" sz="4400" dirty="0"/>
          </a:p>
        </p:txBody>
      </p:sp>
      <p:sp>
        <p:nvSpPr>
          <p:cNvPr id="3" name="Text 0"/>
          <p:cNvSpPr/>
          <p:nvPr>
            <p:ph idx="101" type="body" hasCustomPrompt="1"/>
          </p:nvPr>
        </p:nvSpPr>
        <p:spPr>
          <a:xfrm>
            <a:off x="548640" y="3566160"/>
            <a:ext cx="9144000" cy="914400"/>
          </a:xfrm>
          <a:prstGeom prst="rect">
            <a:avLst/>
          </a:prstGeom>
          <a:noFill/>
          <a:ln/>
        </p:spPr>
        <p:txBody>
          <a:bodyPr wrap="square" lIns="0" tIns="0" rIns="0" bIns="0" rtlCol="0"/>
          <a:lstStyle/>
          <a:p>
            <a:pPr indent="0" marL="0">
              <a:buNone/>
            </a:pPr>
            <a:r>
              <a:rPr lang="en-US" sz="1600" dirty="0">
                <a:solidFill>
                  <a:schemeClr val="accent6"/>
                </a:solidFill>
              </a:rPr>
              <a:t>Backup material for questions. Not part of the 10-slide pitch.</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300" kern="0" dirty="0">
                <a:solidFill>
                  <a:schemeClr val="accent1"/>
                </a:solidFill>
              </a:rPr>
              <a:t>APPENDIX A1 · ARCHITECTURE WALKTHROUGH</a:t>
            </a:r>
            <a:endParaRPr lang="en-US" sz="1100" dirty="0"/>
          </a:p>
        </p:txBody>
      </p:sp>
      <p:sp>
        <p:nvSpPr>
          <p:cNvPr id="3" name="Text 0"/>
          <p:cNvSpPr/>
          <p:nvPr>
            <p:ph idx="101" type="title" hasCustomPrompt="1"/>
          </p:nvPr>
        </p:nvSpPr>
        <p:spPr>
          <a:xfrm>
            <a:off x="548640" y="566928"/>
            <a:ext cx="11094415" cy="731520"/>
          </a:xfrm>
          <a:prstGeom prst="rect">
            <a:avLst/>
          </a:prstGeom>
          <a:noFill/>
          <a:ln/>
        </p:spPr>
        <p:txBody>
          <a:bodyPr wrap="square" lIns="0" tIns="0" rIns="0" bIns="0" rtlCol="0" anchor="t"/>
          <a:lstStyle/>
          <a:p>
            <a:pPr indent="0" marL="0">
              <a:buNone/>
            </a:pPr>
            <a:r>
              <a:rPr lang="en-US" sz="3200" b="1" dirty="0">
                <a:solidFill>
                  <a:schemeClr val="bg2"/>
                </a:solidFill>
                <a:latin typeface="Arial" pitchFamily="34" charset="0"/>
                <a:ea typeface="Arial" pitchFamily="34" charset="-122"/>
                <a:cs typeface="Arial" pitchFamily="34" charset="-120"/>
              </a:rPr>
              <a:t>Scenes B and C of the 3D walkthrough</a:t>
            </a:r>
            <a:endParaRPr lang="en-US" sz="3200" dirty="0"/>
          </a:p>
        </p:txBody>
      </p:sp>
      <p:pic>
        <p:nvPicPr>
          <p:cNvPr id="4" name="scene-b-269" descr="Scene B: scam detection pipeline">    </p:cNvPr>
          <p:cNvPicPr>
            <a:picLocks noChangeAspect="1"/>
          </p:cNvPicPr>
          <p:nvPr/>
        </p:nvPicPr>
        <p:blipFill>
          <a:blip r:embed="rId1"/>
          <a:stretch>
            <a:fillRect/>
          </a:stretch>
        </p:blipFill>
        <p:spPr>
          <a:xfrm>
            <a:off x="548640" y="1417320"/>
            <a:ext cx="5410048" cy="3043152"/>
          </a:xfrm>
          <a:prstGeom prst="rect">
            <a:avLst/>
          </a:prstGeom>
        </p:spPr>
      </p:pic>
      <p:sp>
        <p:nvSpPr>
          <p:cNvPr id="5" name="frame-270"/>
          <p:cNvSpPr/>
          <p:nvPr/>
        </p:nvSpPr>
        <p:spPr>
          <a:xfrm>
            <a:off x="548640" y="1417320"/>
            <a:ext cx="5410048" cy="3043152"/>
          </a:xfrm>
          <a:prstGeom prst="roundRect">
            <a:avLst>
              <a:gd name="adj" fmla="val 1803"/>
            </a:avLst>
          </a:prstGeom>
          <a:ln w="12700">
            <a:solidFill>
              <a:srgbClr val="22324F"/>
            </a:solidFill>
            <a:prstDash val="solid"/>
          </a:ln>
        </p:spPr>
      </p:sp>
      <p:pic>
        <p:nvPicPr>
          <p:cNvPr id="6" name="scene-c-271" descr="Scene C: scam intelligence network">    </p:cNvPr>
          <p:cNvPicPr>
            <a:picLocks noChangeAspect="1"/>
          </p:cNvPicPr>
          <p:nvPr/>
        </p:nvPicPr>
        <p:blipFill>
          <a:blip r:embed="rId2"/>
          <a:stretch>
            <a:fillRect/>
          </a:stretch>
        </p:blipFill>
        <p:spPr>
          <a:xfrm>
            <a:off x="6233008" y="1417320"/>
            <a:ext cx="5410048" cy="3043152"/>
          </a:xfrm>
          <a:prstGeom prst="rect">
            <a:avLst/>
          </a:prstGeom>
        </p:spPr>
      </p:pic>
      <p:sp>
        <p:nvSpPr>
          <p:cNvPr id="7" name="frame-272"/>
          <p:cNvSpPr/>
          <p:nvPr/>
        </p:nvSpPr>
        <p:spPr>
          <a:xfrm>
            <a:off x="6233008" y="1417320"/>
            <a:ext cx="5410048" cy="3043152"/>
          </a:xfrm>
          <a:prstGeom prst="roundRect">
            <a:avLst>
              <a:gd name="adj" fmla="val 1803"/>
            </a:avLst>
          </a:prstGeom>
          <a:ln w="12700">
            <a:solidFill>
              <a:srgbClr val="22324F"/>
            </a:solidFill>
            <a:prstDash val="solid"/>
          </a:ln>
        </p:spPr>
      </p:sp>
      <p:sp>
        <p:nvSpPr>
          <p:cNvPr id="8" name="text-273"/>
          <p:cNvSpPr txBox="1"/>
          <p:nvPr/>
        </p:nvSpPr>
        <p:spPr>
          <a:xfrm>
            <a:off x="548640" y="4551912"/>
            <a:ext cx="5410048" cy="822960"/>
          </a:xfrm>
          <a:prstGeom prst="rect">
            <a:avLst/>
          </a:prstGeom>
          <a:noFill/>
          <a:ln/>
        </p:spPr>
        <p:txBody>
          <a:bodyPr wrap="square" lIns="0" tIns="0" rIns="0" bIns="0" rtlCol="0" anchor="t"/>
          <a:lstStyle/>
          <a:p>
            <a:pPr indent="0" marL="0">
              <a:buNone/>
            </a:pPr>
            <a:r>
              <a:rPr lang="en-US" sz="1200" dirty="0">
                <a:solidFill>
                  <a:schemeClr val="accent6"/>
                </a:solidFill>
              </a:rPr>
              <a:t>Scene B: each evidence item travels through read and redact, indicators and tactics, case reassessment, doubt and review, and the alert decision. Frames are real API output on DEMO DATA.</a:t>
            </a:r>
            <a:endParaRPr lang="en-US" sz="1200" dirty="0"/>
          </a:p>
        </p:txBody>
      </p:sp>
      <p:sp>
        <p:nvSpPr>
          <p:cNvPr id="9" name="text-274"/>
          <p:cNvSpPr txBox="1"/>
          <p:nvPr/>
        </p:nvSpPr>
        <p:spPr>
          <a:xfrm>
            <a:off x="6233008" y="4551912"/>
            <a:ext cx="5410048" cy="822960"/>
          </a:xfrm>
          <a:prstGeom prst="rect">
            <a:avLst/>
          </a:prstGeom>
          <a:noFill/>
          <a:ln/>
        </p:spPr>
        <p:txBody>
          <a:bodyPr wrap="square" lIns="0" tIns="0" rIns="0" bIns="0" rtlCol="0" anchor="t"/>
          <a:lstStyle/>
          <a:p>
            <a:pPr indent="0" marL="0">
              <a:buNone/>
            </a:pPr>
            <a:r>
              <a:rPr lang="en-US" sz="1200" dirty="0">
                <a:solidFill>
                  <a:schemeClr val="accent6"/>
                </a:solidFill>
              </a:rPr>
              <a:t>Scene C: 14 synthetic cases and 13 indicators from GET /api/v1/network. 22 observed links (solid) and 3 inferred similarity links (dashed). Organisation names are claims, not verified senders.</a:t>
            </a:r>
            <a:endParaRPr lang="en-US" sz="1200" dirty="0"/>
          </a:p>
        </p:txBody>
      </p:sp>
      <p:sp>
        <p:nvSpPr>
          <p:cNvPr id="10" name="text-275"/>
          <p:cNvSpPr txBox="1"/>
          <p:nvPr/>
        </p:nvSpPr>
        <p:spPr>
          <a:xfrm>
            <a:off x="548640" y="5669280"/>
            <a:ext cx="11094415" cy="365760"/>
          </a:xfrm>
          <a:prstGeom prst="rect">
            <a:avLst/>
          </a:prstGeom>
          <a:noFill/>
          <a:ln/>
        </p:spPr>
        <p:txBody>
          <a:bodyPr wrap="square" lIns="0" tIns="0" rIns="0" bIns="0" rtlCol="0" anchor="t"/>
          <a:lstStyle/>
          <a:p>
            <a:pPr indent="0" marL="0">
              <a:buNone/>
            </a:pPr>
            <a:r>
              <a:rPr lang="en-US" sz="1200" dirty="0">
                <a:solidFill>
                  <a:schemeClr val="accent1"/>
                </a:solidFill>
              </a:rPr>
              <a:t>Run it: python3 -m http.server 8090 --bind 127.0.0.1 --directory presentation/site, then open http://127.0.0.1:8090 (see presentation/README.md).</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300" kern="0" dirty="0">
                <a:solidFill>
                  <a:schemeClr val="accent1"/>
                </a:solidFill>
              </a:rPr>
              <a:t>APPENDIX A2 · ADDITIONAL EVALUATION</a:t>
            </a:r>
            <a:endParaRPr lang="en-US" sz="1100" dirty="0"/>
          </a:p>
        </p:txBody>
      </p:sp>
      <p:sp>
        <p:nvSpPr>
          <p:cNvPr id="3" name="Text 0"/>
          <p:cNvSpPr/>
          <p:nvPr>
            <p:ph idx="101" type="title" hasCustomPrompt="1"/>
          </p:nvPr>
        </p:nvSpPr>
        <p:spPr>
          <a:xfrm>
            <a:off x="548640" y="566928"/>
            <a:ext cx="11094415" cy="731520"/>
          </a:xfrm>
          <a:prstGeom prst="rect">
            <a:avLst/>
          </a:prstGeom>
          <a:noFill/>
          <a:ln/>
        </p:spPr>
        <p:txBody>
          <a:bodyPr wrap="square" lIns="0" tIns="0" rIns="0" bIns="0" rtlCol="0" anchor="t"/>
          <a:lstStyle/>
          <a:p>
            <a:pPr indent="0" marL="0">
              <a:buNone/>
            </a:pPr>
            <a:r>
              <a:rPr lang="en-US" sz="3200" b="1" dirty="0">
                <a:solidFill>
                  <a:schemeClr val="bg2"/>
                </a:solidFill>
                <a:latin typeface="Arial" pitchFamily="34" charset="0"/>
                <a:ea typeface="Arial" pitchFamily="34" charset="-122"/>
                <a:cs typeface="Arial" pitchFamily="34" charset="-120"/>
              </a:rPr>
              <a:t>More measurements, with their limits</a:t>
            </a:r>
            <a:endParaRPr lang="en-US" sz="3200" dirty="0"/>
          </a:p>
        </p:txBody>
      </p:sp>
      <p:sp>
        <p:nvSpPr>
          <p:cNvPr id="4" name="text-276"/>
          <p:cNvSpPr txBox="1"/>
          <p:nvPr/>
        </p:nvSpPr>
        <p:spPr>
          <a:xfrm>
            <a:off x="548640" y="1371600"/>
            <a:ext cx="5669280"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SYNTHETIC V3 (N = 32), FROZEN BEFORE THE HARDENING FIXES, NOT INDEPENDENT</a:t>
            </a:r>
            <a:endParaRPr lang="en-US" sz="1000" dirty="0"/>
          </a:p>
        </p:txBody>
      </p:sp>
      <p:graphicFrame>
        <p:nvGraphicFramePr>
          <p:cNvPr id="14" name="table-277"/>
          <p:cNvGraphicFramePr>
            <a:graphicFrameLocks noGrp="1"/>
          </p:cNvGraphicFramePr>
          <p:nvPr>
            <p:extLst>
              <p:ext uri="{D42A27DB-BD31-4B8C-83A1-F6EECF244321}">
                <p14:modId xmlns:p14="http://schemas.microsoft.com/office/powerpoint/2010/main" val="1579011935"/>
              </p:ext>
            </p:extLst>
          </p:nvPr>
        </p:nvGraphicFramePr>
        <p:xfrm>
          <a:off x="548640" y="1691640"/>
          <a:ext cx="5669280" cy="914400"/>
        </p:xfrm>
        <a:graphic>
          <a:graphicData uri="http://schemas.openxmlformats.org/drawingml/2006/table">
            <a:tbl>
              <a:tblPr/>
              <a:tblGrid>
                <a:gridCol w="2377440"/>
                <a:gridCol w="685800"/>
                <a:gridCol w="685800"/>
                <a:gridCol w="685800"/>
                <a:gridCol w="1234440"/>
              </a:tblGrid>
              <a:tr h="329184">
                <a:tc>
                  <a:txBody>
                    <a:bodyPr/>
                    <a:lstStyle/>
                    <a:p>
                      <a:pPr indent="0" marL="0">
                        <a:buNone/>
                      </a:pPr>
                      <a:r>
                        <a:rPr lang="en-US" sz="1050" b="1" dirty="0">
                          <a:solidFill>
                            <a:schemeClr val="accent6"/>
                          </a:solidFill>
                          <a:latin typeface="Calibri" pitchFamily="34" charset="0"/>
                          <a:ea typeface="Calibri" pitchFamily="34" charset="-122"/>
                          <a:cs typeface="Calibri" pitchFamily="34" charset="-120"/>
                        </a:rPr>
                        <a:t>System</a:t>
                      </a:r>
                      <a:endParaRPr lang="en-US" sz="10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B1224"/>
                    </a:solidFill>
                  </a:tcPr>
                </a:tc>
                <a:tc>
                  <a:txBody>
                    <a:bodyPr/>
                    <a:lstStyle/>
                    <a:p>
                      <a:pPr algn="r" indent="0" marL="0">
                        <a:buNone/>
                      </a:pPr>
                      <a:r>
                        <a:rPr lang="en-US" sz="1050" b="1" dirty="0">
                          <a:solidFill>
                            <a:schemeClr val="accent6"/>
                          </a:solidFill>
                          <a:latin typeface="Calibri" pitchFamily="34" charset="0"/>
                          <a:ea typeface="Calibri" pitchFamily="34" charset="-122"/>
                          <a:cs typeface="Calibri" pitchFamily="34" charset="-120"/>
                        </a:rPr>
                        <a:t>P</a:t>
                      </a:r>
                      <a:endParaRPr lang="en-US" sz="10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B1224"/>
                    </a:solidFill>
                  </a:tcPr>
                </a:tc>
                <a:tc>
                  <a:txBody>
                    <a:bodyPr/>
                    <a:lstStyle/>
                    <a:p>
                      <a:pPr algn="r" indent="0" marL="0">
                        <a:buNone/>
                      </a:pPr>
                      <a:r>
                        <a:rPr lang="en-US" sz="1050" b="1" dirty="0">
                          <a:solidFill>
                            <a:schemeClr val="accent6"/>
                          </a:solidFill>
                          <a:latin typeface="Calibri" pitchFamily="34" charset="0"/>
                          <a:ea typeface="Calibri" pitchFamily="34" charset="-122"/>
                          <a:cs typeface="Calibri" pitchFamily="34" charset="-120"/>
                        </a:rPr>
                        <a:t>R</a:t>
                      </a:r>
                      <a:endParaRPr lang="en-US" sz="10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B1224"/>
                    </a:solidFill>
                  </a:tcPr>
                </a:tc>
                <a:tc>
                  <a:txBody>
                    <a:bodyPr/>
                    <a:lstStyle/>
                    <a:p>
                      <a:pPr algn="r" indent="0" marL="0">
                        <a:buNone/>
                      </a:pPr>
                      <a:r>
                        <a:rPr lang="en-US" sz="1050" b="1" dirty="0">
                          <a:solidFill>
                            <a:schemeClr val="accent6"/>
                          </a:solidFill>
                          <a:latin typeface="Calibri" pitchFamily="34" charset="0"/>
                          <a:ea typeface="Calibri" pitchFamily="34" charset="-122"/>
                          <a:cs typeface="Calibri" pitchFamily="34" charset="-120"/>
                        </a:rPr>
                        <a:t>FPR</a:t>
                      </a:r>
                      <a:endParaRPr lang="en-US" sz="10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B1224"/>
                    </a:solidFill>
                  </a:tcPr>
                </a:tc>
                <a:tc>
                  <a:txBody>
                    <a:bodyPr/>
                    <a:lstStyle/>
                    <a:p>
                      <a:pPr algn="r" indent="0" marL="0">
                        <a:buNone/>
                      </a:pPr>
                      <a:r>
                        <a:rPr lang="en-US" sz="1050" b="1" dirty="0">
                          <a:solidFill>
                            <a:schemeClr val="accent6"/>
                          </a:solidFill>
                          <a:latin typeface="Calibri" pitchFamily="34" charset="0"/>
                          <a:ea typeface="Calibri" pitchFamily="34" charset="-122"/>
                          <a:cs typeface="Calibri" pitchFamily="34" charset="-120"/>
                        </a:rPr>
                        <a:t>TP/FP/TN/FN</a:t>
                      </a:r>
                      <a:endParaRPr lang="en-US" sz="10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B1224"/>
                    </a:solidFill>
                  </a:tcPr>
                </a:tc>
              </a:tr>
              <a:tr h="329184">
                <a:tc>
                  <a:txBody>
                    <a:bodyPr/>
                    <a:lstStyle/>
                    <a:p>
                      <a:pPr indent="0" marL="0">
                        <a:buNone/>
                      </a:pPr>
                      <a:r>
                        <a:rPr lang="en-US" sz="1150" dirty="0">
                          <a:solidFill>
                            <a:schemeClr val="bg2"/>
                          </a:solidFill>
                          <a:latin typeface="Calibri" pitchFamily="34" charset="0"/>
                          <a:ea typeface="Calibri" pitchFamily="34" charset="-122"/>
                          <a:cs typeface="Calibri" pitchFamily="34" charset="-120"/>
                        </a:rPr>
                        <a:t>Case engine, before hardening</a:t>
                      </a:r>
                      <a:endParaRPr lang="en-US" sz="11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algn="r" indent="0" marL="0">
                        <a:buNone/>
                      </a:pPr>
                      <a:r>
                        <a:rPr lang="en-US" sz="1150" dirty="0">
                          <a:solidFill>
                            <a:schemeClr val="bg2"/>
                          </a:solidFill>
                          <a:latin typeface="Calibri" pitchFamily="34" charset="0"/>
                          <a:ea typeface="Calibri" pitchFamily="34" charset="-122"/>
                          <a:cs typeface="Calibri" pitchFamily="34" charset="-120"/>
                        </a:rPr>
                        <a:t>0.778</a:t>
                      </a:r>
                      <a:endParaRPr lang="en-US" sz="11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algn="r" indent="0" marL="0">
                        <a:buNone/>
                      </a:pPr>
                      <a:r>
                        <a:rPr lang="en-US" sz="1150" dirty="0">
                          <a:solidFill>
                            <a:schemeClr val="bg2"/>
                          </a:solidFill>
                          <a:latin typeface="Calibri" pitchFamily="34" charset="0"/>
                          <a:ea typeface="Calibri" pitchFamily="34" charset="-122"/>
                          <a:cs typeface="Calibri" pitchFamily="34" charset="-120"/>
                        </a:rPr>
                        <a:t>0.933</a:t>
                      </a:r>
                      <a:endParaRPr lang="en-US" sz="11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algn="r" indent="0" marL="0">
                        <a:buNone/>
                      </a:pPr>
                      <a:r>
                        <a:rPr lang="en-US" sz="1150" dirty="0">
                          <a:solidFill>
                            <a:schemeClr val="bg2"/>
                          </a:solidFill>
                          <a:latin typeface="Calibri" pitchFamily="34" charset="0"/>
                          <a:ea typeface="Calibri" pitchFamily="34" charset="-122"/>
                          <a:cs typeface="Calibri" pitchFamily="34" charset="-120"/>
                        </a:rPr>
                        <a:t>0.235</a:t>
                      </a:r>
                      <a:endParaRPr lang="en-US" sz="11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algn="r" indent="0" marL="0">
                        <a:buNone/>
                      </a:pPr>
                      <a:r>
                        <a:rPr lang="en-US" sz="1100" dirty="0">
                          <a:solidFill>
                            <a:schemeClr val="accent6"/>
                          </a:solidFill>
                          <a:latin typeface="Calibri" pitchFamily="34" charset="0"/>
                          <a:ea typeface="Calibri" pitchFamily="34" charset="-122"/>
                          <a:cs typeface="Calibri" pitchFamily="34" charset="-120"/>
                        </a:rPr>
                        <a:t>14/4/13/1</a:t>
                      </a:r>
                      <a:endParaRPr lang="en-US" sz="11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r>
              <a:tr h="329184">
                <a:tc>
                  <a:txBody>
                    <a:bodyPr/>
                    <a:lstStyle/>
                    <a:p>
                      <a:pPr indent="0" marL="0">
                        <a:buNone/>
                      </a:pPr>
                      <a:r>
                        <a:rPr lang="en-US" sz="1150" dirty="0">
                          <a:solidFill>
                            <a:schemeClr val="accent1"/>
                          </a:solidFill>
                          <a:latin typeface="Calibri" pitchFamily="34" charset="0"/>
                          <a:ea typeface="Calibri" pitchFamily="34" charset="-122"/>
                          <a:cs typeface="Calibri" pitchFamily="34" charset="-120"/>
                        </a:rPr>
                        <a:t>Case engine, after hardening</a:t>
                      </a:r>
                      <a:endParaRPr lang="en-US" sz="11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algn="r" indent="0" marL="0">
                        <a:buNone/>
                      </a:pPr>
                      <a:r>
                        <a:rPr lang="en-US" sz="1150" dirty="0">
                          <a:solidFill>
                            <a:schemeClr val="accent1"/>
                          </a:solidFill>
                          <a:latin typeface="Calibri" pitchFamily="34" charset="0"/>
                          <a:ea typeface="Calibri" pitchFamily="34" charset="-122"/>
                          <a:cs typeface="Calibri" pitchFamily="34" charset="-120"/>
                        </a:rPr>
                        <a:t>0.778</a:t>
                      </a:r>
                      <a:endParaRPr lang="en-US" sz="11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algn="r" indent="0" marL="0">
                        <a:buNone/>
                      </a:pPr>
                      <a:r>
                        <a:rPr lang="en-US" sz="1150" dirty="0">
                          <a:solidFill>
                            <a:schemeClr val="accent1"/>
                          </a:solidFill>
                          <a:latin typeface="Calibri" pitchFamily="34" charset="0"/>
                          <a:ea typeface="Calibri" pitchFamily="34" charset="-122"/>
                          <a:cs typeface="Calibri" pitchFamily="34" charset="-120"/>
                        </a:rPr>
                        <a:t>0.933</a:t>
                      </a:r>
                      <a:endParaRPr lang="en-US" sz="11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algn="r" indent="0" marL="0">
                        <a:buNone/>
                      </a:pPr>
                      <a:r>
                        <a:rPr lang="en-US" sz="1150" dirty="0">
                          <a:solidFill>
                            <a:schemeClr val="accent1"/>
                          </a:solidFill>
                          <a:latin typeface="Calibri" pitchFamily="34" charset="0"/>
                          <a:ea typeface="Calibri" pitchFamily="34" charset="-122"/>
                          <a:cs typeface="Calibri" pitchFamily="34" charset="-120"/>
                        </a:rPr>
                        <a:t>0.235</a:t>
                      </a:r>
                      <a:endParaRPr lang="en-US" sz="11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algn="r" indent="0" marL="0">
                        <a:buNone/>
                      </a:pPr>
                      <a:r>
                        <a:rPr lang="en-US" sz="1100" dirty="0">
                          <a:solidFill>
                            <a:schemeClr val="accent6"/>
                          </a:solidFill>
                          <a:latin typeface="Calibri" pitchFamily="34" charset="0"/>
                          <a:ea typeface="Calibri" pitchFamily="34" charset="-122"/>
                          <a:cs typeface="Calibri" pitchFamily="34" charset="-120"/>
                        </a:rPr>
                        <a:t>14/4/13/1</a:t>
                      </a:r>
                      <a:endParaRPr lang="en-US" sz="11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r>
              <a:tr h="329184">
                <a:tc>
                  <a:txBody>
                    <a:bodyPr/>
                    <a:lstStyle/>
                    <a:p>
                      <a:pPr indent="0" marL="0">
                        <a:buNone/>
                      </a:pPr>
                      <a:r>
                        <a:rPr lang="en-US" sz="1150" dirty="0">
                          <a:solidFill>
                            <a:schemeClr val="bg2"/>
                          </a:solidFill>
                          <a:latin typeface="Calibri" pitchFamily="34" charset="0"/>
                          <a:ea typeface="Calibri" pitchFamily="34" charset="-122"/>
                          <a:cs typeface="Calibri" pitchFamily="34" charset="-120"/>
                        </a:rPr>
                        <a:t>Keyword baseline</a:t>
                      </a:r>
                      <a:endParaRPr lang="en-US" sz="11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algn="r" indent="0" marL="0">
                        <a:buNone/>
                      </a:pPr>
                      <a:r>
                        <a:rPr lang="en-US" sz="1150" dirty="0">
                          <a:solidFill>
                            <a:schemeClr val="bg2"/>
                          </a:solidFill>
                          <a:latin typeface="Calibri" pitchFamily="34" charset="0"/>
                          <a:ea typeface="Calibri" pitchFamily="34" charset="-122"/>
                          <a:cs typeface="Calibri" pitchFamily="34" charset="-120"/>
                        </a:rPr>
                        <a:t>0.684</a:t>
                      </a:r>
                      <a:endParaRPr lang="en-US" sz="11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algn="r" indent="0" marL="0">
                        <a:buNone/>
                      </a:pPr>
                      <a:r>
                        <a:rPr lang="en-US" sz="1150" dirty="0">
                          <a:solidFill>
                            <a:schemeClr val="bg2"/>
                          </a:solidFill>
                          <a:latin typeface="Calibri" pitchFamily="34" charset="0"/>
                          <a:ea typeface="Calibri" pitchFamily="34" charset="-122"/>
                          <a:cs typeface="Calibri" pitchFamily="34" charset="-120"/>
                        </a:rPr>
                        <a:t>0.867</a:t>
                      </a:r>
                      <a:endParaRPr lang="en-US" sz="11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algn="r" indent="0" marL="0">
                        <a:buNone/>
                      </a:pPr>
                      <a:r>
                        <a:rPr lang="en-US" sz="1150" dirty="0">
                          <a:solidFill>
                            <a:schemeClr val="bg2"/>
                          </a:solidFill>
                          <a:latin typeface="Calibri" pitchFamily="34" charset="0"/>
                          <a:ea typeface="Calibri" pitchFamily="34" charset="-122"/>
                          <a:cs typeface="Calibri" pitchFamily="34" charset="-120"/>
                        </a:rPr>
                        <a:t>0.353</a:t>
                      </a:r>
                      <a:endParaRPr lang="en-US" sz="11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algn="r" indent="0" marL="0">
                        <a:buNone/>
                      </a:pPr>
                      <a:r>
                        <a:rPr lang="en-US" sz="1100" dirty="0">
                          <a:solidFill>
                            <a:schemeClr val="accent6"/>
                          </a:solidFill>
                          <a:latin typeface="Calibri" pitchFamily="34" charset="0"/>
                          <a:ea typeface="Calibri" pitchFamily="34" charset="-122"/>
                          <a:cs typeface="Calibri" pitchFamily="34" charset="-120"/>
                        </a:rPr>
                        <a:t>13/6/11/2</a:t>
                      </a:r>
                      <a:endParaRPr lang="en-US" sz="11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r>
              <a:tr h="329184">
                <a:tc>
                  <a:txBody>
                    <a:bodyPr/>
                    <a:lstStyle/>
                    <a:p>
                      <a:pPr indent="0" marL="0">
                        <a:buNone/>
                      </a:pPr>
                      <a:r>
                        <a:rPr lang="en-US" sz="1150" dirty="0">
                          <a:solidFill>
                            <a:schemeClr val="bg2"/>
                          </a:solidFill>
                          <a:latin typeface="Calibri" pitchFamily="34" charset="0"/>
                          <a:ea typeface="Calibri" pitchFamily="34" charset="-122"/>
                          <a:cs typeface="Calibri" pitchFamily="34" charset="-120"/>
                        </a:rPr>
                        <a:t>Single-message detector</a:t>
                      </a:r>
                      <a:endParaRPr lang="en-US" sz="11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algn="r" indent="0" marL="0">
                        <a:buNone/>
                      </a:pPr>
                      <a:r>
                        <a:rPr lang="en-US" sz="1150" dirty="0">
                          <a:solidFill>
                            <a:schemeClr val="bg2"/>
                          </a:solidFill>
                          <a:latin typeface="Calibri" pitchFamily="34" charset="0"/>
                          <a:ea typeface="Calibri" pitchFamily="34" charset="-122"/>
                          <a:cs typeface="Calibri" pitchFamily="34" charset="-120"/>
                        </a:rPr>
                        <a:t>0.560</a:t>
                      </a:r>
                      <a:endParaRPr lang="en-US" sz="11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algn="r" indent="0" marL="0">
                        <a:buNone/>
                      </a:pPr>
                      <a:r>
                        <a:rPr lang="en-US" sz="1150" dirty="0">
                          <a:solidFill>
                            <a:schemeClr val="bg2"/>
                          </a:solidFill>
                          <a:latin typeface="Calibri" pitchFamily="34" charset="0"/>
                          <a:ea typeface="Calibri" pitchFamily="34" charset="-122"/>
                          <a:cs typeface="Calibri" pitchFamily="34" charset="-120"/>
                        </a:rPr>
                        <a:t>0.933</a:t>
                      </a:r>
                      <a:endParaRPr lang="en-US" sz="11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algn="r" indent="0" marL="0">
                        <a:buNone/>
                      </a:pPr>
                      <a:r>
                        <a:rPr lang="en-US" sz="1150" dirty="0">
                          <a:solidFill>
                            <a:schemeClr val="bg2"/>
                          </a:solidFill>
                          <a:latin typeface="Calibri" pitchFamily="34" charset="0"/>
                          <a:ea typeface="Calibri" pitchFamily="34" charset="-122"/>
                          <a:cs typeface="Calibri" pitchFamily="34" charset="-120"/>
                        </a:rPr>
                        <a:t>0.647</a:t>
                      </a:r>
                      <a:endParaRPr lang="en-US" sz="11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algn="r" indent="0" marL="0">
                        <a:buNone/>
                      </a:pPr>
                      <a:r>
                        <a:rPr lang="en-US" sz="1100" dirty="0">
                          <a:solidFill>
                            <a:schemeClr val="accent6"/>
                          </a:solidFill>
                          <a:latin typeface="Calibri" pitchFamily="34" charset="0"/>
                          <a:ea typeface="Calibri" pitchFamily="34" charset="-122"/>
                          <a:cs typeface="Calibri" pitchFamily="34" charset="-120"/>
                        </a:rPr>
                        <a:t>14/11/6/1</a:t>
                      </a:r>
                      <a:endParaRPr lang="en-US" sz="11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r>
            </a:tbl>
          </a:graphicData>
        </a:graphic>
      </p:graphicFrame>
      <p:sp>
        <p:nvSpPr>
          <p:cNvPr id="6" name="text-278"/>
          <p:cNvSpPr txBox="1"/>
          <p:nvPr/>
        </p:nvSpPr>
        <p:spPr>
          <a:xfrm>
            <a:off x="548640" y="3520440"/>
            <a:ext cx="5669280" cy="1371600"/>
          </a:xfrm>
          <a:prstGeom prst="rect">
            <a:avLst/>
          </a:prstGeom>
          <a:noFill/>
          <a:ln/>
        </p:spPr>
        <p:txBody>
          <a:bodyPr wrap="square" lIns="0" tIns="0" rIns="0" bIns="0" rtlCol="0" anchor="t"/>
          <a:lstStyle/>
          <a:p>
            <a:pPr marL="342900" indent="-342900">
              <a:spcAft>
                <a:spcPts val="200"/>
              </a:spcAft>
              <a:buSzPct val="100000"/>
              <a:buChar char="•"/>
            </a:pPr>
            <a:r>
              <a:rPr lang="en-US" sz="1100" dirty="0">
                <a:solidFill>
                  <a:schemeClr val="accent6"/>
                </a:solidFill>
              </a:rPr>
              <a:t>FP: Cab ride start PIN to tell the driver (warn, 59)</a:t>
            </a:r>
            <a:endParaRPr lang="en-US" sz="1100" dirty="0"/>
          </a:p>
          <a:p>
            <a:pPr marL="342900" indent="-342900">
              <a:spcAft>
                <a:spcPts val="200"/>
              </a:spcAft>
              <a:buSzPct val="100000"/>
              <a:buChar char="•"/>
            </a:pPr>
            <a:r>
              <a:rPr lang="en-US" sz="1100" dirty="0">
                <a:solidFill>
                  <a:schemeClr val="accent6"/>
                </a:solidFill>
              </a:rPr>
              <a:t>FP: Card blocked after customer request (warn, 35)</a:t>
            </a:r>
            <a:endParaRPr lang="en-US" sz="1100" dirty="0"/>
          </a:p>
          <a:p>
            <a:pPr marL="342900" indent="-342900">
              <a:spcAft>
                <a:spcPts val="200"/>
              </a:spcAft>
              <a:buSzPct val="100000"/>
              <a:buChar char="•"/>
            </a:pPr>
            <a:r>
              <a:rPr lang="en-US" sz="1100" dirty="0">
                <a:solidFill>
                  <a:schemeClr val="accent6"/>
                </a:solidFill>
              </a:rPr>
              <a:t>FP: Society maintenance reminder to a known account (warn, 35)</a:t>
            </a:r>
            <a:endParaRPr lang="en-US" sz="1100" dirty="0"/>
          </a:p>
          <a:p>
            <a:pPr marL="342900" indent="-342900">
              <a:spcAft>
                <a:spcPts val="200"/>
              </a:spcAft>
              <a:buSzPct val="100000"/>
              <a:buChar char="•"/>
            </a:pPr>
            <a:r>
              <a:rPr lang="en-US" sz="1100" dirty="0">
                <a:solidFill>
                  <a:schemeClr val="accent6"/>
                </a:solidFill>
              </a:rPr>
              <a:t>FP: Colleague splits lunch bill (warn, 35)</a:t>
            </a:r>
            <a:endParaRPr lang="en-US" sz="1100" dirty="0"/>
          </a:p>
          <a:p>
            <a:pPr marL="342900" indent="-342900">
              <a:spcAft>
                <a:spcPts val="200"/>
              </a:spcAft>
              <a:buSzPct val="100000"/>
              <a:buChar char="•"/>
            </a:pPr>
            <a:r>
              <a:rPr lang="en-US" sz="1100" dirty="0">
                <a:solidFill>
                  <a:schemeClr val="accent6"/>
                </a:solidFill>
              </a:rPr>
              <a:t>FN: Telecom SIM block with call-back (clear, 25)</a:t>
            </a:r>
            <a:endParaRPr lang="en-US" sz="1100" dirty="0"/>
          </a:p>
        </p:txBody>
      </p:sp>
      <p:sp>
        <p:nvSpPr>
          <p:cNvPr id="7" name="text-279"/>
          <p:cNvSpPr txBox="1"/>
          <p:nvPr/>
        </p:nvSpPr>
        <p:spPr>
          <a:xfrm>
            <a:off x="548640" y="4983480"/>
            <a:ext cx="5669280" cy="1097280"/>
          </a:xfrm>
          <a:prstGeom prst="rect">
            <a:avLst/>
          </a:prstGeom>
          <a:noFill/>
          <a:ln/>
        </p:spPr>
        <p:txBody>
          <a:bodyPr wrap="square" lIns="0" tIns="0" rIns="0" bIns="0" rtlCol="0" anchor="t"/>
          <a:lstStyle/>
          <a:p>
            <a:pPr indent="0" marL="0">
              <a:buNone/>
            </a:pPr>
            <a:r>
              <a:rPr lang="en-US" sz="1150" dirty="0">
                <a:solidFill>
                  <a:schemeClr val="bg2"/>
                </a:solidFill>
              </a:rPr>
              <a:t>Alert load on v2: 30 notifications across 65 scenarios; 3 benign scenarios received one; 2 scenarios received more than one. Latency per event through the in-process API: p50 7.5 ms (includes local OCR for screenshots; not network latency).</a:t>
            </a:r>
            <a:endParaRPr lang="en-US" sz="1150" dirty="0"/>
          </a:p>
        </p:txBody>
      </p:sp>
      <p:sp>
        <p:nvSpPr>
          <p:cNvPr id="8" name="text-280"/>
          <p:cNvSpPr txBox="1"/>
          <p:nvPr/>
        </p:nvSpPr>
        <p:spPr>
          <a:xfrm>
            <a:off x="6629400" y="1371600"/>
            <a:ext cx="5013655" cy="228600"/>
          </a:xfrm>
          <a:prstGeom prst="rect">
            <a:avLst/>
          </a:prstGeom>
          <a:noFill/>
          <a:ln/>
        </p:spPr>
        <p:txBody>
          <a:bodyPr wrap="square" lIns="0" tIns="0" rIns="0" bIns="0" rtlCol="0" anchor="t"/>
          <a:lstStyle/>
          <a:p>
            <a:pPr indent="0" marL="0">
              <a:buNone/>
            </a:pPr>
            <a:r>
              <a:rPr lang="en-US" sz="1000" b="1" spc="200" kern="0" dirty="0">
                <a:solidFill>
                  <a:schemeClr val="accent1"/>
                </a:solidFill>
              </a:rPr>
              <a:t>SINGLE-MESSAGE DETECTOR ON PUBLIC DATA (HELD OUT, NOT FULLY BLIND)</a:t>
            </a:r>
            <a:endParaRPr lang="en-US" sz="1000" dirty="0"/>
          </a:p>
        </p:txBody>
      </p:sp>
      <p:graphicFrame>
        <p:nvGraphicFramePr>
          <p:cNvPr id="27" name="table-281"/>
          <p:cNvGraphicFramePr>
            <a:graphicFrameLocks noGrp="1"/>
          </p:cNvGraphicFramePr>
          <p:nvPr>
            <p:extLst>
              <p:ext uri="{D42A27DB-BD31-4B8C-83A1-F6EECF244321}">
                <p14:modId xmlns:p14="http://schemas.microsoft.com/office/powerpoint/2010/main" val="1579011935"/>
              </p:ext>
            </p:extLst>
          </p:nvPr>
        </p:nvGraphicFramePr>
        <p:xfrm>
          <a:off x="6629400" y="1691640"/>
          <a:ext cx="5013655" cy="914400"/>
        </p:xfrm>
        <a:graphic>
          <a:graphicData uri="http://schemas.openxmlformats.org/drawingml/2006/table">
            <a:tbl>
              <a:tblPr/>
              <a:tblGrid>
                <a:gridCol w="2956255"/>
                <a:gridCol w="685800"/>
                <a:gridCol w="685800"/>
                <a:gridCol w="685800"/>
              </a:tblGrid>
              <a:tr h="329184">
                <a:tc>
                  <a:txBody>
                    <a:bodyPr/>
                    <a:lstStyle/>
                    <a:p>
                      <a:pPr indent="0" marL="0">
                        <a:buNone/>
                      </a:pPr>
                      <a:r>
                        <a:rPr lang="en-US" sz="1050" b="1" dirty="0">
                          <a:solidFill>
                            <a:schemeClr val="accent6"/>
                          </a:solidFill>
                          <a:latin typeface="Calibri" pitchFamily="34" charset="0"/>
                          <a:ea typeface="Calibri" pitchFamily="34" charset="-122"/>
                          <a:cs typeface="Calibri" pitchFamily="34" charset="-120"/>
                        </a:rPr>
                        <a:t>Setting</a:t>
                      </a:r>
                      <a:endParaRPr lang="en-US" sz="10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B1224"/>
                    </a:solidFill>
                  </a:tcPr>
                </a:tc>
                <a:tc>
                  <a:txBody>
                    <a:bodyPr/>
                    <a:lstStyle/>
                    <a:p>
                      <a:pPr algn="r" indent="0" marL="0">
                        <a:buNone/>
                      </a:pPr>
                      <a:r>
                        <a:rPr lang="en-US" sz="1050" b="1" dirty="0">
                          <a:solidFill>
                            <a:schemeClr val="accent6"/>
                          </a:solidFill>
                          <a:latin typeface="Calibri" pitchFamily="34" charset="0"/>
                          <a:ea typeface="Calibri" pitchFamily="34" charset="-122"/>
                          <a:cs typeface="Calibri" pitchFamily="34" charset="-120"/>
                        </a:rPr>
                        <a:t>P</a:t>
                      </a:r>
                      <a:endParaRPr lang="en-US" sz="10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B1224"/>
                    </a:solidFill>
                  </a:tcPr>
                </a:tc>
                <a:tc>
                  <a:txBody>
                    <a:bodyPr/>
                    <a:lstStyle/>
                    <a:p>
                      <a:pPr algn="r" indent="0" marL="0">
                        <a:buNone/>
                      </a:pPr>
                      <a:r>
                        <a:rPr lang="en-US" sz="1050" b="1" dirty="0">
                          <a:solidFill>
                            <a:schemeClr val="accent6"/>
                          </a:solidFill>
                          <a:latin typeface="Calibri" pitchFamily="34" charset="0"/>
                          <a:ea typeface="Calibri" pitchFamily="34" charset="-122"/>
                          <a:cs typeface="Calibri" pitchFamily="34" charset="-120"/>
                        </a:rPr>
                        <a:t>R</a:t>
                      </a:r>
                      <a:endParaRPr lang="en-US" sz="10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B1224"/>
                    </a:solidFill>
                  </a:tcPr>
                </a:tc>
                <a:tc>
                  <a:txBody>
                    <a:bodyPr/>
                    <a:lstStyle/>
                    <a:p>
                      <a:pPr algn="r" indent="0" marL="0">
                        <a:buNone/>
                      </a:pPr>
                      <a:r>
                        <a:rPr lang="en-US" sz="1050" b="1" dirty="0">
                          <a:solidFill>
                            <a:schemeClr val="accent6"/>
                          </a:solidFill>
                          <a:latin typeface="Calibri" pitchFamily="34" charset="0"/>
                          <a:ea typeface="Calibri" pitchFamily="34" charset="-122"/>
                          <a:cs typeface="Calibri" pitchFamily="34" charset="-120"/>
                        </a:rPr>
                        <a:t>FPR</a:t>
                      </a:r>
                      <a:endParaRPr lang="en-US" sz="10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B1224"/>
                    </a:solidFill>
                  </a:tcPr>
                </a:tc>
              </a:tr>
              <a:tr h="329184">
                <a:tc>
                  <a:txBody>
                    <a:bodyPr/>
                    <a:lstStyle/>
                    <a:p>
                      <a:pPr indent="0" marL="0">
                        <a:buNone/>
                      </a:pPr>
                      <a:r>
                        <a:rPr lang="en-US" sz="1150" dirty="0">
                          <a:solidFill>
                            <a:schemeClr val="bg2"/>
                          </a:solidFill>
                          <a:latin typeface="Calibri" pitchFamily="34" charset="0"/>
                          <a:ea typeface="Calibri" pitchFamily="34" charset="-122"/>
                          <a:cs typeface="Calibri" pitchFamily="34" charset="-120"/>
                        </a:rPr>
                        <a:t>Messages, score ≥ 30</a:t>
                      </a:r>
                      <a:endParaRPr lang="en-US" sz="11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algn="r" indent="0" marL="0">
                        <a:buNone/>
                      </a:pPr>
                      <a:r>
                        <a:rPr lang="en-US" sz="1150" dirty="0">
                          <a:solidFill>
                            <a:schemeClr val="bg2"/>
                          </a:solidFill>
                          <a:latin typeface="Calibri" pitchFamily="34" charset="0"/>
                          <a:ea typeface="Calibri" pitchFamily="34" charset="-122"/>
                          <a:cs typeface="Calibri" pitchFamily="34" charset="-120"/>
                        </a:rPr>
                        <a:t>0.947</a:t>
                      </a:r>
                      <a:endParaRPr lang="en-US" sz="11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algn="r" indent="0" marL="0">
                        <a:buNone/>
                      </a:pPr>
                      <a:r>
                        <a:rPr lang="en-US" sz="1150" dirty="0">
                          <a:solidFill>
                            <a:schemeClr val="bg2"/>
                          </a:solidFill>
                          <a:latin typeface="Calibri" pitchFamily="34" charset="0"/>
                          <a:ea typeface="Calibri" pitchFamily="34" charset="-122"/>
                          <a:cs typeface="Calibri" pitchFamily="34" charset="-120"/>
                        </a:rPr>
                        <a:t>0.953</a:t>
                      </a:r>
                      <a:endParaRPr lang="en-US" sz="11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algn="r" indent="0" marL="0">
                        <a:buNone/>
                      </a:pPr>
                      <a:r>
                        <a:rPr lang="en-US" sz="1150" dirty="0">
                          <a:solidFill>
                            <a:schemeClr val="bg2"/>
                          </a:solidFill>
                          <a:latin typeface="Calibri" pitchFamily="34" charset="0"/>
                          <a:ea typeface="Calibri" pitchFamily="34" charset="-122"/>
                          <a:cs typeface="Calibri" pitchFamily="34" charset="-120"/>
                        </a:rPr>
                        <a:t>0.008</a:t>
                      </a:r>
                      <a:endParaRPr lang="en-US" sz="11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r>
              <a:tr h="329184">
                <a:tc>
                  <a:txBody>
                    <a:bodyPr/>
                    <a:lstStyle/>
                    <a:p>
                      <a:pPr indent="0" marL="0">
                        <a:buNone/>
                      </a:pPr>
                      <a:r>
                        <a:rPr lang="en-US" sz="1150" dirty="0">
                          <a:solidFill>
                            <a:schemeClr val="bg2"/>
                          </a:solidFill>
                          <a:latin typeface="Calibri" pitchFamily="34" charset="0"/>
                          <a:ea typeface="Calibri" pitchFamily="34" charset="-122"/>
                          <a:cs typeface="Calibri" pitchFamily="34" charset="-120"/>
                        </a:rPr>
                        <a:t>Messages, score ≥ 60</a:t>
                      </a:r>
                      <a:endParaRPr lang="en-US" sz="11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algn="r" indent="0" marL="0">
                        <a:buNone/>
                      </a:pPr>
                      <a:r>
                        <a:rPr lang="en-US" sz="1150" dirty="0">
                          <a:solidFill>
                            <a:schemeClr val="bg2"/>
                          </a:solidFill>
                          <a:latin typeface="Calibri" pitchFamily="34" charset="0"/>
                          <a:ea typeface="Calibri" pitchFamily="34" charset="-122"/>
                          <a:cs typeface="Calibri" pitchFamily="34" charset="-120"/>
                        </a:rPr>
                        <a:t>1.000</a:t>
                      </a:r>
                      <a:endParaRPr lang="en-US" sz="11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algn="r" indent="0" marL="0">
                        <a:buNone/>
                      </a:pPr>
                      <a:r>
                        <a:rPr lang="en-US" sz="1150" dirty="0">
                          <a:solidFill>
                            <a:schemeClr val="bg2"/>
                          </a:solidFill>
                          <a:latin typeface="Calibri" pitchFamily="34" charset="0"/>
                          <a:ea typeface="Calibri" pitchFamily="34" charset="-122"/>
                          <a:cs typeface="Calibri" pitchFamily="34" charset="-120"/>
                        </a:rPr>
                        <a:t>0.638</a:t>
                      </a:r>
                      <a:endParaRPr lang="en-US" sz="11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algn="r" indent="0" marL="0">
                        <a:buNone/>
                      </a:pPr>
                      <a:r>
                        <a:rPr lang="en-US" sz="1150" dirty="0">
                          <a:solidFill>
                            <a:schemeClr val="bg2"/>
                          </a:solidFill>
                          <a:latin typeface="Calibri" pitchFamily="34" charset="0"/>
                          <a:ea typeface="Calibri" pitchFamily="34" charset="-122"/>
                          <a:cs typeface="Calibri" pitchFamily="34" charset="-120"/>
                        </a:rPr>
                        <a:t>0.000</a:t>
                      </a:r>
                      <a:endParaRPr lang="en-US" sz="11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r>
              <a:tr h="329184">
                <a:tc>
                  <a:txBody>
                    <a:bodyPr/>
                    <a:lstStyle/>
                    <a:p>
                      <a:pPr indent="0" marL="0">
                        <a:buNone/>
                      </a:pPr>
                      <a:r>
                        <a:rPr lang="en-US" sz="1150" dirty="0">
                          <a:solidFill>
                            <a:schemeClr val="bg2"/>
                          </a:solidFill>
                          <a:latin typeface="Calibri" pitchFamily="34" charset="0"/>
                          <a:ea typeface="Calibri" pitchFamily="34" charset="-122"/>
                          <a:cs typeface="Calibri" pitchFamily="34" charset="-120"/>
                        </a:rPr>
                        <a:t>Links, full URL</a:t>
                      </a:r>
                      <a:endParaRPr lang="en-US" sz="11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algn="r" indent="0" marL="0">
                        <a:buNone/>
                      </a:pPr>
                      <a:r>
                        <a:rPr lang="en-US" sz="1150" dirty="0">
                          <a:solidFill>
                            <a:schemeClr val="bg2"/>
                          </a:solidFill>
                          <a:latin typeface="Calibri" pitchFamily="34" charset="0"/>
                          <a:ea typeface="Calibri" pitchFamily="34" charset="-122"/>
                          <a:cs typeface="Calibri" pitchFamily="34" charset="-120"/>
                        </a:rPr>
                        <a:t>0.951</a:t>
                      </a:r>
                      <a:endParaRPr lang="en-US" sz="11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algn="r" indent="0" marL="0">
                        <a:buNone/>
                      </a:pPr>
                      <a:r>
                        <a:rPr lang="en-US" sz="1150" dirty="0">
                          <a:solidFill>
                            <a:schemeClr val="bg2"/>
                          </a:solidFill>
                          <a:latin typeface="Calibri" pitchFamily="34" charset="0"/>
                          <a:ea typeface="Calibri" pitchFamily="34" charset="-122"/>
                          <a:cs typeface="Calibri" pitchFamily="34" charset="-120"/>
                        </a:rPr>
                        <a:t>0.634</a:t>
                      </a:r>
                      <a:endParaRPr lang="en-US" sz="11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algn="r" indent="0" marL="0">
                        <a:buNone/>
                      </a:pPr>
                      <a:r>
                        <a:rPr lang="en-US" sz="1150" dirty="0">
                          <a:solidFill>
                            <a:schemeClr val="bg2"/>
                          </a:solidFill>
                          <a:latin typeface="Calibri" pitchFamily="34" charset="0"/>
                          <a:ea typeface="Calibri" pitchFamily="34" charset="-122"/>
                          <a:cs typeface="Calibri" pitchFamily="34" charset="-120"/>
                        </a:rPr>
                        <a:t>0.033</a:t>
                      </a:r>
                      <a:endParaRPr lang="en-US" sz="11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r>
            </a:tbl>
          </a:graphicData>
        </a:graphic>
      </p:graphicFrame>
      <p:sp>
        <p:nvSpPr>
          <p:cNvPr id="10" name="text-282"/>
          <p:cNvSpPr txBox="1"/>
          <p:nvPr/>
        </p:nvSpPr>
        <p:spPr>
          <a:xfrm>
            <a:off x="6629400" y="3154680"/>
            <a:ext cx="5013655" cy="1463040"/>
          </a:xfrm>
          <a:prstGeom prst="rect">
            <a:avLst/>
          </a:prstGeom>
          <a:noFill/>
          <a:ln/>
        </p:spPr>
        <p:txBody>
          <a:bodyPr wrap="square" lIns="0" tIns="0" rIns="0" bIns="0" rtlCol="0" anchor="t"/>
          <a:lstStyle/>
          <a:p>
            <a:pPr indent="0" marL="0">
              <a:buNone/>
            </a:pPr>
            <a:r>
              <a:rPr lang="en-US" sz="1100" dirty="0">
                <a:solidFill>
                  <a:schemeClr val="accent6"/>
                </a:solidFill>
              </a:rPr>
              <a:t>Messages: SMS Spam Collection, held-out 20% stratified test split (seed 42) (1115 messages): generic SMS spam, not UPI scams. Links: 5000 reported phishing URLs (Phishing.Database phishing-links-ACTIVE.txt (MIT), random sample) vs 5000 popular hostnames (Cisco Umbrella top-1M hostnames, uniform random sample). Measured on 2026-10-10 before the extension began masking query values. Source: evaluation/results/metrics.json.</a:t>
            </a:r>
            <a:endParaRPr lang="en-US" sz="1100" dirty="0"/>
          </a:p>
        </p:txBody>
      </p:sp>
      <p:sp>
        <p:nvSpPr>
          <p:cNvPr id="11" name="panel-283"/>
          <p:cNvSpPr/>
          <p:nvPr/>
        </p:nvSpPr>
        <p:spPr>
          <a:xfrm>
            <a:off x="6629400" y="4846320"/>
            <a:ext cx="5013655" cy="914400"/>
          </a:xfrm>
          <a:prstGeom prst="roundRect">
            <a:avLst>
              <a:gd name="adj" fmla="val 8000"/>
            </a:avLst>
          </a:prstGeom>
          <a:solidFill>
            <a:srgbClr val="2A1420">
              <a:alpha val="92000"/>
            </a:srgbClr>
          </a:solidFill>
          <a:ln w="12700">
            <a:solidFill>
              <a:srgbClr val="22324F"/>
            </a:solidFill>
            <a:prstDash val="solid"/>
          </a:ln>
        </p:spPr>
      </p:sp>
      <p:sp>
        <p:nvSpPr>
          <p:cNvPr id="12" name="text-284"/>
          <p:cNvSpPr txBox="1"/>
          <p:nvPr/>
        </p:nvSpPr>
        <p:spPr>
          <a:xfrm>
            <a:off x="6812280" y="4937760"/>
            <a:ext cx="4647895" cy="731520"/>
          </a:xfrm>
          <a:prstGeom prst="rect">
            <a:avLst/>
          </a:prstGeom>
          <a:noFill/>
          <a:ln/>
        </p:spPr>
        <p:txBody>
          <a:bodyPr wrap="square" lIns="0" tIns="0" rIns="0" bIns="0" rtlCol="0" anchor="ctr"/>
          <a:lstStyle/>
          <a:p>
            <a:pPr indent="0" marL="0">
              <a:buNone/>
            </a:pPr>
            <a:r>
              <a:rPr lang="en-US" sz="1200" b="1" dirty="0">
                <a:solidFill>
                  <a:schemeClr val="bg2"/>
                </a:solidFill>
              </a:rPr>
              <a:t>None of these sets is real-world UPI fraud data. They show behaviour on the scenarios we wrote and on public spam and phishing data, not field accuracy.</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8229600" cy="274320"/>
          </a:xfrm>
          <a:prstGeom prst="rect">
            <a:avLst/>
          </a:prstGeom>
          <a:noFill/>
          <a:ln/>
        </p:spPr>
        <p:txBody>
          <a:bodyPr wrap="square" lIns="0" tIns="0" rIns="0" bIns="0" rtlCol="0"/>
          <a:lstStyle/>
          <a:p>
            <a:pPr indent="0" marL="0">
              <a:buNone/>
            </a:pPr>
            <a:r>
              <a:rPr lang="en-US" sz="1100" b="1" spc="300" kern="0" dirty="0">
                <a:solidFill>
                  <a:schemeClr val="accent1"/>
                </a:solidFill>
              </a:rPr>
              <a:t>APPENDIX A3 · IMPLEMENTATION STATUS</a:t>
            </a:r>
            <a:endParaRPr lang="en-US" sz="1100" dirty="0"/>
          </a:p>
        </p:txBody>
      </p:sp>
      <p:sp>
        <p:nvSpPr>
          <p:cNvPr id="3" name="Text 0"/>
          <p:cNvSpPr/>
          <p:nvPr>
            <p:ph idx="101" type="title" hasCustomPrompt="1"/>
          </p:nvPr>
        </p:nvSpPr>
        <p:spPr>
          <a:xfrm>
            <a:off x="548640" y="566928"/>
            <a:ext cx="11094415" cy="731520"/>
          </a:xfrm>
          <a:prstGeom prst="rect">
            <a:avLst/>
          </a:prstGeom>
          <a:noFill/>
          <a:ln/>
        </p:spPr>
        <p:txBody>
          <a:bodyPr wrap="square" lIns="0" tIns="0" rIns="0" bIns="0" rtlCol="0" anchor="t"/>
          <a:lstStyle/>
          <a:p>
            <a:pPr indent="0" marL="0">
              <a:buNone/>
            </a:pPr>
            <a:r>
              <a:rPr lang="en-US" sz="3200" b="1" dirty="0">
                <a:solidFill>
                  <a:schemeClr val="bg2"/>
                </a:solidFill>
                <a:latin typeface="Arial" pitchFamily="34" charset="0"/>
                <a:ea typeface="Arial" pitchFamily="34" charset="-122"/>
                <a:cs typeface="Arial" pitchFamily="34" charset="-120"/>
              </a:rPr>
              <a:t>Implemented, partial, illustrative and planned</a:t>
            </a:r>
            <a:endParaRPr lang="en-US" sz="3200" dirty="0"/>
          </a:p>
        </p:txBody>
      </p:sp>
      <p:graphicFrame>
        <p:nvGraphicFramePr>
          <p:cNvPr id="15" name="table-285"/>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3931920"/>
                <a:gridCol w="1920240"/>
                <a:gridCol w="5242255"/>
              </a:tblGrid>
              <a:tr h="438912">
                <a:tc>
                  <a:txBody>
                    <a:bodyPr/>
                    <a:lstStyle/>
                    <a:p>
                      <a:pPr indent="0" marL="0">
                        <a:buNone/>
                      </a:pPr>
                      <a:r>
                        <a:rPr lang="en-US" sz="1050" b="1" dirty="0">
                          <a:solidFill>
                            <a:schemeClr val="accent6"/>
                          </a:solidFill>
                          <a:latin typeface="Calibri" pitchFamily="34" charset="0"/>
                          <a:ea typeface="Calibri" pitchFamily="34" charset="-122"/>
                          <a:cs typeface="Calibri" pitchFamily="34" charset="-120"/>
                        </a:rPr>
                        <a:t>Capability</a:t>
                      </a:r>
                      <a:endParaRPr lang="en-US" sz="10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B1224"/>
                    </a:solidFill>
                  </a:tcPr>
                </a:tc>
                <a:tc>
                  <a:txBody>
                    <a:bodyPr/>
                    <a:lstStyle/>
                    <a:p>
                      <a:pPr indent="0" marL="0">
                        <a:buNone/>
                      </a:pPr>
                      <a:r>
                        <a:rPr lang="en-US" sz="1050" b="1" dirty="0">
                          <a:solidFill>
                            <a:schemeClr val="accent6"/>
                          </a:solidFill>
                          <a:latin typeface="Calibri" pitchFamily="34" charset="0"/>
                          <a:ea typeface="Calibri" pitchFamily="34" charset="-122"/>
                          <a:cs typeface="Calibri" pitchFamily="34" charset="-120"/>
                        </a:rPr>
                        <a:t>Status</a:t>
                      </a:r>
                      <a:endParaRPr lang="en-US" sz="10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B1224"/>
                    </a:solidFill>
                  </a:tcPr>
                </a:tc>
                <a:tc>
                  <a:txBody>
                    <a:bodyPr/>
                    <a:lstStyle/>
                    <a:p>
                      <a:pPr indent="0" marL="0">
                        <a:buNone/>
                      </a:pPr>
                      <a:r>
                        <a:rPr lang="en-US" sz="1050" b="1" dirty="0">
                          <a:solidFill>
                            <a:schemeClr val="accent6"/>
                          </a:solidFill>
                          <a:latin typeface="Calibri" pitchFamily="34" charset="0"/>
                          <a:ea typeface="Calibri" pitchFamily="34" charset="-122"/>
                          <a:cs typeface="Calibri" pitchFamily="34" charset="-120"/>
                        </a:rPr>
                        <a:t>Evidence or note</a:t>
                      </a:r>
                      <a:endParaRPr lang="en-US" sz="10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B1224"/>
                    </a:solidFill>
                  </a:tcPr>
                </a:tc>
              </a:tr>
              <a:tr h="438912">
                <a:tc>
                  <a:txBody>
                    <a:bodyPr/>
                    <a:lstStyle/>
                    <a:p>
                      <a:pPr indent="0" marL="0">
                        <a:buNone/>
                      </a:pPr>
                      <a:r>
                        <a:rPr lang="en-US" sz="1100" b="1" dirty="0">
                          <a:solidFill>
                            <a:schemeClr val="bg2"/>
                          </a:solidFill>
                          <a:latin typeface="Calibri" pitchFamily="34" charset="0"/>
                          <a:ea typeface="Calibri" pitchFamily="34" charset="-122"/>
                          <a:cs typeface="Calibri" pitchFamily="34" charset="-120"/>
                        </a:rPr>
                        <a:t>Scam DNA, Forensics, UPI Guard, Campaign Radar, Network, Evidence report, trusted contacts</a:t>
                      </a:r>
                      <a:endParaRPr lang="en-US" sz="11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indent="0" marL="0">
                        <a:buNone/>
                      </a:pPr>
                      <a:r>
                        <a:rPr lang="en-US" sz="1100" b="1" dirty="0">
                          <a:solidFill>
                            <a:schemeClr val="accent4"/>
                          </a:solidFill>
                          <a:latin typeface="Calibri" pitchFamily="34" charset="0"/>
                          <a:ea typeface="Calibri" pitchFamily="34" charset="-122"/>
                          <a:cs typeface="Calibri" pitchFamily="34" charset="-120"/>
                        </a:rPr>
                        <a:t>Implemented</a:t>
                      </a:r>
                      <a:endParaRPr lang="en-US" sz="11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indent="0" marL="0">
                        <a:buNone/>
                      </a:pPr>
                      <a:r>
                        <a:rPr lang="en-US" sz="1050" dirty="0">
                          <a:solidFill>
                            <a:schemeClr val="accent6"/>
                          </a:solidFill>
                          <a:latin typeface="Calibri" pitchFamily="34" charset="0"/>
                          <a:ea typeface="Calibri" pitchFamily="34" charset="-122"/>
                          <a:cs typeface="Calibri" pitchFamily="34" charset="-120"/>
                        </a:rPr>
                        <a:t>backend 176 tests; browser suites 18, 21, 30 and 12 checks on a scratch database</a:t>
                      </a:r>
                      <a:endParaRPr lang="en-US" sz="10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r>
              <a:tr h="438912">
                <a:tc>
                  <a:txBody>
                    <a:bodyPr/>
                    <a:lstStyle/>
                    <a:p>
                      <a:pPr indent="0" marL="0">
                        <a:buNone/>
                      </a:pPr>
                      <a:r>
                        <a:rPr lang="en-US" sz="1100" b="1" dirty="0">
                          <a:solidFill>
                            <a:schemeClr val="bg2"/>
                          </a:solidFill>
                          <a:latin typeface="Calibri" pitchFamily="34" charset="0"/>
                          <a:ea typeface="Calibri" pitchFamily="34" charset="-122"/>
                          <a:cs typeface="Calibri" pitchFamily="34" charset="-120"/>
                        </a:rPr>
                        <a:t>Guardian Shield extension</a:t>
                      </a:r>
                      <a:endParaRPr lang="en-US" sz="11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indent="0" marL="0">
                        <a:buNone/>
                      </a:pPr>
                      <a:r>
                        <a:rPr lang="en-US" sz="1100" b="1" dirty="0">
                          <a:solidFill>
                            <a:schemeClr val="accent5"/>
                          </a:solidFill>
                          <a:latin typeface="Calibri" pitchFamily="34" charset="0"/>
                          <a:ea typeface="Calibri" pitchFamily="34" charset="-122"/>
                          <a:cs typeface="Calibri" pitchFamily="34" charset="-120"/>
                        </a:rPr>
                        <a:t>Partial</a:t>
                      </a:r>
                      <a:endParaRPr lang="en-US" sz="11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indent="0" marL="0">
                        <a:buNone/>
                      </a:pPr>
                      <a:r>
                        <a:rPr lang="en-US" sz="1050" dirty="0">
                          <a:solidFill>
                            <a:schemeClr val="accent6"/>
                          </a:solidFill>
                          <a:latin typeface="Calibri" pitchFamily="34" charset="0"/>
                          <a:ea typeface="Calibri" pitchFamily="34" charset="-122"/>
                          <a:cs typeface="Calibri" pitchFamily="34" charset="-120"/>
                        </a:rPr>
                        <a:t>25/25 node tests (mocked chrome.*), 17/17 pages with a stub; the installed extension in real Chrome is not verified</a:t>
                      </a:r>
                      <a:endParaRPr lang="en-US" sz="10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r>
              <a:tr h="438912">
                <a:tc>
                  <a:txBody>
                    <a:bodyPr/>
                    <a:lstStyle/>
                    <a:p>
                      <a:pPr indent="0" marL="0">
                        <a:buNone/>
                      </a:pPr>
                      <a:r>
                        <a:rPr lang="en-US" sz="1100" b="1" dirty="0">
                          <a:solidFill>
                            <a:schemeClr val="bg2"/>
                          </a:solidFill>
                          <a:latin typeface="Calibri" pitchFamily="34" charset="0"/>
                          <a:ea typeface="Calibri" pitchFamily="34" charset="-122"/>
                          <a:cs typeface="Calibri" pitchFamily="34" charset="-120"/>
                        </a:rPr>
                        <a:t>Screenshot OCR</a:t>
                      </a:r>
                      <a:endParaRPr lang="en-US" sz="11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indent="0" marL="0">
                        <a:buNone/>
                      </a:pPr>
                      <a:r>
                        <a:rPr lang="en-US" sz="1100" b="1" dirty="0">
                          <a:solidFill>
                            <a:schemeClr val="accent5"/>
                          </a:solidFill>
                          <a:latin typeface="Calibri" pitchFamily="34" charset="0"/>
                          <a:ea typeface="Calibri" pitchFamily="34" charset="-122"/>
                          <a:cs typeface="Calibri" pitchFamily="34" charset="-120"/>
                        </a:rPr>
                        <a:t>Implemented, needs Tesseract</a:t>
                      </a:r>
                      <a:endParaRPr lang="en-US" sz="11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indent="0" marL="0">
                        <a:buNone/>
                      </a:pPr>
                      <a:r>
                        <a:rPr lang="en-US" sz="1050" dirty="0">
                          <a:solidFill>
                            <a:schemeClr val="accent6"/>
                          </a:solidFill>
                          <a:latin typeface="Calibri" pitchFamily="34" charset="0"/>
                          <a:ea typeface="Calibri" pitchFamily="34" charset="-122"/>
                          <a:cs typeface="Calibri" pitchFamily="34" charset="-120"/>
                        </a:rPr>
                        <a:t>Without Tesseract installed, screenshots are reported as unavailable</a:t>
                      </a:r>
                      <a:endParaRPr lang="en-US" sz="10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r>
              <a:tr h="438912">
                <a:tc>
                  <a:txBody>
                    <a:bodyPr/>
                    <a:lstStyle/>
                    <a:p>
                      <a:pPr indent="0" marL="0">
                        <a:buNone/>
                      </a:pPr>
                      <a:r>
                        <a:rPr lang="en-US" sz="1100" b="1" dirty="0">
                          <a:solidFill>
                            <a:schemeClr val="bg2"/>
                          </a:solidFill>
                          <a:latin typeface="Calibri" pitchFamily="34" charset="0"/>
                          <a:ea typeface="Calibri" pitchFamily="34" charset="-122"/>
                          <a:cs typeface="Calibri" pitchFamily="34" charset="-120"/>
                        </a:rPr>
                        <a:t>PostgreSQL deployment</a:t>
                      </a:r>
                      <a:endParaRPr lang="en-US" sz="11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indent="0" marL="0">
                        <a:buNone/>
                      </a:pPr>
                      <a:r>
                        <a:rPr lang="en-US" sz="1100" b="1" dirty="0">
                          <a:solidFill>
                            <a:schemeClr val="accent5"/>
                          </a:solidFill>
                          <a:latin typeface="Calibri" pitchFamily="34" charset="0"/>
                          <a:ea typeface="Calibri" pitchFamily="34" charset="-122"/>
                          <a:cs typeface="Calibri" pitchFamily="34" charset="-120"/>
                        </a:rPr>
                        <a:t>Partial</a:t>
                      </a:r>
                      <a:endParaRPr lang="en-US" sz="11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indent="0" marL="0">
                        <a:buNone/>
                      </a:pPr>
                      <a:r>
                        <a:rPr lang="en-US" sz="1050" dirty="0">
                          <a:solidFill>
                            <a:schemeClr val="accent6"/>
                          </a:solidFill>
                          <a:latin typeface="Calibri" pitchFamily="34" charset="0"/>
                          <a:ea typeface="Calibri" pitchFamily="34" charset="-122"/>
                          <a:cs typeface="Calibri" pitchFamily="34" charset="-120"/>
                        </a:rPr>
                        <a:t>Compose file present; tests ran on PostgreSQL 16 on 2026-10-10; container image build not run</a:t>
                      </a:r>
                      <a:endParaRPr lang="en-US" sz="10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r>
              <a:tr h="438912">
                <a:tc>
                  <a:txBody>
                    <a:bodyPr/>
                    <a:lstStyle/>
                    <a:p>
                      <a:pPr indent="0" marL="0">
                        <a:buNone/>
                      </a:pPr>
                      <a:r>
                        <a:rPr lang="en-US" sz="1100" b="1" dirty="0">
                          <a:solidFill>
                            <a:schemeClr val="bg2"/>
                          </a:solidFill>
                          <a:latin typeface="Calibri" pitchFamily="34" charset="0"/>
                          <a:ea typeface="Calibri" pitchFamily="34" charset="-122"/>
                          <a:cs typeface="Calibri" pitchFamily="34" charset="-120"/>
                        </a:rPr>
                        <a:t>Optional AI summary</a:t>
                      </a:r>
                      <a:endParaRPr lang="en-US" sz="11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indent="0" marL="0">
                        <a:buNone/>
                      </a:pPr>
                      <a:r>
                        <a:rPr lang="en-US" sz="1100" b="1" dirty="0">
                          <a:solidFill>
                            <a:schemeClr val="accent2"/>
                          </a:solidFill>
                          <a:latin typeface="Calibri" pitchFamily="34" charset="0"/>
                          <a:ea typeface="Calibri" pitchFamily="34" charset="-122"/>
                          <a:cs typeface="Calibri" pitchFamily="34" charset="-120"/>
                        </a:rPr>
                        <a:t>Optional, off</a:t>
                      </a:r>
                      <a:endParaRPr lang="en-US" sz="11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indent="0" marL="0">
                        <a:buNone/>
                      </a:pPr>
                      <a:r>
                        <a:rPr lang="en-US" sz="1050" dirty="0">
                          <a:solidFill>
                            <a:schemeClr val="accent6"/>
                          </a:solidFill>
                          <a:latin typeface="Calibri" pitchFamily="34" charset="0"/>
                          <a:ea typeface="Calibri" pitchFamily="34" charset="-122"/>
                          <a:cs typeface="Calibri" pitchFamily="34" charset="-120"/>
                        </a:rPr>
                        <a:t>Tested with a mocked client only; never changes the score</a:t>
                      </a:r>
                      <a:endParaRPr lang="en-US" sz="10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r>
              <a:tr h="438912">
                <a:tc>
                  <a:txBody>
                    <a:bodyPr/>
                    <a:lstStyle/>
                    <a:p>
                      <a:pPr indent="0" marL="0">
                        <a:buNone/>
                      </a:pPr>
                      <a:r>
                        <a:rPr lang="en-US" sz="1100" b="1" dirty="0">
                          <a:solidFill>
                            <a:schemeClr val="bg2"/>
                          </a:solidFill>
                          <a:latin typeface="Calibri" pitchFamily="34" charset="0"/>
                          <a:ea typeface="Calibri" pitchFamily="34" charset="-122"/>
                          <a:cs typeface="Calibri" pitchFamily="34" charset="-120"/>
                        </a:rPr>
                        <a:t>Overview globe and demo scenarios</a:t>
                      </a:r>
                      <a:endParaRPr lang="en-US" sz="11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indent="0" marL="0">
                        <a:buNone/>
                      </a:pPr>
                      <a:r>
                        <a:rPr lang="en-US" sz="1100" b="1" dirty="0">
                          <a:solidFill>
                            <a:schemeClr val="accent5"/>
                          </a:solidFill>
                          <a:latin typeface="Calibri" pitchFamily="34" charset="0"/>
                          <a:ea typeface="Calibri" pitchFamily="34" charset="-122"/>
                          <a:cs typeface="Calibri" pitchFamily="34" charset="-120"/>
                        </a:rPr>
                        <a:t>Illustrative / DEMO DATA</a:t>
                      </a:r>
                      <a:endParaRPr lang="en-US" sz="11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indent="0" marL="0">
                        <a:buNone/>
                      </a:pPr>
                      <a:r>
                        <a:rPr lang="en-US" sz="1050" dirty="0">
                          <a:solidFill>
                            <a:schemeClr val="accent6"/>
                          </a:solidFill>
                          <a:latin typeface="Calibri" pitchFamily="34" charset="0"/>
                          <a:ea typeface="Calibri" pitchFamily="34" charset="-122"/>
                          <a:cs typeface="Calibri" pitchFamily="34" charset="-120"/>
                        </a:rPr>
                        <a:t>Synthetic sample data, labelled as such; not a live threat map</a:t>
                      </a:r>
                      <a:endParaRPr lang="en-US" sz="10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r>
              <a:tr h="438912">
                <a:tc>
                  <a:txBody>
                    <a:bodyPr/>
                    <a:lstStyle/>
                    <a:p>
                      <a:pPr indent="0" marL="0">
                        <a:buNone/>
                      </a:pPr>
                      <a:r>
                        <a:rPr lang="en-US" sz="1100" b="1" dirty="0">
                          <a:solidFill>
                            <a:schemeClr val="bg2"/>
                          </a:solidFill>
                          <a:latin typeface="Calibri" pitchFamily="34" charset="0"/>
                          <a:ea typeface="Calibri" pitchFamily="34" charset="-122"/>
                          <a:cs typeface="Calibri" pitchFamily="34" charset="-120"/>
                        </a:rPr>
                        <a:t>3D helix in this deck and site</a:t>
                      </a:r>
                      <a:endParaRPr lang="en-US" sz="11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indent="0" marL="0">
                        <a:buNone/>
                      </a:pPr>
                      <a:r>
                        <a:rPr lang="en-US" sz="1100" b="1" dirty="0">
                          <a:solidFill>
                            <a:schemeClr val="accent5"/>
                          </a:solidFill>
                          <a:latin typeface="Calibri" pitchFamily="34" charset="0"/>
                          <a:ea typeface="Calibri" pitchFamily="34" charset="-122"/>
                          <a:cs typeface="Calibri" pitchFamily="34" charset="-120"/>
                        </a:rPr>
                        <a:t>Illustrative</a:t>
                      </a:r>
                      <a:endParaRPr lang="en-US" sz="11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indent="0" marL="0">
                        <a:buNone/>
                      </a:pPr>
                      <a:r>
                        <a:rPr lang="en-US" sz="1050" dirty="0">
                          <a:solidFill>
                            <a:schemeClr val="accent6"/>
                          </a:solidFill>
                          <a:latin typeface="Calibri" pitchFamily="34" charset="0"/>
                          <a:ea typeface="Calibri" pitchFamily="34" charset="-122"/>
                          <a:cs typeface="Calibri" pitchFamily="34" charset="-120"/>
                        </a:rPr>
                        <a:t>Visual metaphor rendered by the walkthrough, not data</a:t>
                      </a:r>
                      <a:endParaRPr lang="en-US" sz="10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r>
              <a:tr h="438912">
                <a:tc>
                  <a:txBody>
                    <a:bodyPr/>
                    <a:lstStyle/>
                    <a:p>
                      <a:pPr indent="0" marL="0">
                        <a:buNone/>
                      </a:pPr>
                      <a:r>
                        <a:rPr lang="en-US" sz="1100" b="1" dirty="0">
                          <a:solidFill>
                            <a:schemeClr val="bg2"/>
                          </a:solidFill>
                          <a:latin typeface="Calibri" pitchFamily="34" charset="0"/>
                          <a:ea typeface="Calibri" pitchFamily="34" charset="-122"/>
                          <a:cs typeface="Calibri" pitchFamily="34" charset="-120"/>
                        </a:rPr>
                        <a:t>Hosted deployment, public repository</a:t>
                      </a:r>
                      <a:endParaRPr lang="en-US" sz="11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indent="0" marL="0">
                        <a:buNone/>
                      </a:pPr>
                      <a:r>
                        <a:rPr lang="en-US" sz="1100" b="1" dirty="0">
                          <a:solidFill>
                            <a:schemeClr val="accent3"/>
                          </a:solidFill>
                          <a:latin typeface="Calibri" pitchFamily="34" charset="0"/>
                          <a:ea typeface="Calibri" pitchFamily="34" charset="-122"/>
                          <a:cs typeface="Calibri" pitchFamily="34" charset="-120"/>
                        </a:rPr>
                        <a:t>Not done</a:t>
                      </a:r>
                      <a:endParaRPr lang="en-US" sz="11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indent="0" marL="0">
                        <a:buNone/>
                      </a:pPr>
                      <a:r>
                        <a:rPr lang="en-US" sz="1050" dirty="0">
                          <a:solidFill>
                            <a:schemeClr val="accent6"/>
                          </a:solidFill>
                          <a:latin typeface="Calibri" pitchFamily="34" charset="0"/>
                          <a:ea typeface="Calibri" pitchFamily="34" charset="-122"/>
                          <a:cs typeface="Calibri" pitchFamily="34" charset="-120"/>
                        </a:rPr>
                        <a:t>Needs a hosting account and GitHub access (see STATUS.md)</a:t>
                      </a:r>
                      <a:endParaRPr lang="en-US" sz="10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r>
              <a:tr h="438912">
                <a:tc>
                  <a:txBody>
                    <a:bodyPr/>
                    <a:lstStyle/>
                    <a:p>
                      <a:pPr indent="0" marL="0">
                        <a:buNone/>
                      </a:pPr>
                      <a:r>
                        <a:rPr lang="en-US" sz="1100" b="1" dirty="0">
                          <a:solidFill>
                            <a:schemeClr val="bg2"/>
                          </a:solidFill>
                          <a:latin typeface="Calibri" pitchFamily="34" charset="0"/>
                          <a:ea typeface="Calibri" pitchFamily="34" charset="-122"/>
                          <a:cs typeface="Calibri" pitchFamily="34" charset="-120"/>
                        </a:rPr>
                        <a:t>Bank, NPCI or payment-app integration; real-world dataset; Hindi</a:t>
                      </a:r>
                      <a:endParaRPr lang="en-US" sz="11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indent="0" marL="0">
                        <a:buNone/>
                      </a:pPr>
                      <a:r>
                        <a:rPr lang="en-US" sz="1100" b="1" dirty="0">
                          <a:solidFill>
                            <a:schemeClr val="accent3"/>
                          </a:solidFill>
                          <a:latin typeface="Calibri" pitchFamily="34" charset="0"/>
                          <a:ea typeface="Calibri" pitchFamily="34" charset="-122"/>
                          <a:cs typeface="Calibri" pitchFamily="34" charset="-120"/>
                        </a:rPr>
                        <a:t>Planned / not started</a:t>
                      </a:r>
                      <a:endParaRPr lang="en-US" sz="110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c>
                  <a:txBody>
                    <a:bodyPr/>
                    <a:lstStyle/>
                    <a:p>
                      <a:pPr indent="0" marL="0">
                        <a:buNone/>
                      </a:pPr>
                      <a:r>
                        <a:rPr lang="en-US" sz="1050" dirty="0">
                          <a:solidFill>
                            <a:schemeClr val="accent6"/>
                          </a:solidFill>
                          <a:latin typeface="Calibri" pitchFamily="34" charset="0"/>
                          <a:ea typeface="Calibri" pitchFamily="34" charset="-122"/>
                          <a:cs typeface="Calibri" pitchFamily="34" charset="-120"/>
                        </a:rPr>
                        <a:t>No such integration or dataset exists in this repository</a:t>
                      </a:r>
                      <a:endParaRPr lang="en-US" sz="1050" dirty="0">
                        <a:latin typeface="Calibri" charset="0"/>
                        <a:ea typeface="Calibri" charset="0"/>
                        <a:cs typeface="Calibri" charset="0"/>
                      </a:endParaRPr>
                    </a:p>
                  </a:txBody>
                  <a:tcPr marL="91440" marR="91440" marT="45720" marB="45720">
                    <a:lnL w="9525" cap="flat" cmpd="sng" algn="ctr">
                      <a:solidFill>
                        <a:srgbClr val="22324F"/>
                      </a:solidFill>
                      <a:prstDash val="solid"/>
                      <a:round/>
                      <a:headEnd type="none" w="med" len="med"/>
                      <a:tailEnd type="none" w="med" len="med"/>
                    </a:lnL>
                    <a:lnR w="9525" cap="flat" cmpd="sng" algn="ctr">
                      <a:solidFill>
                        <a:srgbClr val="22324F"/>
                      </a:solidFill>
                      <a:prstDash val="solid"/>
                      <a:round/>
                      <a:headEnd type="none" w="med" len="med"/>
                      <a:tailEnd type="none" w="med" len="med"/>
                    </a:lnR>
                    <a:lnT w="9525" cap="flat" cmpd="sng" algn="ctr">
                      <a:solidFill>
                        <a:srgbClr val="22324F"/>
                      </a:solidFill>
                      <a:prstDash val="solid"/>
                      <a:round/>
                      <a:headEnd type="none" w="med" len="med"/>
                      <a:tailEnd type="none" w="med" len="med"/>
                    </a:lnT>
                    <a:lnB w="9525" cap="flat" cmpd="sng" algn="ctr">
                      <a:solidFill>
                        <a:srgbClr val="22324F"/>
                      </a:solidFill>
                      <a:prstDash val="solid"/>
                      <a:round/>
                      <a:headEnd type="none" w="med" len="med"/>
                      <a:tailEnd type="none" w="med" len="med"/>
                    </a:lnB>
                    <a:solidFill>
                      <a:srgbClr val="0F1830"/>
                    </a:solidFill>
                  </a:tcPr>
                </a:tc>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SafeCircle Guardian">
  <a:themeElements>
    <a:clrScheme name="SafeCircle Guardian">
      <a:dk1>
        <a:srgbClr val="05070D"/>
      </a:dk1>
      <a:lt1>
        <a:srgbClr val="FFFFFF"/>
      </a:lt1>
      <a:dk2>
        <a:srgbClr val="0B1224"/>
      </a:dk2>
      <a:lt2>
        <a:srgbClr val="E9F0FB"/>
      </a:lt2>
      <a:accent1>
        <a:srgbClr val="3EE6FF"/>
      </a:accent1>
      <a:accent2>
        <a:srgbClr val="A08CFF"/>
      </a:accent2>
      <a:accent3>
        <a:srgbClr val="FF5468"/>
      </a:accent3>
      <a:accent4>
        <a:srgbClr val="5CEBB0"/>
      </a:accent4>
      <a:accent5>
        <a:srgbClr val="FFB84D"/>
      </a:accent5>
      <a:accent6>
        <a:srgbClr val="9AA8C2"/>
      </a:accent6>
      <a:hlink>
        <a:srgbClr val="3EE6FF"/>
      </a:hlink>
      <a:folHlink>
        <a:srgbClr val="A08CFF"/>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SafeCircle Guardian: AI-driven scam pattern recognition (PS02)</dc:title>
  <dc:subject>Pitch deck. All examples are synthetic DEMO DATA.</dc:subject>
  <dc:creator>SafeCircle Guardian team</dc:creator>
  <cp:lastModifiedBy>SafeCircle Guardian team</cp:lastModifiedBy>
  <cp:revision>1</cp:revision>
  <dcterms:created xsi:type="dcterms:W3CDTF">2026-10-12T10:04:38Z</dcterms:created>
  <dcterms:modified xsi:type="dcterms:W3CDTF">2026-10-12T10:04:38Z</dcterms:modified>
</cp:coreProperties>
</file>